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0DCB20-B133-44D5-AF91-ACFDF7D8712B}" v="4" dt="2026-05-08T15:14:33.8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TANAEL JAIME JANACUA ELIAS" userId="0786276c-97fd-4fcd-b85f-5703d6edb202" providerId="ADAL" clId="{13AAB9F1-2C2D-4510-8BC1-A197162A9250}"/>
    <pc:docChg chg="undo custSel modSld">
      <pc:chgData name="NATANAEL JAIME JANACUA ELIAS" userId="0786276c-97fd-4fcd-b85f-5703d6edb202" providerId="ADAL" clId="{13AAB9F1-2C2D-4510-8BC1-A197162A9250}" dt="2026-05-08T15:15:48.857" v="37" actId="20577"/>
      <pc:docMkLst>
        <pc:docMk/>
      </pc:docMkLst>
      <pc:sldChg chg="delSp modSp mod">
        <pc:chgData name="NATANAEL JAIME JANACUA ELIAS" userId="0786276c-97fd-4fcd-b85f-5703d6edb202" providerId="ADAL" clId="{13AAB9F1-2C2D-4510-8BC1-A197162A9250}" dt="2026-05-08T15:13:34.180" v="1" actId="478"/>
        <pc:sldMkLst>
          <pc:docMk/>
          <pc:sldMk cId="0" sldId="256"/>
        </pc:sldMkLst>
        <pc:picChg chg="del mod">
          <ac:chgData name="NATANAEL JAIME JANACUA ELIAS" userId="0786276c-97fd-4fcd-b85f-5703d6edb202" providerId="ADAL" clId="{13AAB9F1-2C2D-4510-8BC1-A197162A9250}" dt="2026-05-08T15:13:34.180" v="1" actId="478"/>
          <ac:picMkLst>
            <pc:docMk/>
            <pc:sldMk cId="0" sldId="256"/>
            <ac:picMk id="25" creationId="{00000000-0000-0000-0000-000000000000}"/>
          </ac:picMkLst>
        </pc:picChg>
      </pc:sldChg>
      <pc:sldChg chg="delSp modSp mod">
        <pc:chgData name="NATANAEL JAIME JANACUA ELIAS" userId="0786276c-97fd-4fcd-b85f-5703d6edb202" providerId="ADAL" clId="{13AAB9F1-2C2D-4510-8BC1-A197162A9250}" dt="2026-05-08T15:13:39.023" v="3" actId="478"/>
        <pc:sldMkLst>
          <pc:docMk/>
          <pc:sldMk cId="0" sldId="257"/>
        </pc:sldMkLst>
        <pc:picChg chg="del mod">
          <ac:chgData name="NATANAEL JAIME JANACUA ELIAS" userId="0786276c-97fd-4fcd-b85f-5703d6edb202" providerId="ADAL" clId="{13AAB9F1-2C2D-4510-8BC1-A197162A9250}" dt="2026-05-08T15:13:39.023" v="3" actId="478"/>
          <ac:picMkLst>
            <pc:docMk/>
            <pc:sldMk cId="0" sldId="257"/>
            <ac:picMk id="91" creationId="{00000000-0000-0000-0000-000000000000}"/>
          </ac:picMkLst>
        </pc:picChg>
      </pc:sldChg>
      <pc:sldChg chg="addSp modSp mod">
        <pc:chgData name="NATANAEL JAIME JANACUA ELIAS" userId="0786276c-97fd-4fcd-b85f-5703d6edb202" providerId="ADAL" clId="{13AAB9F1-2C2D-4510-8BC1-A197162A9250}" dt="2026-05-08T15:15:48.857" v="37" actId="20577"/>
        <pc:sldMkLst>
          <pc:docMk/>
          <pc:sldMk cId="0" sldId="275"/>
        </pc:sldMkLst>
        <pc:spChg chg="mod">
          <ac:chgData name="NATANAEL JAIME JANACUA ELIAS" userId="0786276c-97fd-4fcd-b85f-5703d6edb202" providerId="ADAL" clId="{13AAB9F1-2C2D-4510-8BC1-A197162A9250}" dt="2026-05-08T15:15:44.544" v="35" actId="1076"/>
          <ac:spMkLst>
            <pc:docMk/>
            <pc:sldMk cId="0" sldId="275"/>
            <ac:spMk id="6" creationId="{00000000-0000-0000-0000-000000000000}"/>
          </ac:spMkLst>
        </pc:spChg>
        <pc:spChg chg="mod">
          <ac:chgData name="NATANAEL JAIME JANACUA ELIAS" userId="0786276c-97fd-4fcd-b85f-5703d6edb202" providerId="ADAL" clId="{13AAB9F1-2C2D-4510-8BC1-A197162A9250}" dt="2026-05-08T15:15:44.196" v="34" actId="1076"/>
          <ac:spMkLst>
            <pc:docMk/>
            <pc:sldMk cId="0" sldId="275"/>
            <ac:spMk id="27" creationId="{00000000-0000-0000-0000-000000000000}"/>
          </ac:spMkLst>
        </pc:spChg>
        <pc:spChg chg="mod">
          <ac:chgData name="NATANAEL JAIME JANACUA ELIAS" userId="0786276c-97fd-4fcd-b85f-5703d6edb202" providerId="ADAL" clId="{13AAB9F1-2C2D-4510-8BC1-A197162A9250}" dt="2026-05-08T15:15:43.861" v="33" actId="1076"/>
          <ac:spMkLst>
            <pc:docMk/>
            <pc:sldMk cId="0" sldId="275"/>
            <ac:spMk id="30" creationId="{00000000-0000-0000-0000-000000000000}"/>
          </ac:spMkLst>
        </pc:spChg>
        <pc:spChg chg="mod">
          <ac:chgData name="NATANAEL JAIME JANACUA ELIAS" userId="0786276c-97fd-4fcd-b85f-5703d6edb202" providerId="ADAL" clId="{13AAB9F1-2C2D-4510-8BC1-A197162A9250}" dt="2026-05-08T15:15:48.857" v="37" actId="20577"/>
          <ac:spMkLst>
            <pc:docMk/>
            <pc:sldMk cId="0" sldId="275"/>
            <ac:spMk id="51" creationId="{00000000-0000-0000-0000-000000000000}"/>
          </ac:spMkLst>
        </pc:spChg>
        <pc:spChg chg="add mod">
          <ac:chgData name="NATANAEL JAIME JANACUA ELIAS" userId="0786276c-97fd-4fcd-b85f-5703d6edb202" providerId="ADAL" clId="{13AAB9F1-2C2D-4510-8BC1-A197162A9250}" dt="2026-05-08T15:14:06.749" v="5" actId="571"/>
          <ac:spMkLst>
            <pc:docMk/>
            <pc:sldMk cId="0" sldId="275"/>
            <ac:spMk id="69" creationId="{453DB32E-DDBC-86A2-DEAF-7658D717D690}"/>
          </ac:spMkLst>
        </pc:spChg>
        <pc:spChg chg="add mod">
          <ac:chgData name="NATANAEL JAIME JANACUA ELIAS" userId="0786276c-97fd-4fcd-b85f-5703d6edb202" providerId="ADAL" clId="{13AAB9F1-2C2D-4510-8BC1-A197162A9250}" dt="2026-05-08T15:14:33.879" v="9" actId="571"/>
          <ac:spMkLst>
            <pc:docMk/>
            <pc:sldMk cId="0" sldId="275"/>
            <ac:spMk id="70" creationId="{E99CCD93-DA0C-83B9-0683-224D9BD284C9}"/>
          </ac:spMkLst>
        </pc:spChg>
        <pc:spChg chg="add mod">
          <ac:chgData name="NATANAEL JAIME JANACUA ELIAS" userId="0786276c-97fd-4fcd-b85f-5703d6edb202" providerId="ADAL" clId="{13AAB9F1-2C2D-4510-8BC1-A197162A9250}" dt="2026-05-08T15:14:33.879" v="9" actId="571"/>
          <ac:spMkLst>
            <pc:docMk/>
            <pc:sldMk cId="0" sldId="275"/>
            <ac:spMk id="71" creationId="{7BC9BD2C-2EF1-05ED-39FB-3CB591586159}"/>
          </ac:spMkLst>
        </pc:spChg>
        <pc:spChg chg="add mod">
          <ac:chgData name="NATANAEL JAIME JANACUA ELIAS" userId="0786276c-97fd-4fcd-b85f-5703d6edb202" providerId="ADAL" clId="{13AAB9F1-2C2D-4510-8BC1-A197162A9250}" dt="2026-05-08T15:14:33.879" v="9" actId="571"/>
          <ac:spMkLst>
            <pc:docMk/>
            <pc:sldMk cId="0" sldId="275"/>
            <ac:spMk id="73" creationId="{F6260C39-56A0-D6DE-E7C9-1A8495BADE9F}"/>
          </ac:spMkLst>
        </pc:spChg>
        <pc:spChg chg="add mod">
          <ac:chgData name="NATANAEL JAIME JANACUA ELIAS" userId="0786276c-97fd-4fcd-b85f-5703d6edb202" providerId="ADAL" clId="{13AAB9F1-2C2D-4510-8BC1-A197162A9250}" dt="2026-05-08T15:14:33.879" v="9" actId="571"/>
          <ac:spMkLst>
            <pc:docMk/>
            <pc:sldMk cId="0" sldId="275"/>
            <ac:spMk id="74" creationId="{03F13F25-55DF-0BF2-7271-8BAD33364100}"/>
          </ac:spMkLst>
        </pc:spChg>
        <pc:spChg chg="add mod">
          <ac:chgData name="NATANAEL JAIME JANACUA ELIAS" userId="0786276c-97fd-4fcd-b85f-5703d6edb202" providerId="ADAL" clId="{13AAB9F1-2C2D-4510-8BC1-A197162A9250}" dt="2026-05-08T15:14:33.879" v="9" actId="571"/>
          <ac:spMkLst>
            <pc:docMk/>
            <pc:sldMk cId="0" sldId="275"/>
            <ac:spMk id="75" creationId="{C6E5125F-8FC4-532D-4F6A-80F22C0D4198}"/>
          </ac:spMkLst>
        </pc:spChg>
        <pc:spChg chg="add mod">
          <ac:chgData name="NATANAEL JAIME JANACUA ELIAS" userId="0786276c-97fd-4fcd-b85f-5703d6edb202" providerId="ADAL" clId="{13AAB9F1-2C2D-4510-8BC1-A197162A9250}" dt="2026-05-08T15:14:33.879" v="9" actId="571"/>
          <ac:spMkLst>
            <pc:docMk/>
            <pc:sldMk cId="0" sldId="275"/>
            <ac:spMk id="77" creationId="{9FEB5E78-52DA-80CE-9B5D-F6CC490DB3A1}"/>
          </ac:spMkLst>
        </pc:spChg>
        <pc:spChg chg="add mod">
          <ac:chgData name="NATANAEL JAIME JANACUA ELIAS" userId="0786276c-97fd-4fcd-b85f-5703d6edb202" providerId="ADAL" clId="{13AAB9F1-2C2D-4510-8BC1-A197162A9250}" dt="2026-05-08T15:14:33.879" v="9" actId="571"/>
          <ac:spMkLst>
            <pc:docMk/>
            <pc:sldMk cId="0" sldId="275"/>
            <ac:spMk id="78" creationId="{DCBC99F2-3A87-2C03-758A-D55A9D73E76E}"/>
          </ac:spMkLst>
        </pc:spChg>
        <pc:spChg chg="add mod">
          <ac:chgData name="NATANAEL JAIME JANACUA ELIAS" userId="0786276c-97fd-4fcd-b85f-5703d6edb202" providerId="ADAL" clId="{13AAB9F1-2C2D-4510-8BC1-A197162A9250}" dt="2026-05-08T15:14:33.879" v="9" actId="571"/>
          <ac:spMkLst>
            <pc:docMk/>
            <pc:sldMk cId="0" sldId="275"/>
            <ac:spMk id="79" creationId="{6AC5DC00-2639-123A-0DB7-E63B69BCB2EA}"/>
          </ac:spMkLst>
        </pc:spChg>
        <pc:spChg chg="add mod">
          <ac:chgData name="NATANAEL JAIME JANACUA ELIAS" userId="0786276c-97fd-4fcd-b85f-5703d6edb202" providerId="ADAL" clId="{13AAB9F1-2C2D-4510-8BC1-A197162A9250}" dt="2026-05-08T15:14:33.879" v="9" actId="571"/>
          <ac:spMkLst>
            <pc:docMk/>
            <pc:sldMk cId="0" sldId="275"/>
            <ac:spMk id="80" creationId="{300CED9F-06A2-CCE9-7B81-231B2EF414CE}"/>
          </ac:spMkLst>
        </pc:spChg>
        <pc:spChg chg="add mod">
          <ac:chgData name="NATANAEL JAIME JANACUA ELIAS" userId="0786276c-97fd-4fcd-b85f-5703d6edb202" providerId="ADAL" clId="{13AAB9F1-2C2D-4510-8BC1-A197162A9250}" dt="2026-05-08T15:14:33.879" v="9" actId="571"/>
          <ac:spMkLst>
            <pc:docMk/>
            <pc:sldMk cId="0" sldId="275"/>
            <ac:spMk id="81" creationId="{A1ED7FE0-A10A-71A9-AEEC-AE078805FAC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94304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21" Type="http://schemas.openxmlformats.org/officeDocument/2006/relationships/image" Target="../media/image4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8.png"/><Relationship Id="rId20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19" Type="http://schemas.openxmlformats.org/officeDocument/2006/relationships/image" Target="../media/image21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3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9" Type="http://schemas.openxmlformats.org/officeDocument/2006/relationships/image" Target="../media/image2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5" Type="http://schemas.openxmlformats.org/officeDocument/2006/relationships/image" Target="../media/image4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Relationship Id="rId14" Type="http://schemas.openxmlformats.org/officeDocument/2006/relationships/image" Target="../media/image4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55.png"/><Relationship Id="rId18" Type="http://schemas.openxmlformats.org/officeDocument/2006/relationships/image" Target="../media/image60.png"/><Relationship Id="rId3" Type="http://schemas.openxmlformats.org/officeDocument/2006/relationships/image" Target="../media/image41.png"/><Relationship Id="rId7" Type="http://schemas.openxmlformats.org/officeDocument/2006/relationships/image" Target="../media/image49.png"/><Relationship Id="rId12" Type="http://schemas.openxmlformats.org/officeDocument/2006/relationships/image" Target="../media/image54.png"/><Relationship Id="rId17" Type="http://schemas.openxmlformats.org/officeDocument/2006/relationships/image" Target="../media/image59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5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11" Type="http://schemas.openxmlformats.org/officeDocument/2006/relationships/image" Target="../media/image53.png"/><Relationship Id="rId5" Type="http://schemas.openxmlformats.org/officeDocument/2006/relationships/image" Target="../media/image47.png"/><Relationship Id="rId15" Type="http://schemas.openxmlformats.org/officeDocument/2006/relationships/image" Target="../media/image57.png"/><Relationship Id="rId10" Type="http://schemas.openxmlformats.org/officeDocument/2006/relationships/image" Target="../media/image52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Relationship Id="rId14" Type="http://schemas.openxmlformats.org/officeDocument/2006/relationships/image" Target="../media/image5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13" Type="http://schemas.openxmlformats.org/officeDocument/2006/relationships/image" Target="../media/image70.png"/><Relationship Id="rId3" Type="http://schemas.openxmlformats.org/officeDocument/2006/relationships/image" Target="../media/image41.png"/><Relationship Id="rId7" Type="http://schemas.openxmlformats.org/officeDocument/2006/relationships/image" Target="../media/image64.png"/><Relationship Id="rId12" Type="http://schemas.openxmlformats.org/officeDocument/2006/relationships/image" Target="../media/image6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3.png"/><Relationship Id="rId11" Type="http://schemas.openxmlformats.org/officeDocument/2006/relationships/image" Target="../media/image68.png"/><Relationship Id="rId5" Type="http://schemas.openxmlformats.org/officeDocument/2006/relationships/image" Target="../media/image62.png"/><Relationship Id="rId15" Type="http://schemas.openxmlformats.org/officeDocument/2006/relationships/image" Target="../media/image72.png"/><Relationship Id="rId10" Type="http://schemas.openxmlformats.org/officeDocument/2006/relationships/image" Target="../media/image67.png"/><Relationship Id="rId4" Type="http://schemas.openxmlformats.org/officeDocument/2006/relationships/image" Target="../media/image61.png"/><Relationship Id="rId9" Type="http://schemas.openxmlformats.org/officeDocument/2006/relationships/image" Target="../media/image66.png"/><Relationship Id="rId14" Type="http://schemas.openxmlformats.org/officeDocument/2006/relationships/image" Target="../media/image7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13" Type="http://schemas.openxmlformats.org/officeDocument/2006/relationships/image" Target="../media/image25.png"/><Relationship Id="rId3" Type="http://schemas.openxmlformats.org/officeDocument/2006/relationships/image" Target="../media/image73.png"/><Relationship Id="rId7" Type="http://schemas.openxmlformats.org/officeDocument/2006/relationships/image" Target="../media/image77.png"/><Relationship Id="rId12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6.png"/><Relationship Id="rId11" Type="http://schemas.openxmlformats.org/officeDocument/2006/relationships/image" Target="../media/image81.png"/><Relationship Id="rId5" Type="http://schemas.openxmlformats.org/officeDocument/2006/relationships/image" Target="../media/image75.png"/><Relationship Id="rId15" Type="http://schemas.openxmlformats.org/officeDocument/2006/relationships/image" Target="../media/image82.png"/><Relationship Id="rId10" Type="http://schemas.openxmlformats.org/officeDocument/2006/relationships/image" Target="../media/image80.png"/><Relationship Id="rId4" Type="http://schemas.openxmlformats.org/officeDocument/2006/relationships/image" Target="../media/image74.png"/><Relationship Id="rId9" Type="http://schemas.openxmlformats.org/officeDocument/2006/relationships/image" Target="../media/image79.png"/><Relationship Id="rId1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3" Type="http://schemas.openxmlformats.org/officeDocument/2006/relationships/image" Target="../media/image41.png"/><Relationship Id="rId7" Type="http://schemas.openxmlformats.org/officeDocument/2006/relationships/image" Target="../media/image8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13" Type="http://schemas.openxmlformats.org/officeDocument/2006/relationships/image" Target="../media/image96.png"/><Relationship Id="rId3" Type="http://schemas.openxmlformats.org/officeDocument/2006/relationships/image" Target="../media/image41.png"/><Relationship Id="rId7" Type="http://schemas.openxmlformats.org/officeDocument/2006/relationships/image" Target="../media/image90.png"/><Relationship Id="rId12" Type="http://schemas.openxmlformats.org/officeDocument/2006/relationships/image" Target="../media/image9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6.png"/><Relationship Id="rId11" Type="http://schemas.openxmlformats.org/officeDocument/2006/relationships/image" Target="../media/image94.png"/><Relationship Id="rId5" Type="http://schemas.openxmlformats.org/officeDocument/2006/relationships/image" Target="../media/image89.png"/><Relationship Id="rId10" Type="http://schemas.openxmlformats.org/officeDocument/2006/relationships/image" Target="../media/image93.png"/><Relationship Id="rId4" Type="http://schemas.openxmlformats.org/officeDocument/2006/relationships/image" Target="../media/image88.png"/><Relationship Id="rId9" Type="http://schemas.openxmlformats.org/officeDocument/2006/relationships/image" Target="../media/image92.png"/><Relationship Id="rId14" Type="http://schemas.openxmlformats.org/officeDocument/2006/relationships/image" Target="../media/image5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3" Type="http://schemas.openxmlformats.org/officeDocument/2006/relationships/image" Target="../media/image41.png"/><Relationship Id="rId7" Type="http://schemas.openxmlformats.org/officeDocument/2006/relationships/image" Target="../media/image10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9.png"/><Relationship Id="rId5" Type="http://schemas.openxmlformats.org/officeDocument/2006/relationships/image" Target="../media/image98.png"/><Relationship Id="rId4" Type="http://schemas.openxmlformats.org/officeDocument/2006/relationships/image" Target="../media/image9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png"/><Relationship Id="rId13" Type="http://schemas.openxmlformats.org/officeDocument/2006/relationships/image" Target="../media/image101.png"/><Relationship Id="rId18" Type="http://schemas.openxmlformats.org/officeDocument/2006/relationships/image" Target="../media/image82.png"/><Relationship Id="rId3" Type="http://schemas.openxmlformats.org/officeDocument/2006/relationships/image" Target="../media/image102.png"/><Relationship Id="rId7" Type="http://schemas.openxmlformats.org/officeDocument/2006/relationships/image" Target="../media/image106.png"/><Relationship Id="rId12" Type="http://schemas.openxmlformats.org/officeDocument/2006/relationships/image" Target="../media/image111.png"/><Relationship Id="rId17" Type="http://schemas.openxmlformats.org/officeDocument/2006/relationships/image" Target="../media/image115.png"/><Relationship Id="rId2" Type="http://schemas.openxmlformats.org/officeDocument/2006/relationships/notesSlide" Target="../notesSlides/notesSlide18.xml"/><Relationship Id="rId16" Type="http://schemas.openxmlformats.org/officeDocument/2006/relationships/image" Target="../media/image1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5.png"/><Relationship Id="rId11" Type="http://schemas.openxmlformats.org/officeDocument/2006/relationships/image" Target="../media/image110.png"/><Relationship Id="rId5" Type="http://schemas.openxmlformats.org/officeDocument/2006/relationships/image" Target="../media/image104.png"/><Relationship Id="rId15" Type="http://schemas.openxmlformats.org/officeDocument/2006/relationships/image" Target="../media/image113.png"/><Relationship Id="rId10" Type="http://schemas.openxmlformats.org/officeDocument/2006/relationships/image" Target="../media/image109.png"/><Relationship Id="rId4" Type="http://schemas.openxmlformats.org/officeDocument/2006/relationships/image" Target="../media/image103.png"/><Relationship Id="rId9" Type="http://schemas.openxmlformats.org/officeDocument/2006/relationships/image" Target="../media/image108.png"/><Relationship Id="rId14" Type="http://schemas.openxmlformats.org/officeDocument/2006/relationships/image" Target="../media/image11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png"/><Relationship Id="rId13" Type="http://schemas.openxmlformats.org/officeDocument/2006/relationships/image" Target="../media/image48.png"/><Relationship Id="rId3" Type="http://schemas.openxmlformats.org/officeDocument/2006/relationships/image" Target="../media/image41.png"/><Relationship Id="rId7" Type="http://schemas.openxmlformats.org/officeDocument/2006/relationships/image" Target="../media/image47.png"/><Relationship Id="rId12" Type="http://schemas.openxmlformats.org/officeDocument/2006/relationships/image" Target="../media/image122.png"/><Relationship Id="rId17" Type="http://schemas.openxmlformats.org/officeDocument/2006/relationships/image" Target="../media/image124.png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8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8.png"/><Relationship Id="rId11" Type="http://schemas.openxmlformats.org/officeDocument/2006/relationships/image" Target="../media/image72.png"/><Relationship Id="rId5" Type="http://schemas.openxmlformats.org/officeDocument/2006/relationships/image" Target="../media/image117.png"/><Relationship Id="rId15" Type="http://schemas.openxmlformats.org/officeDocument/2006/relationships/image" Target="../media/image85.png"/><Relationship Id="rId10" Type="http://schemas.openxmlformats.org/officeDocument/2006/relationships/image" Target="../media/image121.png"/><Relationship Id="rId4" Type="http://schemas.openxmlformats.org/officeDocument/2006/relationships/image" Target="../media/image116.png"/><Relationship Id="rId9" Type="http://schemas.openxmlformats.org/officeDocument/2006/relationships/image" Target="../media/image120.png"/><Relationship Id="rId14" Type="http://schemas.openxmlformats.org/officeDocument/2006/relationships/image" Target="../media/image12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25.png"/><Relationship Id="rId7" Type="http://schemas.openxmlformats.org/officeDocument/2006/relationships/image" Target="../media/image12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8.png"/><Relationship Id="rId5" Type="http://schemas.openxmlformats.org/officeDocument/2006/relationships/image" Target="../media/image127.png"/><Relationship Id="rId10" Type="http://schemas.openxmlformats.org/officeDocument/2006/relationships/image" Target="../media/image131.png"/><Relationship Id="rId4" Type="http://schemas.openxmlformats.org/officeDocument/2006/relationships/image" Target="../media/image126.png"/><Relationship Id="rId9" Type="http://schemas.openxmlformats.org/officeDocument/2006/relationships/image" Target="../media/image1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52805"/>
            <a:ext cx="12191695" cy="533369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1"/>
          <p:cNvSpPr txBox="1"/>
          <p:nvPr/>
        </p:nvSpPr>
        <p:spPr>
          <a:xfrm>
            <a:off x="761695" y="1494130"/>
            <a:ext cx="10668305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Plataforma Automatizada de Despliegue y Monitoreo en AWS</a:t>
            </a:r>
            <a:endParaRPr lang="en-US" sz="3600" dirty="0"/>
          </a:p>
        </p:txBody>
      </p:sp>
      <p:sp>
        <p:nvSpPr>
          <p:cNvPr id="6" name="Text 2"/>
          <p:cNvSpPr txBox="1"/>
          <p:nvPr/>
        </p:nvSpPr>
        <p:spPr>
          <a:xfrm>
            <a:off x="761695" y="2734970"/>
            <a:ext cx="1066830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C10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DevOps en la nube</a:t>
            </a:r>
            <a:endParaRPr lang="en-US" sz="2100" dirty="0"/>
          </a:p>
        </p:txBody>
      </p:sp>
      <p:sp>
        <p:nvSpPr>
          <p:cNvPr id="7" name="Text 3"/>
          <p:cNvSpPr txBox="1"/>
          <p:nvPr/>
        </p:nvSpPr>
        <p:spPr>
          <a:xfrm>
            <a:off x="761695" y="3277210"/>
            <a:ext cx="106683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Soluciones Tecnológicas del Futuro</a:t>
            </a:r>
            <a:endParaRPr lang="en-US" sz="1800" dirty="0"/>
          </a:p>
        </p:txBody>
      </p:sp>
      <p:sp>
        <p:nvSpPr>
          <p:cNvPr id="8" name="Shape 4"/>
          <p:cNvSpPr/>
          <p:nvPr/>
        </p:nvSpPr>
        <p:spPr>
          <a:xfrm>
            <a:off x="761695" y="3867912"/>
            <a:ext cx="10668305" cy="523951"/>
          </a:xfrm>
          <a:prstGeom prst="roundRect">
            <a:avLst>
              <a:gd name="adj" fmla="val 158655"/>
            </a:avLst>
          </a:prstGeom>
          <a:solidFill>
            <a:srgbClr val="F8F9FA"/>
          </a:solidFill>
          <a:ln w="254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5"/>
          <p:cNvSpPr txBox="1"/>
          <p:nvPr/>
        </p:nvSpPr>
        <p:spPr>
          <a:xfrm>
            <a:off x="3816706" y="4029761"/>
            <a:ext cx="456285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Regiones: us-east-1 o us-west-2 | Entorno: Learner Lab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10763402" y="1429207"/>
            <a:ext cx="952805" cy="952805"/>
          </a:xfrm>
          <a:prstGeom prst="ellipse">
            <a:avLst/>
          </a:prstGeom>
          <a:solidFill>
            <a:srgbClr val="1B5E20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Shape 7"/>
          <p:cNvSpPr/>
          <p:nvPr/>
        </p:nvSpPr>
        <p:spPr>
          <a:xfrm>
            <a:off x="476402" y="4476902"/>
            <a:ext cx="952805" cy="952805"/>
          </a:xfrm>
          <a:prstGeom prst="ellipse">
            <a:avLst/>
          </a:prstGeom>
          <a:solidFill>
            <a:srgbClr val="FFC107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Shape 8"/>
          <p:cNvSpPr/>
          <p:nvPr/>
        </p:nvSpPr>
        <p:spPr>
          <a:xfrm>
            <a:off x="2585923" y="4963363"/>
            <a:ext cx="1533449" cy="780898"/>
          </a:xfrm>
          <a:prstGeom prst="roundRect">
            <a:avLst>
              <a:gd name="adj" fmla="val 28560"/>
            </a:avLst>
          </a:prstGeom>
          <a:solidFill>
            <a:srgbClr val="FFFFFF"/>
          </a:solidFill>
          <a:ln w="25400">
            <a:solidFill>
              <a:srgbClr val="1B5E20"/>
            </a:solidFill>
            <a:prstDash val="solid"/>
          </a:ln>
          <a:effectLst>
            <a:outerShdw blurRad="1397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3" name="Text 9"/>
          <p:cNvSpPr txBox="1"/>
          <p:nvPr/>
        </p:nvSpPr>
        <p:spPr>
          <a:xfrm>
            <a:off x="2842870" y="5125212"/>
            <a:ext cx="10195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Narciso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2676449" y="5401361"/>
            <a:ext cx="13533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DevOps Engineer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400093" y="4963363"/>
            <a:ext cx="1429207" cy="780898"/>
          </a:xfrm>
          <a:prstGeom prst="roundRect">
            <a:avLst>
              <a:gd name="adj" fmla="val 28560"/>
            </a:avLst>
          </a:prstGeom>
          <a:solidFill>
            <a:srgbClr val="FFFFFF"/>
          </a:solidFill>
          <a:ln w="25400">
            <a:solidFill>
              <a:srgbClr val="1B5E20"/>
            </a:solidFill>
            <a:prstDash val="solid"/>
          </a:ln>
          <a:effectLst>
            <a:outerShdw blurRad="1397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6" name="Text 12"/>
          <p:cNvSpPr txBox="1"/>
          <p:nvPr/>
        </p:nvSpPr>
        <p:spPr>
          <a:xfrm>
            <a:off x="4657954" y="512521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Caleb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4445813" y="5401361"/>
            <a:ext cx="133776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 Architect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107278" y="4963363"/>
            <a:ext cx="1657807" cy="780898"/>
          </a:xfrm>
          <a:prstGeom prst="roundRect">
            <a:avLst>
              <a:gd name="adj" fmla="val 28560"/>
            </a:avLst>
          </a:prstGeom>
          <a:solidFill>
            <a:srgbClr val="FFFFFF"/>
          </a:solidFill>
          <a:ln w="25400">
            <a:solidFill>
              <a:srgbClr val="1B5E20"/>
            </a:solidFill>
            <a:prstDash val="solid"/>
          </a:ln>
          <a:effectLst>
            <a:outerShdw blurRad="1397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9" name="Text 15"/>
          <p:cNvSpPr txBox="1"/>
          <p:nvPr/>
        </p:nvSpPr>
        <p:spPr>
          <a:xfrm>
            <a:off x="6364224" y="512521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Rodrigo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6170371" y="5401361"/>
            <a:ext cx="153162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Developer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8042148" y="4963363"/>
            <a:ext cx="1571854" cy="780898"/>
          </a:xfrm>
          <a:prstGeom prst="roundRect">
            <a:avLst>
              <a:gd name="adj" fmla="val 28560"/>
            </a:avLst>
          </a:prstGeom>
          <a:solidFill>
            <a:srgbClr val="FFFFFF"/>
          </a:solidFill>
          <a:ln w="25400">
            <a:solidFill>
              <a:srgbClr val="1B5E20"/>
            </a:solidFill>
            <a:prstDash val="solid"/>
          </a:ln>
          <a:effectLst>
            <a:outerShdw blurRad="1397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2" name="Text 18"/>
          <p:cNvSpPr txBox="1"/>
          <p:nvPr/>
        </p:nvSpPr>
        <p:spPr>
          <a:xfrm>
            <a:off x="8299094" y="5125212"/>
            <a:ext cx="10579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Natanael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7988198" y="5401361"/>
            <a:ext cx="16788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Specialist</a:t>
            </a:r>
            <a:endParaRPr lang="en-US" sz="100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rcRect t="-17" b="-17"/>
          <a:stretch/>
        </p:blipFill>
        <p:spPr>
          <a:xfrm>
            <a:off x="0" y="0"/>
            <a:ext cx="12191695" cy="952805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476756" y="95098"/>
            <a:ext cx="18772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Universidad Tecmilenio</a:t>
            </a:r>
            <a:endParaRPr lang="en-US" sz="1300" dirty="0"/>
          </a:p>
        </p:txBody>
      </p:sp>
      <p:sp>
        <p:nvSpPr>
          <p:cNvPr id="27" name="Shape 21"/>
          <p:cNvSpPr/>
          <p:nvPr/>
        </p:nvSpPr>
        <p:spPr>
          <a:xfrm>
            <a:off x="10898734" y="280721"/>
            <a:ext cx="724205" cy="390449"/>
          </a:xfrm>
          <a:prstGeom prst="roundRect">
            <a:avLst>
              <a:gd name="adj" fmla="val 91392"/>
            </a:avLst>
          </a:prstGeom>
          <a:solidFill>
            <a:srgbClr val="FF99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Text 22"/>
          <p:cNvSpPr txBox="1"/>
          <p:nvPr/>
        </p:nvSpPr>
        <p:spPr>
          <a:xfrm>
            <a:off x="10898734" y="280721"/>
            <a:ext cx="724205" cy="3913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01600" rIns="190500" bIns="10160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AWS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Text 24"/>
          <p:cNvSpPr txBox="1"/>
          <p:nvPr/>
        </p:nvSpPr>
        <p:spPr>
          <a:xfrm>
            <a:off x="712318" y="6482182"/>
            <a:ext cx="21717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Proyecto DevOps - Mayo 2026 </a:t>
            </a:r>
            <a:endParaRPr lang="en-US" sz="1000" dirty="0"/>
          </a:p>
        </p:txBody>
      </p:sp>
      <p:sp>
        <p:nvSpPr>
          <p:cNvPr id="31" name="Text 25"/>
          <p:cNvSpPr txBox="1"/>
          <p:nvPr/>
        </p:nvSpPr>
        <p:spPr>
          <a:xfrm>
            <a:off x="10585094" y="6482182"/>
            <a:ext cx="151607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C10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</a:t>
            </a: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| Tecmilenio </a:t>
            </a:r>
            <a:endParaRPr lang="en-US" sz="1000" dirty="0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6"/>
          <a:srcRect t="-5544" b="-5544"/>
          <a:stretch/>
        </p:blipFill>
        <p:spPr>
          <a:xfrm>
            <a:off x="571500" y="6507785"/>
            <a:ext cx="105156" cy="13350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761695"/>
            <a:ext cx="12191695" cy="552480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2"/>
          <p:cNvSpPr txBox="1"/>
          <p:nvPr/>
        </p:nvSpPr>
        <p:spPr>
          <a:xfrm>
            <a:off x="4216298" y="905256"/>
            <a:ext cx="7404811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Agenda del Proyecto DevOps </a:t>
            </a:r>
            <a:endParaRPr lang="en-US" sz="2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l="-2052" r="-2052"/>
          <a:stretch/>
        </p:blipFill>
        <p:spPr>
          <a:xfrm>
            <a:off x="3799332" y="972007"/>
            <a:ext cx="237744" cy="30449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71500" y="1362456"/>
            <a:ext cx="110496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 de implementación de la plataforma automatizada en AWS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571500" y="1705356"/>
            <a:ext cx="3619195" cy="580644"/>
          </a:xfrm>
          <a:prstGeom prst="roundRect">
            <a:avLst>
              <a:gd name="adj" fmla="val 51633"/>
            </a:avLst>
          </a:prstGeom>
          <a:solidFill>
            <a:srgbClr val="FFFFFF"/>
          </a:solidFill>
          <a:ln w="25400">
            <a:solidFill>
              <a:srgbClr val="1B5E20"/>
            </a:solidFill>
            <a:prstDash val="solid"/>
          </a:ln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9" name="Shape 5"/>
          <p:cNvSpPr/>
          <p:nvPr/>
        </p:nvSpPr>
        <p:spPr>
          <a:xfrm>
            <a:off x="733349" y="1819656"/>
            <a:ext cx="286207" cy="286207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6"/>
          <p:cNvSpPr/>
          <p:nvPr/>
        </p:nvSpPr>
        <p:spPr>
          <a:xfrm>
            <a:off x="733349" y="1819656"/>
            <a:ext cx="286207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1332281" y="1819656"/>
            <a:ext cx="269748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Caso y Objetivos </a:t>
            </a:r>
            <a:endParaRPr lang="en-US" sz="10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 t="-16800" b="-16800"/>
          <a:stretch/>
        </p:blipFill>
        <p:spPr>
          <a:xfrm>
            <a:off x="1133856" y="1828800"/>
            <a:ext cx="114300" cy="15270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33856" y="2029054"/>
            <a:ext cx="344454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Análisis de la empresa y restricciones del Learner Lab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4286707" y="1705356"/>
            <a:ext cx="3619195" cy="580644"/>
          </a:xfrm>
          <a:prstGeom prst="roundRect">
            <a:avLst>
              <a:gd name="adj" fmla="val 51633"/>
            </a:avLst>
          </a:prstGeom>
          <a:solidFill>
            <a:srgbClr val="FFFFFF"/>
          </a:solidFill>
          <a:ln w="25400">
            <a:solidFill>
              <a:srgbClr val="1B5E20"/>
            </a:solidFill>
            <a:prstDash val="solid"/>
          </a:ln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5" name="Shape 10"/>
          <p:cNvSpPr/>
          <p:nvPr/>
        </p:nvSpPr>
        <p:spPr>
          <a:xfrm>
            <a:off x="4448556" y="1819656"/>
            <a:ext cx="286207" cy="286207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1"/>
          <p:cNvSpPr/>
          <p:nvPr/>
        </p:nvSpPr>
        <p:spPr>
          <a:xfrm>
            <a:off x="4448556" y="1819656"/>
            <a:ext cx="286207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Text 12"/>
          <p:cNvSpPr txBox="1"/>
          <p:nvPr/>
        </p:nvSpPr>
        <p:spPr>
          <a:xfrm>
            <a:off x="5046574" y="1819656"/>
            <a:ext cx="269748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Principios DevOps </a:t>
            </a:r>
            <a:endParaRPr lang="en-US" sz="10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rcRect t="-33500" b="-33500"/>
          <a:stretch/>
        </p:blipFill>
        <p:spPr>
          <a:xfrm>
            <a:off x="4848149" y="1828800"/>
            <a:ext cx="114300" cy="152705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4848149" y="2029054"/>
            <a:ext cx="313182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Automatización, Agile, monitoreo y DevSecOps</a:t>
            </a:r>
            <a:endParaRPr lang="en-US" sz="900" dirty="0"/>
          </a:p>
        </p:txBody>
      </p:sp>
      <p:sp>
        <p:nvSpPr>
          <p:cNvPr id="20" name="Shape 14"/>
          <p:cNvSpPr/>
          <p:nvPr/>
        </p:nvSpPr>
        <p:spPr>
          <a:xfrm>
            <a:off x="8001000" y="1705356"/>
            <a:ext cx="3619195" cy="580644"/>
          </a:xfrm>
          <a:prstGeom prst="roundRect">
            <a:avLst>
              <a:gd name="adj" fmla="val 51633"/>
            </a:avLst>
          </a:prstGeom>
          <a:solidFill>
            <a:srgbClr val="FFFFFF"/>
          </a:solidFill>
          <a:ln w="25400">
            <a:solidFill>
              <a:srgbClr val="1B5E20"/>
            </a:solidFill>
            <a:prstDash val="solid"/>
          </a:ln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1" name="Shape 15"/>
          <p:cNvSpPr/>
          <p:nvPr/>
        </p:nvSpPr>
        <p:spPr>
          <a:xfrm>
            <a:off x="8162849" y="1819656"/>
            <a:ext cx="286207" cy="286207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16"/>
          <p:cNvSpPr/>
          <p:nvPr/>
        </p:nvSpPr>
        <p:spPr>
          <a:xfrm>
            <a:off x="8162849" y="1819656"/>
            <a:ext cx="286207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17"/>
          <p:cNvSpPr txBox="1"/>
          <p:nvPr/>
        </p:nvSpPr>
        <p:spPr>
          <a:xfrm>
            <a:off x="8761781" y="1819656"/>
            <a:ext cx="269748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GitHub y Control de Versiones </a:t>
            </a:r>
            <a:endParaRPr lang="en-US" sz="100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rcRect t="-14713" b="-14713"/>
          <a:stretch/>
        </p:blipFill>
        <p:spPr>
          <a:xfrm>
            <a:off x="8563356" y="1828800"/>
            <a:ext cx="114300" cy="152705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8563356" y="2029054"/>
            <a:ext cx="28959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Repositorios, ramas y commits</a:t>
            </a:r>
            <a:endParaRPr lang="en-US" sz="900" dirty="0"/>
          </a:p>
        </p:txBody>
      </p:sp>
      <p:sp>
        <p:nvSpPr>
          <p:cNvPr id="26" name="Shape 19"/>
          <p:cNvSpPr/>
          <p:nvPr/>
        </p:nvSpPr>
        <p:spPr>
          <a:xfrm>
            <a:off x="571500" y="2375611"/>
            <a:ext cx="3619195" cy="580644"/>
          </a:xfrm>
          <a:prstGeom prst="roundRect">
            <a:avLst>
              <a:gd name="adj" fmla="val 51633"/>
            </a:avLst>
          </a:prstGeom>
          <a:solidFill>
            <a:srgbClr val="FFFFFF"/>
          </a:solidFill>
          <a:ln w="25400">
            <a:solidFill>
              <a:srgbClr val="1B5E20"/>
            </a:solidFill>
            <a:prstDash val="solid"/>
          </a:ln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7" name="Shape 20"/>
          <p:cNvSpPr/>
          <p:nvPr/>
        </p:nvSpPr>
        <p:spPr>
          <a:xfrm>
            <a:off x="733349" y="2489911"/>
            <a:ext cx="286207" cy="286207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Text 21"/>
          <p:cNvSpPr/>
          <p:nvPr/>
        </p:nvSpPr>
        <p:spPr>
          <a:xfrm>
            <a:off x="733349" y="2489911"/>
            <a:ext cx="286207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2"/>
          <p:cNvSpPr txBox="1"/>
          <p:nvPr/>
        </p:nvSpPr>
        <p:spPr>
          <a:xfrm>
            <a:off x="1332281" y="2489911"/>
            <a:ext cx="269748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Entorno AWS Cloud9 </a:t>
            </a:r>
            <a:endParaRPr lang="en-US" sz="1000" dirty="0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rcRect t="-33500" b="-33500"/>
          <a:stretch/>
        </p:blipFill>
        <p:spPr>
          <a:xfrm>
            <a:off x="1133856" y="2499055"/>
            <a:ext cx="114300" cy="152705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1133856" y="2699309"/>
            <a:ext cx="28959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Configuración Linux y automatización</a:t>
            </a:r>
            <a:endParaRPr lang="en-US" sz="900" dirty="0"/>
          </a:p>
        </p:txBody>
      </p:sp>
      <p:sp>
        <p:nvSpPr>
          <p:cNvPr id="32" name="Shape 24"/>
          <p:cNvSpPr/>
          <p:nvPr/>
        </p:nvSpPr>
        <p:spPr>
          <a:xfrm>
            <a:off x="4286707" y="2375611"/>
            <a:ext cx="3619195" cy="580644"/>
          </a:xfrm>
          <a:prstGeom prst="roundRect">
            <a:avLst>
              <a:gd name="adj" fmla="val 51633"/>
            </a:avLst>
          </a:prstGeom>
          <a:solidFill>
            <a:srgbClr val="FFFFFF"/>
          </a:solidFill>
          <a:ln w="25400">
            <a:solidFill>
              <a:srgbClr val="1B5E20"/>
            </a:solidFill>
            <a:prstDash val="solid"/>
          </a:ln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3" name="Shape 25"/>
          <p:cNvSpPr/>
          <p:nvPr/>
        </p:nvSpPr>
        <p:spPr>
          <a:xfrm>
            <a:off x="4448556" y="2489911"/>
            <a:ext cx="286207" cy="286207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4" name="Text 26"/>
          <p:cNvSpPr/>
          <p:nvPr/>
        </p:nvSpPr>
        <p:spPr>
          <a:xfrm>
            <a:off x="4448556" y="2489911"/>
            <a:ext cx="286207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000" dirty="0"/>
          </a:p>
        </p:txBody>
      </p:sp>
      <p:sp>
        <p:nvSpPr>
          <p:cNvPr id="35" name="Text 27"/>
          <p:cNvSpPr txBox="1"/>
          <p:nvPr/>
        </p:nvSpPr>
        <p:spPr>
          <a:xfrm>
            <a:off x="5046574" y="2489911"/>
            <a:ext cx="269748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Python y Boto3 </a:t>
            </a:r>
            <a:endParaRPr lang="en-US" sz="1000" dirty="0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rcRect t="-8450" b="-8450"/>
          <a:stretch/>
        </p:blipFill>
        <p:spPr>
          <a:xfrm>
            <a:off x="4848149" y="2499055"/>
            <a:ext cx="114300" cy="152705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4848149" y="2699309"/>
            <a:ext cx="28959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Automatización de tareas AWS</a:t>
            </a:r>
            <a:endParaRPr lang="en-US" sz="900" dirty="0"/>
          </a:p>
        </p:txBody>
      </p:sp>
      <p:sp>
        <p:nvSpPr>
          <p:cNvPr id="38" name="Shape 29"/>
          <p:cNvSpPr/>
          <p:nvPr/>
        </p:nvSpPr>
        <p:spPr>
          <a:xfrm>
            <a:off x="8001000" y="2375611"/>
            <a:ext cx="3619195" cy="580644"/>
          </a:xfrm>
          <a:prstGeom prst="roundRect">
            <a:avLst>
              <a:gd name="adj" fmla="val 51633"/>
            </a:avLst>
          </a:prstGeom>
          <a:solidFill>
            <a:srgbClr val="FFFFFF"/>
          </a:solidFill>
          <a:ln w="25400">
            <a:solidFill>
              <a:srgbClr val="1B5E20"/>
            </a:solidFill>
            <a:prstDash val="solid"/>
          </a:ln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9" name="Shape 30"/>
          <p:cNvSpPr/>
          <p:nvPr/>
        </p:nvSpPr>
        <p:spPr>
          <a:xfrm>
            <a:off x="8162849" y="2489911"/>
            <a:ext cx="286207" cy="286207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0" name="Text 31"/>
          <p:cNvSpPr/>
          <p:nvPr/>
        </p:nvSpPr>
        <p:spPr>
          <a:xfrm>
            <a:off x="8162849" y="2489911"/>
            <a:ext cx="286207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000" dirty="0"/>
          </a:p>
        </p:txBody>
      </p:sp>
      <p:sp>
        <p:nvSpPr>
          <p:cNvPr id="41" name="Text 32"/>
          <p:cNvSpPr txBox="1"/>
          <p:nvPr/>
        </p:nvSpPr>
        <p:spPr>
          <a:xfrm>
            <a:off x="8761781" y="2489911"/>
            <a:ext cx="269748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CloudFormation </a:t>
            </a:r>
            <a:endParaRPr lang="en-US" sz="1000" dirty="0"/>
          </a:p>
        </p:txBody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10"/>
          <a:srcRect t="-100" b="-100"/>
          <a:stretch/>
        </p:blipFill>
        <p:spPr>
          <a:xfrm>
            <a:off x="8563356" y="2499055"/>
            <a:ext cx="114300" cy="152705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8563356" y="2699309"/>
            <a:ext cx="28959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Infraestructura como código</a:t>
            </a:r>
            <a:endParaRPr lang="en-US" sz="900" dirty="0"/>
          </a:p>
        </p:txBody>
      </p:sp>
      <p:sp>
        <p:nvSpPr>
          <p:cNvPr id="44" name="Shape 34"/>
          <p:cNvSpPr/>
          <p:nvPr/>
        </p:nvSpPr>
        <p:spPr>
          <a:xfrm>
            <a:off x="571500" y="3045866"/>
            <a:ext cx="3619195" cy="580644"/>
          </a:xfrm>
          <a:prstGeom prst="roundRect">
            <a:avLst>
              <a:gd name="adj" fmla="val 51633"/>
            </a:avLst>
          </a:prstGeom>
          <a:solidFill>
            <a:srgbClr val="FFFFFF"/>
          </a:solidFill>
          <a:ln w="25400">
            <a:solidFill>
              <a:srgbClr val="1B5E20"/>
            </a:solidFill>
            <a:prstDash val="solid"/>
          </a:ln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45" name="Shape 35"/>
          <p:cNvSpPr/>
          <p:nvPr/>
        </p:nvSpPr>
        <p:spPr>
          <a:xfrm>
            <a:off x="733349" y="3160166"/>
            <a:ext cx="286207" cy="286207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6" name="Text 36"/>
          <p:cNvSpPr/>
          <p:nvPr/>
        </p:nvSpPr>
        <p:spPr>
          <a:xfrm>
            <a:off x="733349" y="3160166"/>
            <a:ext cx="286207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000" dirty="0"/>
          </a:p>
        </p:txBody>
      </p:sp>
      <p:sp>
        <p:nvSpPr>
          <p:cNvPr id="47" name="Text 37"/>
          <p:cNvSpPr txBox="1"/>
          <p:nvPr/>
        </p:nvSpPr>
        <p:spPr>
          <a:xfrm>
            <a:off x="1332281" y="3160166"/>
            <a:ext cx="269748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Docker </a:t>
            </a:r>
            <a:endParaRPr lang="en-US" sz="1000" dirty="0"/>
          </a:p>
        </p:txBody>
      </p:sp>
      <p:pic>
        <p:nvPicPr>
          <p:cNvPr id="48" name="Image 8" descr="preencoded.png"/>
          <p:cNvPicPr>
            <a:picLocks noChangeAspect="1"/>
          </p:cNvPicPr>
          <p:nvPr/>
        </p:nvPicPr>
        <p:blipFill>
          <a:blip r:embed="rId11"/>
          <a:srcRect t="-33500" b="-33500"/>
          <a:stretch/>
        </p:blipFill>
        <p:spPr>
          <a:xfrm>
            <a:off x="1133856" y="3170225"/>
            <a:ext cx="114300" cy="152705"/>
          </a:xfrm>
          <a:prstGeom prst="rect">
            <a:avLst/>
          </a:prstGeom>
        </p:spPr>
      </p:pic>
      <p:sp>
        <p:nvSpPr>
          <p:cNvPr id="49" name="Text 38"/>
          <p:cNvSpPr txBox="1"/>
          <p:nvPr/>
        </p:nvSpPr>
        <p:spPr>
          <a:xfrm>
            <a:off x="1133856" y="3370478"/>
            <a:ext cx="28959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Contenedores y orquestación</a:t>
            </a:r>
            <a:endParaRPr lang="en-US" sz="900" dirty="0"/>
          </a:p>
        </p:txBody>
      </p:sp>
      <p:sp>
        <p:nvSpPr>
          <p:cNvPr id="50" name="Shape 39"/>
          <p:cNvSpPr/>
          <p:nvPr/>
        </p:nvSpPr>
        <p:spPr>
          <a:xfrm>
            <a:off x="4286707" y="3045866"/>
            <a:ext cx="3619195" cy="580644"/>
          </a:xfrm>
          <a:prstGeom prst="roundRect">
            <a:avLst>
              <a:gd name="adj" fmla="val 51633"/>
            </a:avLst>
          </a:prstGeom>
          <a:solidFill>
            <a:srgbClr val="FFFFFF"/>
          </a:solidFill>
          <a:ln w="25400">
            <a:solidFill>
              <a:srgbClr val="1B5E20"/>
            </a:solidFill>
            <a:prstDash val="solid"/>
          </a:ln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51" name="Shape 40"/>
          <p:cNvSpPr/>
          <p:nvPr/>
        </p:nvSpPr>
        <p:spPr>
          <a:xfrm>
            <a:off x="4448556" y="3160166"/>
            <a:ext cx="286207" cy="286207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2" name="Text 41"/>
          <p:cNvSpPr/>
          <p:nvPr/>
        </p:nvSpPr>
        <p:spPr>
          <a:xfrm>
            <a:off x="4448556" y="3160166"/>
            <a:ext cx="286207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000" dirty="0"/>
          </a:p>
        </p:txBody>
      </p:sp>
      <p:sp>
        <p:nvSpPr>
          <p:cNvPr id="53" name="Text 42"/>
          <p:cNvSpPr txBox="1"/>
          <p:nvPr/>
        </p:nvSpPr>
        <p:spPr>
          <a:xfrm>
            <a:off x="5046574" y="3160166"/>
            <a:ext cx="269748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CI/CD CodePipeline </a:t>
            </a:r>
            <a:endParaRPr lang="en-US" sz="1000" dirty="0"/>
          </a:p>
        </p:txBody>
      </p:sp>
      <p:pic>
        <p:nvPicPr>
          <p:cNvPr id="54" name="Image 9" descr="preencoded.png"/>
          <p:cNvPicPr>
            <a:picLocks noChangeAspect="1"/>
          </p:cNvPicPr>
          <p:nvPr/>
        </p:nvPicPr>
        <p:blipFill>
          <a:blip r:embed="rId12"/>
          <a:srcRect t="-8450" b="-8450"/>
          <a:stretch/>
        </p:blipFill>
        <p:spPr>
          <a:xfrm>
            <a:off x="4848149" y="3170225"/>
            <a:ext cx="114300" cy="152705"/>
          </a:xfrm>
          <a:prstGeom prst="rect">
            <a:avLst/>
          </a:prstGeom>
        </p:spPr>
      </p:pic>
      <p:sp>
        <p:nvSpPr>
          <p:cNvPr id="55" name="Text 43"/>
          <p:cNvSpPr txBox="1"/>
          <p:nvPr/>
        </p:nvSpPr>
        <p:spPr>
          <a:xfrm>
            <a:off x="4848149" y="3370478"/>
            <a:ext cx="28959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Despliegue continuo</a:t>
            </a:r>
            <a:endParaRPr lang="en-US" sz="900" dirty="0"/>
          </a:p>
        </p:txBody>
      </p:sp>
      <p:sp>
        <p:nvSpPr>
          <p:cNvPr id="56" name="Shape 44"/>
          <p:cNvSpPr/>
          <p:nvPr/>
        </p:nvSpPr>
        <p:spPr>
          <a:xfrm>
            <a:off x="8001000" y="3045866"/>
            <a:ext cx="3619195" cy="580644"/>
          </a:xfrm>
          <a:prstGeom prst="roundRect">
            <a:avLst>
              <a:gd name="adj" fmla="val 51633"/>
            </a:avLst>
          </a:prstGeom>
          <a:solidFill>
            <a:srgbClr val="FFFFFF"/>
          </a:solidFill>
          <a:ln w="25400">
            <a:solidFill>
              <a:srgbClr val="1B5E20"/>
            </a:solidFill>
            <a:prstDash val="solid"/>
          </a:ln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57" name="Shape 45"/>
          <p:cNvSpPr/>
          <p:nvPr/>
        </p:nvSpPr>
        <p:spPr>
          <a:xfrm>
            <a:off x="8162849" y="3160166"/>
            <a:ext cx="286207" cy="286207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8" name="Text 46"/>
          <p:cNvSpPr/>
          <p:nvPr/>
        </p:nvSpPr>
        <p:spPr>
          <a:xfrm>
            <a:off x="8162849" y="3160166"/>
            <a:ext cx="286207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1000" dirty="0"/>
          </a:p>
        </p:txBody>
      </p:sp>
      <p:sp>
        <p:nvSpPr>
          <p:cNvPr id="59" name="Text 47"/>
          <p:cNvSpPr txBox="1"/>
          <p:nvPr/>
        </p:nvSpPr>
        <p:spPr>
          <a:xfrm>
            <a:off x="8761781" y="3160166"/>
            <a:ext cx="269748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Infraestructura y Redes </a:t>
            </a:r>
            <a:endParaRPr lang="en-US" sz="1000" dirty="0"/>
          </a:p>
        </p:txBody>
      </p:sp>
      <p:pic>
        <p:nvPicPr>
          <p:cNvPr id="60" name="Image 10" descr="preencoded.png"/>
          <p:cNvPicPr>
            <a:picLocks noChangeAspect="1"/>
          </p:cNvPicPr>
          <p:nvPr/>
        </p:nvPicPr>
        <p:blipFill>
          <a:blip r:embed="rId13"/>
          <a:srcRect t="-33500" b="-33500"/>
          <a:stretch/>
        </p:blipFill>
        <p:spPr>
          <a:xfrm>
            <a:off x="8563356" y="3170225"/>
            <a:ext cx="114300" cy="152705"/>
          </a:xfrm>
          <a:prstGeom prst="rect">
            <a:avLst/>
          </a:prstGeom>
        </p:spPr>
      </p:pic>
      <p:sp>
        <p:nvSpPr>
          <p:cNvPr id="61" name="Text 48"/>
          <p:cNvSpPr txBox="1"/>
          <p:nvPr/>
        </p:nvSpPr>
        <p:spPr>
          <a:xfrm>
            <a:off x="8563356" y="3370478"/>
            <a:ext cx="28959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VPC, EC2 y seguridad</a:t>
            </a:r>
            <a:endParaRPr lang="en-US" sz="900" dirty="0"/>
          </a:p>
        </p:txBody>
      </p:sp>
      <p:sp>
        <p:nvSpPr>
          <p:cNvPr id="62" name="Shape 49"/>
          <p:cNvSpPr/>
          <p:nvPr/>
        </p:nvSpPr>
        <p:spPr>
          <a:xfrm>
            <a:off x="571500" y="3717036"/>
            <a:ext cx="3619195" cy="580644"/>
          </a:xfrm>
          <a:prstGeom prst="roundRect">
            <a:avLst>
              <a:gd name="adj" fmla="val 51633"/>
            </a:avLst>
          </a:prstGeom>
          <a:solidFill>
            <a:srgbClr val="FFFFFF"/>
          </a:solidFill>
          <a:ln w="25400">
            <a:solidFill>
              <a:srgbClr val="1B5E20"/>
            </a:solidFill>
            <a:prstDash val="solid"/>
          </a:ln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3" name="Shape 50"/>
          <p:cNvSpPr/>
          <p:nvPr/>
        </p:nvSpPr>
        <p:spPr>
          <a:xfrm>
            <a:off x="733349" y="3831336"/>
            <a:ext cx="286207" cy="286207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4" name="Text 51"/>
          <p:cNvSpPr/>
          <p:nvPr/>
        </p:nvSpPr>
        <p:spPr>
          <a:xfrm>
            <a:off x="733349" y="3831336"/>
            <a:ext cx="286207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000" dirty="0"/>
          </a:p>
        </p:txBody>
      </p:sp>
      <p:sp>
        <p:nvSpPr>
          <p:cNvPr id="65" name="Text 52"/>
          <p:cNvSpPr txBox="1"/>
          <p:nvPr/>
        </p:nvSpPr>
        <p:spPr>
          <a:xfrm>
            <a:off x="1332281" y="3831336"/>
            <a:ext cx="269748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Almacenamiento </a:t>
            </a:r>
            <a:endParaRPr lang="en-US" sz="1000" dirty="0"/>
          </a:p>
        </p:txBody>
      </p:sp>
      <p:pic>
        <p:nvPicPr>
          <p:cNvPr id="66" name="Image 11" descr="preencoded.png"/>
          <p:cNvPicPr>
            <a:picLocks noChangeAspect="1"/>
          </p:cNvPicPr>
          <p:nvPr/>
        </p:nvPicPr>
        <p:blipFill>
          <a:blip r:embed="rId14"/>
          <a:srcRect t="-8450" b="-8450"/>
          <a:stretch/>
        </p:blipFill>
        <p:spPr>
          <a:xfrm>
            <a:off x="1133856" y="3840480"/>
            <a:ext cx="114300" cy="152705"/>
          </a:xfrm>
          <a:prstGeom prst="rect">
            <a:avLst/>
          </a:prstGeom>
        </p:spPr>
      </p:pic>
      <p:sp>
        <p:nvSpPr>
          <p:cNvPr id="67" name="Text 53"/>
          <p:cNvSpPr txBox="1"/>
          <p:nvPr/>
        </p:nvSpPr>
        <p:spPr>
          <a:xfrm>
            <a:off x="1133856" y="4040734"/>
            <a:ext cx="28959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S3, DynamoDB y monitoreo</a:t>
            </a:r>
            <a:endParaRPr lang="en-US" sz="900" dirty="0"/>
          </a:p>
        </p:txBody>
      </p:sp>
      <p:sp>
        <p:nvSpPr>
          <p:cNvPr id="68" name="Shape 54"/>
          <p:cNvSpPr/>
          <p:nvPr/>
        </p:nvSpPr>
        <p:spPr>
          <a:xfrm>
            <a:off x="4286707" y="3717036"/>
            <a:ext cx="3619195" cy="580644"/>
          </a:xfrm>
          <a:prstGeom prst="roundRect">
            <a:avLst>
              <a:gd name="adj" fmla="val 51633"/>
            </a:avLst>
          </a:prstGeom>
          <a:solidFill>
            <a:srgbClr val="FFFFFF"/>
          </a:solidFill>
          <a:ln w="25400">
            <a:solidFill>
              <a:srgbClr val="1B5E20"/>
            </a:solidFill>
            <a:prstDash val="solid"/>
          </a:ln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9" name="Shape 55"/>
          <p:cNvSpPr/>
          <p:nvPr/>
        </p:nvSpPr>
        <p:spPr>
          <a:xfrm>
            <a:off x="4448556" y="3831336"/>
            <a:ext cx="286207" cy="286207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0" name="Text 56"/>
          <p:cNvSpPr/>
          <p:nvPr/>
        </p:nvSpPr>
        <p:spPr>
          <a:xfrm>
            <a:off x="4448556" y="3831336"/>
            <a:ext cx="286207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1000" dirty="0"/>
          </a:p>
        </p:txBody>
      </p:sp>
      <p:sp>
        <p:nvSpPr>
          <p:cNvPr id="71" name="Text 57"/>
          <p:cNvSpPr txBox="1"/>
          <p:nvPr/>
        </p:nvSpPr>
        <p:spPr>
          <a:xfrm>
            <a:off x="5046574" y="3831336"/>
            <a:ext cx="269748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Seguridad </a:t>
            </a:r>
            <a:endParaRPr lang="en-US" sz="1000" dirty="0"/>
          </a:p>
        </p:txBody>
      </p:sp>
      <p:pic>
        <p:nvPicPr>
          <p:cNvPr id="72" name="Image 12" descr="preencoded.png"/>
          <p:cNvPicPr>
            <a:picLocks noChangeAspect="1"/>
          </p:cNvPicPr>
          <p:nvPr/>
        </p:nvPicPr>
        <p:blipFill>
          <a:blip r:embed="rId15"/>
          <a:srcRect t="-16800" b="-16800"/>
          <a:stretch/>
        </p:blipFill>
        <p:spPr>
          <a:xfrm>
            <a:off x="4848149" y="3840480"/>
            <a:ext cx="114300" cy="152705"/>
          </a:xfrm>
          <a:prstGeom prst="rect">
            <a:avLst/>
          </a:prstGeom>
        </p:spPr>
      </p:pic>
      <p:sp>
        <p:nvSpPr>
          <p:cNvPr id="73" name="Text 58"/>
          <p:cNvSpPr txBox="1"/>
          <p:nvPr/>
        </p:nvSpPr>
        <p:spPr>
          <a:xfrm>
            <a:off x="4848149" y="4040734"/>
            <a:ext cx="28959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IAM, Security Groups</a:t>
            </a:r>
            <a:endParaRPr lang="en-US" sz="900" dirty="0"/>
          </a:p>
        </p:txBody>
      </p:sp>
      <p:sp>
        <p:nvSpPr>
          <p:cNvPr id="74" name="Shape 59"/>
          <p:cNvSpPr/>
          <p:nvPr/>
        </p:nvSpPr>
        <p:spPr>
          <a:xfrm>
            <a:off x="8001000" y="3717036"/>
            <a:ext cx="3619195" cy="580644"/>
          </a:xfrm>
          <a:prstGeom prst="roundRect">
            <a:avLst>
              <a:gd name="adj" fmla="val 51633"/>
            </a:avLst>
          </a:prstGeom>
          <a:solidFill>
            <a:srgbClr val="FFFFFF"/>
          </a:solidFill>
          <a:ln w="25400">
            <a:solidFill>
              <a:srgbClr val="1B5E20"/>
            </a:solidFill>
            <a:prstDash val="solid"/>
          </a:ln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75" name="Shape 60"/>
          <p:cNvSpPr/>
          <p:nvPr/>
        </p:nvSpPr>
        <p:spPr>
          <a:xfrm>
            <a:off x="8162849" y="3831336"/>
            <a:ext cx="286207" cy="286207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6" name="Text 61"/>
          <p:cNvSpPr/>
          <p:nvPr/>
        </p:nvSpPr>
        <p:spPr>
          <a:xfrm>
            <a:off x="8162849" y="3831336"/>
            <a:ext cx="286207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1000" dirty="0"/>
          </a:p>
        </p:txBody>
      </p:sp>
      <p:sp>
        <p:nvSpPr>
          <p:cNvPr id="77" name="Text 62"/>
          <p:cNvSpPr txBox="1"/>
          <p:nvPr/>
        </p:nvSpPr>
        <p:spPr>
          <a:xfrm>
            <a:off x="8761781" y="3831336"/>
            <a:ext cx="269748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KPIs y Costos </a:t>
            </a:r>
            <a:endParaRPr lang="en-US" sz="1000" dirty="0"/>
          </a:p>
        </p:txBody>
      </p:sp>
      <p:pic>
        <p:nvPicPr>
          <p:cNvPr id="78" name="Image 13" descr="preencoded.png"/>
          <p:cNvPicPr>
            <a:picLocks noChangeAspect="1"/>
          </p:cNvPicPr>
          <p:nvPr/>
        </p:nvPicPr>
        <p:blipFill>
          <a:blip r:embed="rId16"/>
          <a:srcRect t="-16800" b="-16800"/>
          <a:stretch/>
        </p:blipFill>
        <p:spPr>
          <a:xfrm>
            <a:off x="8563356" y="3840480"/>
            <a:ext cx="114300" cy="152705"/>
          </a:xfrm>
          <a:prstGeom prst="rect">
            <a:avLst/>
          </a:prstGeom>
        </p:spPr>
      </p:pic>
      <p:sp>
        <p:nvSpPr>
          <p:cNvPr id="79" name="Text 63"/>
          <p:cNvSpPr txBox="1"/>
          <p:nvPr/>
        </p:nvSpPr>
        <p:spPr>
          <a:xfrm>
            <a:off x="8563356" y="4040734"/>
            <a:ext cx="28959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Métricas y optimización</a:t>
            </a:r>
            <a:endParaRPr lang="en-US" sz="900" dirty="0"/>
          </a:p>
        </p:txBody>
      </p:sp>
      <p:sp>
        <p:nvSpPr>
          <p:cNvPr id="80" name="Shape 64"/>
          <p:cNvSpPr/>
          <p:nvPr/>
        </p:nvSpPr>
        <p:spPr>
          <a:xfrm>
            <a:off x="571500" y="4434840"/>
            <a:ext cx="11048695" cy="857707"/>
          </a:xfrm>
          <a:prstGeom prst="roundRect">
            <a:avLst>
              <a:gd name="adj" fmla="val 18953"/>
            </a:avLst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1" name="Text 65"/>
          <p:cNvSpPr txBox="1"/>
          <p:nvPr/>
        </p:nvSpPr>
        <p:spPr>
          <a:xfrm>
            <a:off x="685800" y="4572914"/>
            <a:ext cx="159837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Progreso del Proyecto</a:t>
            </a:r>
            <a:endParaRPr lang="en-US" sz="1000" dirty="0"/>
          </a:p>
        </p:txBody>
      </p:sp>
      <p:sp>
        <p:nvSpPr>
          <p:cNvPr id="82" name="Shape 66"/>
          <p:cNvSpPr/>
          <p:nvPr/>
        </p:nvSpPr>
        <p:spPr>
          <a:xfrm>
            <a:off x="10387584" y="4549140"/>
            <a:ext cx="1123798" cy="228600"/>
          </a:xfrm>
          <a:prstGeom prst="roundRect">
            <a:avLst>
              <a:gd name="adj" fmla="val 400000"/>
            </a:avLst>
          </a:prstGeom>
          <a:solidFill>
            <a:srgbClr val="FFC10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3" name="Text 67"/>
          <p:cNvSpPr/>
          <p:nvPr/>
        </p:nvSpPr>
        <p:spPr>
          <a:xfrm>
            <a:off x="10387584" y="4549140"/>
            <a:ext cx="1124712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75% Completado</a:t>
            </a:r>
            <a:endParaRPr lang="en-US" sz="900" dirty="0"/>
          </a:p>
        </p:txBody>
      </p:sp>
      <p:pic>
        <p:nvPicPr>
          <p:cNvPr id="84" name="Image 14" descr="preencoded.png"/>
          <p:cNvPicPr>
            <a:picLocks noChangeAspect="1"/>
          </p:cNvPicPr>
          <p:nvPr/>
        </p:nvPicPr>
        <p:blipFill>
          <a:blip r:embed="rId17"/>
          <a:srcRect l="-200" r="-200"/>
          <a:stretch/>
        </p:blipFill>
        <p:spPr>
          <a:xfrm>
            <a:off x="685800" y="4854550"/>
            <a:ext cx="10820095" cy="75895"/>
          </a:xfrm>
          <a:prstGeom prst="rect">
            <a:avLst/>
          </a:prstGeom>
        </p:spPr>
      </p:pic>
      <p:pic>
        <p:nvPicPr>
          <p:cNvPr id="85" name="Image 15" descr="preencoded.png"/>
          <p:cNvPicPr>
            <a:picLocks noChangeAspect="1"/>
          </p:cNvPicPr>
          <p:nvPr/>
        </p:nvPicPr>
        <p:blipFill>
          <a:blip r:embed="rId18"/>
          <a:srcRect l="-201" r="-201"/>
          <a:stretch/>
        </p:blipFill>
        <p:spPr>
          <a:xfrm>
            <a:off x="685800" y="4854550"/>
            <a:ext cx="8115300" cy="75895"/>
          </a:xfrm>
          <a:prstGeom prst="rect">
            <a:avLst/>
          </a:prstGeom>
        </p:spPr>
      </p:pic>
      <p:sp>
        <p:nvSpPr>
          <p:cNvPr id="86" name="Shape 68"/>
          <p:cNvSpPr/>
          <p:nvPr/>
        </p:nvSpPr>
        <p:spPr>
          <a:xfrm>
            <a:off x="685800" y="5063947"/>
            <a:ext cx="75895" cy="75895"/>
          </a:xfrm>
          <a:prstGeom prst="ellipse">
            <a:avLst/>
          </a:prstGeom>
          <a:solidFill>
            <a:srgbClr val="4CAF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7" name="Text 69"/>
          <p:cNvSpPr txBox="1"/>
          <p:nvPr/>
        </p:nvSpPr>
        <p:spPr>
          <a:xfrm>
            <a:off x="838505" y="5025542"/>
            <a:ext cx="123444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Completado: 9/12</a:t>
            </a:r>
            <a:endParaRPr lang="en-US" sz="900" dirty="0"/>
          </a:p>
        </p:txBody>
      </p:sp>
      <p:sp>
        <p:nvSpPr>
          <p:cNvPr id="88" name="Shape 70"/>
          <p:cNvSpPr/>
          <p:nvPr/>
        </p:nvSpPr>
        <p:spPr>
          <a:xfrm>
            <a:off x="1936699" y="5063947"/>
            <a:ext cx="75895" cy="75895"/>
          </a:xfrm>
          <a:prstGeom prst="ellipse">
            <a:avLst/>
          </a:prstGeom>
          <a:solidFill>
            <a:srgbClr val="FFC10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9" name="Text 71"/>
          <p:cNvSpPr txBox="1"/>
          <p:nvPr/>
        </p:nvSpPr>
        <p:spPr>
          <a:xfrm>
            <a:off x="2088490" y="5025542"/>
            <a:ext cx="114757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Pendiente: 3/12</a:t>
            </a:r>
            <a:endParaRPr lang="en-US" sz="900" dirty="0"/>
          </a:p>
        </p:txBody>
      </p:sp>
      <p:pic>
        <p:nvPicPr>
          <p:cNvPr id="90" name="Image 16" descr="preencoded.png"/>
          <p:cNvPicPr>
            <a:picLocks noChangeAspect="1"/>
          </p:cNvPicPr>
          <p:nvPr/>
        </p:nvPicPr>
        <p:blipFill>
          <a:blip r:embed="rId19"/>
          <a:srcRect l="-19" r="-19"/>
          <a:stretch/>
        </p:blipFill>
        <p:spPr>
          <a:xfrm>
            <a:off x="0" y="0"/>
            <a:ext cx="12191695" cy="761695"/>
          </a:xfrm>
          <a:prstGeom prst="rect">
            <a:avLst/>
          </a:prstGeom>
        </p:spPr>
      </p:pic>
      <p:sp>
        <p:nvSpPr>
          <p:cNvPr id="92" name="Text 72"/>
          <p:cNvSpPr txBox="1"/>
          <p:nvPr/>
        </p:nvSpPr>
        <p:spPr>
          <a:xfrm>
            <a:off x="1333195" y="95098"/>
            <a:ext cx="249631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Universidad Tecmilenio</a:t>
            </a:r>
            <a:endParaRPr lang="en-US" sz="1800" dirty="0"/>
          </a:p>
        </p:txBody>
      </p:sp>
      <p:pic>
        <p:nvPicPr>
          <p:cNvPr id="93" name="Image 18" descr="preencoded.png"/>
          <p:cNvPicPr>
            <a:picLocks noChangeAspect="1"/>
          </p:cNvPicPr>
          <p:nvPr/>
        </p:nvPicPr>
        <p:blipFill>
          <a:blip r:embed="rId20"/>
          <a:srcRect t="-22043" b="-22043"/>
          <a:stretch/>
        </p:blipFill>
        <p:spPr>
          <a:xfrm>
            <a:off x="4208069" y="228600"/>
            <a:ext cx="237744" cy="304495"/>
          </a:xfrm>
          <a:prstGeom prst="rect">
            <a:avLst/>
          </a:prstGeom>
        </p:spPr>
      </p:pic>
      <p:sp>
        <p:nvSpPr>
          <p:cNvPr id="94" name="Shape 73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5" name="Text 74"/>
          <p:cNvSpPr txBox="1"/>
          <p:nvPr/>
        </p:nvSpPr>
        <p:spPr>
          <a:xfrm>
            <a:off x="712318" y="6482182"/>
            <a:ext cx="214884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Mayo 2026 | Proyecto DevOps </a:t>
            </a:r>
            <a:endParaRPr lang="en-US" sz="1000" dirty="0"/>
          </a:p>
        </p:txBody>
      </p:sp>
      <p:sp>
        <p:nvSpPr>
          <p:cNvPr id="96" name="Text 75"/>
          <p:cNvSpPr txBox="1"/>
          <p:nvPr/>
        </p:nvSpPr>
        <p:spPr>
          <a:xfrm>
            <a:off x="10604297" y="6482182"/>
            <a:ext cx="151333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 | Tecmilenio </a:t>
            </a:r>
            <a:endParaRPr lang="en-US" sz="1000" dirty="0"/>
          </a:p>
        </p:txBody>
      </p:sp>
      <p:pic>
        <p:nvPicPr>
          <p:cNvPr id="97" name="Image 19" descr="preencoded.png"/>
          <p:cNvPicPr>
            <a:picLocks noChangeAspect="1"/>
          </p:cNvPicPr>
          <p:nvPr/>
        </p:nvPicPr>
        <p:blipFill>
          <a:blip r:embed="rId21"/>
          <a:srcRect t="-5544" b="-5544"/>
          <a:stretch/>
        </p:blipFill>
        <p:spPr>
          <a:xfrm>
            <a:off x="571500" y="6507785"/>
            <a:ext cx="105156" cy="13350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0" y="761695"/>
            <a:ext cx="12191695" cy="5524805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 txBox="1"/>
          <p:nvPr/>
        </p:nvSpPr>
        <p:spPr>
          <a:xfrm>
            <a:off x="571500" y="952805"/>
            <a:ext cx="1104961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Análisis de Situación Actual y Restricciones del Entorno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71500" y="1495044"/>
            <a:ext cx="5333695" cy="4295851"/>
          </a:xfrm>
          <a:prstGeom prst="roundRect">
            <a:avLst>
              <a:gd name="adj" fmla="val 1133"/>
            </a:avLst>
          </a:prstGeom>
          <a:solidFill>
            <a:srgbClr val="FFFFFF"/>
          </a:solidFill>
          <a:ln w="25400">
            <a:solidFill>
              <a:srgbClr val="E0E0E0"/>
            </a:solidFill>
            <a:prstDash val="solid"/>
          </a:ln>
          <a:effectLst>
            <a:outerShdw blurRad="1397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780898" y="2143354"/>
            <a:ext cx="4914900" cy="1920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780898" y="1705356"/>
            <a:ext cx="342900" cy="342900"/>
          </a:xfrm>
          <a:prstGeom prst="roundRect">
            <a:avLst>
              <a:gd name="adj" fmla="val 118519"/>
            </a:avLst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 t="-100" b="-100"/>
          <a:stretch/>
        </p:blipFill>
        <p:spPr>
          <a:xfrm>
            <a:off x="895198" y="1800454"/>
            <a:ext cx="114300" cy="15270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238098" y="1762049"/>
            <a:ext cx="149687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Caso de Análisis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80898" y="2305202"/>
            <a:ext cx="4914900" cy="514807"/>
          </a:xfrm>
          <a:prstGeom prst="roundRect">
            <a:avLst>
              <a:gd name="adj" fmla="val 52628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Shape 9"/>
          <p:cNvSpPr/>
          <p:nvPr/>
        </p:nvSpPr>
        <p:spPr>
          <a:xfrm>
            <a:off x="780898" y="2305202"/>
            <a:ext cx="38405" cy="514807"/>
          </a:xfrm>
          <a:prstGeom prst="roundRect">
            <a:avLst>
              <a:gd name="adj" fmla="val 705464"/>
            </a:avLst>
          </a:prstGeom>
          <a:solidFill>
            <a:srgbClr val="FFC107"/>
          </a:solidFill>
          <a:ln w="12700">
            <a:solidFill>
              <a:srgbClr val="FFC10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Shape 10"/>
          <p:cNvSpPr/>
          <p:nvPr/>
        </p:nvSpPr>
        <p:spPr>
          <a:xfrm>
            <a:off x="914400" y="2447849"/>
            <a:ext cx="75895" cy="75895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1"/>
          <p:cNvSpPr txBox="1"/>
          <p:nvPr/>
        </p:nvSpPr>
        <p:spPr>
          <a:xfrm>
            <a:off x="1104595" y="2400300"/>
            <a:ext cx="4496105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Proceso manual:</a:t>
            </a:r>
            <a:r>
              <a:rPr lang="en-US" sz="9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El despliegue actual es manual, lo que genera retrasos en las actualizaciones y errores durante la implementación en producción. 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780898" y="2913278"/>
            <a:ext cx="4914900" cy="514807"/>
          </a:xfrm>
          <a:prstGeom prst="roundRect">
            <a:avLst>
              <a:gd name="adj" fmla="val 52628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6" name="Shape 13"/>
          <p:cNvSpPr/>
          <p:nvPr/>
        </p:nvSpPr>
        <p:spPr>
          <a:xfrm>
            <a:off x="780898" y="2913278"/>
            <a:ext cx="38405" cy="514807"/>
          </a:xfrm>
          <a:prstGeom prst="roundRect">
            <a:avLst>
              <a:gd name="adj" fmla="val 705464"/>
            </a:avLst>
          </a:prstGeom>
          <a:solidFill>
            <a:srgbClr val="FFC107"/>
          </a:solidFill>
          <a:ln w="12700">
            <a:solidFill>
              <a:srgbClr val="FFC10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Shape 14"/>
          <p:cNvSpPr/>
          <p:nvPr/>
        </p:nvSpPr>
        <p:spPr>
          <a:xfrm>
            <a:off x="914400" y="3055925"/>
            <a:ext cx="75895" cy="75895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5"/>
          <p:cNvSpPr txBox="1"/>
          <p:nvPr/>
        </p:nvSpPr>
        <p:spPr>
          <a:xfrm>
            <a:off x="1104595" y="3008376"/>
            <a:ext cx="4496105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Errores frecuentes:</a:t>
            </a:r>
            <a:r>
              <a:rPr lang="en-US" sz="9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Implementación en producción con errores que afectan la estabilidad de las aplicaciones. 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780898" y="3520440"/>
            <a:ext cx="4914900" cy="514807"/>
          </a:xfrm>
          <a:prstGeom prst="roundRect">
            <a:avLst>
              <a:gd name="adj" fmla="val 52628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0" name="Shape 17"/>
          <p:cNvSpPr/>
          <p:nvPr/>
        </p:nvSpPr>
        <p:spPr>
          <a:xfrm>
            <a:off x="780898" y="3520440"/>
            <a:ext cx="38405" cy="514807"/>
          </a:xfrm>
          <a:prstGeom prst="roundRect">
            <a:avLst>
              <a:gd name="adj" fmla="val 705464"/>
            </a:avLst>
          </a:prstGeom>
          <a:solidFill>
            <a:srgbClr val="FFC107"/>
          </a:solidFill>
          <a:ln w="12700">
            <a:solidFill>
              <a:srgbClr val="FFC10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Shape 18"/>
          <p:cNvSpPr/>
          <p:nvPr/>
        </p:nvSpPr>
        <p:spPr>
          <a:xfrm>
            <a:off x="914400" y="3664001"/>
            <a:ext cx="75895" cy="75895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19"/>
          <p:cNvSpPr txBox="1"/>
          <p:nvPr/>
        </p:nvSpPr>
        <p:spPr>
          <a:xfrm>
            <a:off x="1104595" y="3615538"/>
            <a:ext cx="4496105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Monitoreo deficiente:</a:t>
            </a:r>
            <a:r>
              <a:rPr lang="en-US" sz="9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Dificultades para monitorear el rendimiento de las aplicaciones en tiempo real. 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780898" y="4128516"/>
            <a:ext cx="4914900" cy="514807"/>
          </a:xfrm>
          <a:prstGeom prst="roundRect">
            <a:avLst>
              <a:gd name="adj" fmla="val 52628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4" name="Shape 21"/>
          <p:cNvSpPr/>
          <p:nvPr/>
        </p:nvSpPr>
        <p:spPr>
          <a:xfrm>
            <a:off x="780898" y="4128516"/>
            <a:ext cx="38405" cy="514807"/>
          </a:xfrm>
          <a:prstGeom prst="roundRect">
            <a:avLst>
              <a:gd name="adj" fmla="val 705464"/>
            </a:avLst>
          </a:prstGeom>
          <a:solidFill>
            <a:srgbClr val="FFC107"/>
          </a:solidFill>
          <a:ln w="12700">
            <a:solidFill>
              <a:srgbClr val="FFC10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Shape 22"/>
          <p:cNvSpPr/>
          <p:nvPr/>
        </p:nvSpPr>
        <p:spPr>
          <a:xfrm>
            <a:off x="914400" y="4271162"/>
            <a:ext cx="75895" cy="75895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Text 23"/>
          <p:cNvSpPr txBox="1"/>
          <p:nvPr/>
        </p:nvSpPr>
        <p:spPr>
          <a:xfrm>
            <a:off x="1104595" y="4223614"/>
            <a:ext cx="4496105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Escalabilidad limitada:</a:t>
            </a:r>
            <a:r>
              <a:rPr lang="en-US" sz="9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Problemas para escalar recursos según la demanda del negocio. 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780898" y="4736592"/>
            <a:ext cx="4914900" cy="838505"/>
          </a:xfrm>
          <a:prstGeom prst="roundRect">
            <a:avLst>
              <a:gd name="adj" fmla="val 19827"/>
            </a:avLst>
          </a:prstGeom>
          <a:solidFill>
            <a:srgbClr val="E8F5E8"/>
          </a:solidFill>
          <a:ln w="254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Text 25"/>
          <p:cNvSpPr txBox="1"/>
          <p:nvPr/>
        </p:nvSpPr>
        <p:spPr>
          <a:xfrm>
            <a:off x="953719" y="4870094"/>
            <a:ext cx="460949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Meta Principal 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914400" y="5116982"/>
            <a:ext cx="46488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Implementar una plataforma automatizada de despliegue y monitoreo en AWS, optimizando tiempos de entrega y garantizando la seguridad de la infraestructura.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6286500" y="1495044"/>
            <a:ext cx="5333695" cy="4295851"/>
          </a:xfrm>
          <a:prstGeom prst="roundRect">
            <a:avLst>
              <a:gd name="adj" fmla="val 1133"/>
            </a:avLst>
          </a:prstGeom>
          <a:solidFill>
            <a:srgbClr val="FFFFFF"/>
          </a:solidFill>
          <a:ln w="25400">
            <a:solidFill>
              <a:srgbClr val="E0E0E0"/>
            </a:solidFill>
            <a:prstDash val="solid"/>
          </a:ln>
          <a:effectLst>
            <a:outerShdw blurRad="1397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1" name="Shape 28"/>
          <p:cNvSpPr/>
          <p:nvPr/>
        </p:nvSpPr>
        <p:spPr>
          <a:xfrm>
            <a:off x="6495898" y="2143354"/>
            <a:ext cx="4914900" cy="1920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2" name="Shape 29"/>
          <p:cNvSpPr/>
          <p:nvPr/>
        </p:nvSpPr>
        <p:spPr>
          <a:xfrm>
            <a:off x="6495898" y="1705356"/>
            <a:ext cx="342900" cy="342900"/>
          </a:xfrm>
          <a:prstGeom prst="roundRect">
            <a:avLst>
              <a:gd name="adj" fmla="val 118519"/>
            </a:avLst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33" name="Image 1" descr="preencoded.png"/>
          <p:cNvPicPr>
            <a:picLocks noChangeAspect="1"/>
          </p:cNvPicPr>
          <p:nvPr/>
        </p:nvPicPr>
        <p:blipFill>
          <a:blip r:embed="rId4"/>
          <a:srcRect t="-16800" b="-16800"/>
          <a:stretch/>
        </p:blipFill>
        <p:spPr>
          <a:xfrm>
            <a:off x="6610198" y="1800454"/>
            <a:ext cx="114300" cy="152705"/>
          </a:xfrm>
          <a:prstGeom prst="rect">
            <a:avLst/>
          </a:prstGeom>
        </p:spPr>
      </p:pic>
      <p:sp>
        <p:nvSpPr>
          <p:cNvPr id="34" name="Text 30"/>
          <p:cNvSpPr txBox="1"/>
          <p:nvPr/>
        </p:nvSpPr>
        <p:spPr>
          <a:xfrm>
            <a:off x="6953098" y="1762049"/>
            <a:ext cx="2346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Restricciones Learner Lab</a:t>
            </a:r>
            <a:endParaRPr lang="en-US" sz="1300" dirty="0"/>
          </a:p>
        </p:txBody>
      </p:sp>
      <p:sp>
        <p:nvSpPr>
          <p:cNvPr id="35" name="Shape 31"/>
          <p:cNvSpPr/>
          <p:nvPr/>
        </p:nvSpPr>
        <p:spPr>
          <a:xfrm>
            <a:off x="6495898" y="2305202"/>
            <a:ext cx="4914900" cy="390449"/>
          </a:xfrm>
          <a:prstGeom prst="roundRect">
            <a:avLst>
              <a:gd name="adj" fmla="val 9139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6" name="Shape 32"/>
          <p:cNvSpPr/>
          <p:nvPr/>
        </p:nvSpPr>
        <p:spPr>
          <a:xfrm>
            <a:off x="6495898" y="2305202"/>
            <a:ext cx="38405" cy="390449"/>
          </a:xfrm>
          <a:prstGeom prst="roundRect">
            <a:avLst>
              <a:gd name="adj" fmla="val 929147"/>
            </a:avLst>
          </a:prstGeom>
          <a:solidFill>
            <a:srgbClr val="FFC107"/>
          </a:solidFill>
          <a:ln w="12700">
            <a:solidFill>
              <a:srgbClr val="FFC10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7" name="Shape 33"/>
          <p:cNvSpPr/>
          <p:nvPr/>
        </p:nvSpPr>
        <p:spPr>
          <a:xfrm>
            <a:off x="6629400" y="2447849"/>
            <a:ext cx="75895" cy="75895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8" name="Text 34"/>
          <p:cNvSpPr txBox="1"/>
          <p:nvPr/>
        </p:nvSpPr>
        <p:spPr>
          <a:xfrm>
            <a:off x="6819595" y="2400300"/>
            <a:ext cx="216529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Regiones:</a:t>
            </a:r>
            <a:r>
              <a:rPr lang="en-US" sz="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us-east-1</a:t>
            </a:r>
            <a:r>
              <a:rPr lang="en-US" sz="9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 </a:t>
            </a:r>
            <a:r>
              <a:rPr lang="en-US" sz="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us-west-2</a:t>
            </a:r>
            <a:endParaRPr lang="en-US" sz="900" dirty="0"/>
          </a:p>
        </p:txBody>
      </p:sp>
      <p:sp>
        <p:nvSpPr>
          <p:cNvPr id="39" name="Shape 35"/>
          <p:cNvSpPr/>
          <p:nvPr/>
        </p:nvSpPr>
        <p:spPr>
          <a:xfrm>
            <a:off x="6495898" y="2784348"/>
            <a:ext cx="4914900" cy="352044"/>
          </a:xfrm>
          <a:prstGeom prst="roundRect">
            <a:avLst>
              <a:gd name="adj" fmla="val 112320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0" name="Shape 36"/>
          <p:cNvSpPr/>
          <p:nvPr/>
        </p:nvSpPr>
        <p:spPr>
          <a:xfrm>
            <a:off x="6495898" y="2784348"/>
            <a:ext cx="38405" cy="352044"/>
          </a:xfrm>
          <a:prstGeom prst="roundRect">
            <a:avLst>
              <a:gd name="adj" fmla="val 1029596"/>
            </a:avLst>
          </a:prstGeom>
          <a:solidFill>
            <a:srgbClr val="FFC107"/>
          </a:solidFill>
          <a:ln w="12700">
            <a:solidFill>
              <a:srgbClr val="FFC10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1" name="Shape 37"/>
          <p:cNvSpPr/>
          <p:nvPr/>
        </p:nvSpPr>
        <p:spPr>
          <a:xfrm>
            <a:off x="6629400" y="2926994"/>
            <a:ext cx="75895" cy="75895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2" name="Text 38"/>
          <p:cNvSpPr txBox="1"/>
          <p:nvPr/>
        </p:nvSpPr>
        <p:spPr>
          <a:xfrm>
            <a:off x="6819595" y="2879446"/>
            <a:ext cx="46104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Presupuesto:</a:t>
            </a:r>
            <a:r>
              <a:rPr lang="en-US" sz="9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Instancias t2/t3.micro/small, apagar recursos innecesarios </a:t>
            </a:r>
            <a:endParaRPr lang="en-US" sz="900" dirty="0"/>
          </a:p>
        </p:txBody>
      </p:sp>
      <p:sp>
        <p:nvSpPr>
          <p:cNvPr id="43" name="Shape 39"/>
          <p:cNvSpPr/>
          <p:nvPr/>
        </p:nvSpPr>
        <p:spPr>
          <a:xfrm>
            <a:off x="6495898" y="3230575"/>
            <a:ext cx="4914900" cy="390449"/>
          </a:xfrm>
          <a:prstGeom prst="roundRect">
            <a:avLst>
              <a:gd name="adj" fmla="val 9139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4" name="Shape 40"/>
          <p:cNvSpPr/>
          <p:nvPr/>
        </p:nvSpPr>
        <p:spPr>
          <a:xfrm>
            <a:off x="6495898" y="3230575"/>
            <a:ext cx="38405" cy="390449"/>
          </a:xfrm>
          <a:prstGeom prst="roundRect">
            <a:avLst>
              <a:gd name="adj" fmla="val 929147"/>
            </a:avLst>
          </a:prstGeom>
          <a:solidFill>
            <a:srgbClr val="FFC107"/>
          </a:solidFill>
          <a:ln w="12700">
            <a:solidFill>
              <a:srgbClr val="FFC10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5" name="Shape 41"/>
          <p:cNvSpPr/>
          <p:nvPr/>
        </p:nvSpPr>
        <p:spPr>
          <a:xfrm>
            <a:off x="6629400" y="3374136"/>
            <a:ext cx="75895" cy="75895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6" name="Text 42"/>
          <p:cNvSpPr txBox="1"/>
          <p:nvPr/>
        </p:nvSpPr>
        <p:spPr>
          <a:xfrm>
            <a:off x="6819595" y="3326587"/>
            <a:ext cx="290230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Permisos:</a:t>
            </a:r>
            <a:r>
              <a:rPr lang="en-US" sz="9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Usar </a:t>
            </a:r>
            <a:r>
              <a:rPr lang="en-US" sz="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LabRole</a:t>
            </a:r>
            <a:r>
              <a:rPr lang="en-US" sz="9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</a:t>
            </a:r>
            <a:r>
              <a:rPr lang="en-US" sz="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LabInstanceProfile</a:t>
            </a:r>
            <a:endParaRPr lang="en-US" sz="900" dirty="0"/>
          </a:p>
        </p:txBody>
      </p:sp>
      <p:sp>
        <p:nvSpPr>
          <p:cNvPr id="47" name="Shape 43"/>
          <p:cNvSpPr/>
          <p:nvPr/>
        </p:nvSpPr>
        <p:spPr>
          <a:xfrm>
            <a:off x="6495898" y="3709721"/>
            <a:ext cx="4914900" cy="352044"/>
          </a:xfrm>
          <a:prstGeom prst="roundRect">
            <a:avLst>
              <a:gd name="adj" fmla="val 112320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8" name="Shape 44"/>
          <p:cNvSpPr/>
          <p:nvPr/>
        </p:nvSpPr>
        <p:spPr>
          <a:xfrm>
            <a:off x="6495898" y="3709721"/>
            <a:ext cx="38405" cy="352044"/>
          </a:xfrm>
          <a:prstGeom prst="roundRect">
            <a:avLst>
              <a:gd name="adj" fmla="val 1029596"/>
            </a:avLst>
          </a:prstGeom>
          <a:solidFill>
            <a:srgbClr val="FFC107"/>
          </a:solidFill>
          <a:ln w="12700">
            <a:solidFill>
              <a:srgbClr val="FFC10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9" name="Shape 45"/>
          <p:cNvSpPr/>
          <p:nvPr/>
        </p:nvSpPr>
        <p:spPr>
          <a:xfrm>
            <a:off x="6629400" y="3853282"/>
            <a:ext cx="75895" cy="75895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0" name="Text 46"/>
          <p:cNvSpPr txBox="1"/>
          <p:nvPr/>
        </p:nvSpPr>
        <p:spPr>
          <a:xfrm>
            <a:off x="6819595" y="3804818"/>
            <a:ext cx="49057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Límites:</a:t>
            </a:r>
            <a:r>
              <a:rPr lang="en-US" sz="9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Máximo 9 instancias EC2 simultáneas, Lambda max 10 concurrencias </a:t>
            </a:r>
            <a:endParaRPr lang="en-US" sz="900" dirty="0"/>
          </a:p>
        </p:txBody>
      </p:sp>
      <p:sp>
        <p:nvSpPr>
          <p:cNvPr id="51" name="Shape 47"/>
          <p:cNvSpPr/>
          <p:nvPr/>
        </p:nvSpPr>
        <p:spPr>
          <a:xfrm>
            <a:off x="6495898" y="4156862"/>
            <a:ext cx="4914900" cy="352044"/>
          </a:xfrm>
          <a:prstGeom prst="roundRect">
            <a:avLst>
              <a:gd name="adj" fmla="val 112320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2" name="Shape 48"/>
          <p:cNvSpPr/>
          <p:nvPr/>
        </p:nvSpPr>
        <p:spPr>
          <a:xfrm>
            <a:off x="6495898" y="4156862"/>
            <a:ext cx="38405" cy="352044"/>
          </a:xfrm>
          <a:prstGeom prst="roundRect">
            <a:avLst>
              <a:gd name="adj" fmla="val 1029596"/>
            </a:avLst>
          </a:prstGeom>
          <a:solidFill>
            <a:srgbClr val="FFC107"/>
          </a:solidFill>
          <a:ln w="12700">
            <a:solidFill>
              <a:srgbClr val="FFC10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3" name="Shape 49"/>
          <p:cNvSpPr/>
          <p:nvPr/>
        </p:nvSpPr>
        <p:spPr>
          <a:xfrm>
            <a:off x="6629400" y="4299509"/>
            <a:ext cx="75895" cy="75895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4" name="Text 50"/>
          <p:cNvSpPr txBox="1"/>
          <p:nvPr/>
        </p:nvSpPr>
        <p:spPr>
          <a:xfrm>
            <a:off x="6819595" y="4251960"/>
            <a:ext cx="337779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Conexión:</a:t>
            </a:r>
            <a:r>
              <a:rPr lang="en-US" sz="9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AWS Systems Manager (NO SSH directo) </a:t>
            </a:r>
            <a:endParaRPr lang="en-US" sz="900" dirty="0"/>
          </a:p>
        </p:txBody>
      </p:sp>
      <p:sp>
        <p:nvSpPr>
          <p:cNvPr id="55" name="Shape 51"/>
          <p:cNvSpPr/>
          <p:nvPr/>
        </p:nvSpPr>
        <p:spPr>
          <a:xfrm>
            <a:off x="6495898" y="4604004"/>
            <a:ext cx="4914900" cy="352044"/>
          </a:xfrm>
          <a:prstGeom prst="roundRect">
            <a:avLst>
              <a:gd name="adj" fmla="val 112320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6" name="Shape 52"/>
          <p:cNvSpPr/>
          <p:nvPr/>
        </p:nvSpPr>
        <p:spPr>
          <a:xfrm>
            <a:off x="6495898" y="4604004"/>
            <a:ext cx="38405" cy="352044"/>
          </a:xfrm>
          <a:prstGeom prst="roundRect">
            <a:avLst>
              <a:gd name="adj" fmla="val 1029596"/>
            </a:avLst>
          </a:prstGeom>
          <a:solidFill>
            <a:srgbClr val="FFC107"/>
          </a:solidFill>
          <a:ln w="12700">
            <a:solidFill>
              <a:srgbClr val="FFC10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7" name="Shape 53"/>
          <p:cNvSpPr/>
          <p:nvPr/>
        </p:nvSpPr>
        <p:spPr>
          <a:xfrm>
            <a:off x="6629400" y="4746650"/>
            <a:ext cx="75895" cy="75895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8" name="Text 54"/>
          <p:cNvSpPr txBox="1"/>
          <p:nvPr/>
        </p:nvSpPr>
        <p:spPr>
          <a:xfrm>
            <a:off x="6819595" y="4699102"/>
            <a:ext cx="399227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Seguridad:</a:t>
            </a:r>
            <a:r>
              <a:rPr lang="en-US" sz="9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Security Groups restringidos, acceso basado en IP </a:t>
            </a:r>
            <a:endParaRPr lang="en-US" sz="900" dirty="0"/>
          </a:p>
        </p:txBody>
      </p:sp>
      <p:sp>
        <p:nvSpPr>
          <p:cNvPr id="59" name="Shape 55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60" name="Image 2" descr="preencoded.png"/>
          <p:cNvPicPr>
            <a:picLocks noChangeAspect="1"/>
          </p:cNvPicPr>
          <p:nvPr/>
        </p:nvPicPr>
        <p:blipFill>
          <a:blip r:embed="rId5"/>
          <a:srcRect t="-29348" b="-29348"/>
          <a:stretch/>
        </p:blipFill>
        <p:spPr>
          <a:xfrm>
            <a:off x="571500" y="6505956"/>
            <a:ext cx="105156" cy="133502"/>
          </a:xfrm>
          <a:prstGeom prst="rect">
            <a:avLst/>
          </a:prstGeom>
        </p:spPr>
      </p:pic>
      <p:sp>
        <p:nvSpPr>
          <p:cNvPr id="61" name="Text 56"/>
          <p:cNvSpPr txBox="1"/>
          <p:nvPr/>
        </p:nvSpPr>
        <p:spPr>
          <a:xfrm>
            <a:off x="771754" y="6482182"/>
            <a:ext cx="298185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Equipo: </a:t>
            </a:r>
            <a:r>
              <a:rPr lang="en-US" sz="1000" b="1" dirty="0">
                <a:solidFill>
                  <a:srgbClr val="FFC10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Narciso, Caleb, Rodrigo, Natanael</a:t>
            </a:r>
            <a:endParaRPr lang="en-US" sz="1000" dirty="0"/>
          </a:p>
        </p:txBody>
      </p:sp>
      <p:sp>
        <p:nvSpPr>
          <p:cNvPr id="62" name="Text 57"/>
          <p:cNvSpPr txBox="1"/>
          <p:nvPr/>
        </p:nvSpPr>
        <p:spPr>
          <a:xfrm>
            <a:off x="10766146" y="6482182"/>
            <a:ext cx="8193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Mayo 2026</a:t>
            </a:r>
            <a:endParaRPr lang="en-US" sz="1000" dirty="0"/>
          </a:p>
        </p:txBody>
      </p:sp>
      <p:pic>
        <p:nvPicPr>
          <p:cNvPr id="63" name="Image 3" descr="preencoded.png"/>
          <p:cNvPicPr>
            <a:picLocks noChangeAspect="1"/>
          </p:cNvPicPr>
          <p:nvPr/>
        </p:nvPicPr>
        <p:blipFill>
          <a:blip r:embed="rId6"/>
          <a:srcRect t="-5544" b="-5544"/>
          <a:stretch/>
        </p:blipFill>
        <p:spPr>
          <a:xfrm>
            <a:off x="11515954" y="6505956"/>
            <a:ext cx="105156" cy="133502"/>
          </a:xfrm>
          <a:prstGeom prst="rect">
            <a:avLst/>
          </a:prstGeom>
        </p:spPr>
      </p:pic>
      <p:pic>
        <p:nvPicPr>
          <p:cNvPr id="64" name="Image 4" descr="preencoded.png"/>
          <p:cNvPicPr>
            <a:picLocks noChangeAspect="1"/>
          </p:cNvPicPr>
          <p:nvPr/>
        </p:nvPicPr>
        <p:blipFill>
          <a:blip r:embed="rId7"/>
          <a:srcRect l="-19" r="-19"/>
          <a:stretch/>
        </p:blipFill>
        <p:spPr>
          <a:xfrm>
            <a:off x="0" y="0"/>
            <a:ext cx="12191695" cy="761695"/>
          </a:xfrm>
          <a:prstGeom prst="rect">
            <a:avLst/>
          </a:prstGeom>
        </p:spPr>
      </p:pic>
      <p:sp>
        <p:nvSpPr>
          <p:cNvPr id="65" name="Shape 58"/>
          <p:cNvSpPr/>
          <p:nvPr/>
        </p:nvSpPr>
        <p:spPr>
          <a:xfrm>
            <a:off x="571500" y="142646"/>
            <a:ext cx="476402" cy="476402"/>
          </a:xfrm>
          <a:prstGeom prst="roundRect">
            <a:avLst>
              <a:gd name="adj" fmla="val 6142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6" name="Text 59"/>
          <p:cNvSpPr txBox="1"/>
          <p:nvPr/>
        </p:nvSpPr>
        <p:spPr>
          <a:xfrm>
            <a:off x="571500" y="142646"/>
            <a:ext cx="476402" cy="4764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</a:t>
            </a:r>
            <a:endParaRPr lang="en-US" sz="1800" dirty="0"/>
          </a:p>
        </p:txBody>
      </p:sp>
      <p:sp>
        <p:nvSpPr>
          <p:cNvPr id="67" name="Text 60"/>
          <p:cNvSpPr txBox="1"/>
          <p:nvPr/>
        </p:nvSpPr>
        <p:spPr>
          <a:xfrm>
            <a:off x="1190549" y="228600"/>
            <a:ext cx="52203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Caso de Análisis y Restricciones Learner Lab</a:t>
            </a:r>
            <a:endParaRPr lang="en-US" sz="1800" dirty="0"/>
          </a:p>
        </p:txBody>
      </p:sp>
      <p:pic>
        <p:nvPicPr>
          <p:cNvPr id="68" name="Image 5" descr="preencoded.png"/>
          <p:cNvPicPr>
            <a:picLocks noChangeAspect="1"/>
          </p:cNvPicPr>
          <p:nvPr/>
        </p:nvPicPr>
        <p:blipFill>
          <a:blip r:embed="rId8"/>
          <a:srcRect l="-279" r="-279"/>
          <a:stretch/>
        </p:blipFill>
        <p:spPr>
          <a:xfrm>
            <a:off x="10160813" y="228600"/>
            <a:ext cx="1466698" cy="304495"/>
          </a:xfrm>
          <a:prstGeom prst="rect">
            <a:avLst/>
          </a:prstGeom>
        </p:spPr>
      </p:pic>
      <p:sp>
        <p:nvSpPr>
          <p:cNvPr id="69" name="Text 61"/>
          <p:cNvSpPr/>
          <p:nvPr/>
        </p:nvSpPr>
        <p:spPr>
          <a:xfrm>
            <a:off x="10420502" y="228600"/>
            <a:ext cx="120792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us-east-1 | us-west-2 </a:t>
            </a:r>
            <a:endParaRPr lang="en-US" sz="900" dirty="0"/>
          </a:p>
        </p:txBody>
      </p:sp>
      <p:pic>
        <p:nvPicPr>
          <p:cNvPr id="70" name="Image 6" descr="preencoded.png"/>
          <p:cNvPicPr>
            <a:picLocks noChangeAspect="1"/>
          </p:cNvPicPr>
          <p:nvPr/>
        </p:nvPicPr>
        <p:blipFill>
          <a:blip r:embed="rId9"/>
          <a:srcRect t="-16489" b="-16489"/>
          <a:stretch/>
        </p:blipFill>
        <p:spPr>
          <a:xfrm>
            <a:off x="10303459" y="328270"/>
            <a:ext cx="85954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1143000"/>
            <a:ext cx="5333695" cy="4953305"/>
          </a:xfrm>
          <a:prstGeom prst="roundRect">
            <a:avLst>
              <a:gd name="adj" fmla="val 1065"/>
            </a:avLst>
          </a:prstGeom>
          <a:solidFill>
            <a:srgbClr val="FFFFFF"/>
          </a:solidFill>
          <a:ln w="25400">
            <a:solidFill>
              <a:srgbClr val="1B5E20"/>
            </a:solidFill>
            <a:prstDash val="solid"/>
          </a:ln>
          <a:effectLst>
            <a:outerShdw blurRad="1397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5" name="Shape 2"/>
          <p:cNvSpPr/>
          <p:nvPr/>
        </p:nvSpPr>
        <p:spPr>
          <a:xfrm>
            <a:off x="875995" y="2047342"/>
            <a:ext cx="4724705" cy="1920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Shape 3"/>
          <p:cNvSpPr/>
          <p:nvPr/>
        </p:nvSpPr>
        <p:spPr>
          <a:xfrm>
            <a:off x="875995" y="1447495"/>
            <a:ext cx="457200" cy="45720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t="-14689" b="-14689"/>
          <a:stretch/>
        </p:blipFill>
        <p:spPr>
          <a:xfrm>
            <a:off x="1024128" y="1571854"/>
            <a:ext cx="161849" cy="20939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76756" y="1509674"/>
            <a:ext cx="302666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Objetivos del Proyecto</a:t>
            </a:r>
            <a:endParaRPr lang="en-US" sz="1900" dirty="0"/>
          </a:p>
        </p:txBody>
      </p:sp>
      <p:sp>
        <p:nvSpPr>
          <p:cNvPr id="9" name="Shape 5"/>
          <p:cNvSpPr/>
          <p:nvPr/>
        </p:nvSpPr>
        <p:spPr>
          <a:xfrm>
            <a:off x="875995" y="2305202"/>
            <a:ext cx="4724705" cy="1076249"/>
          </a:xfrm>
          <a:prstGeom prst="roundRect">
            <a:avLst>
              <a:gd name="adj" fmla="val 12030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Shape 6"/>
          <p:cNvSpPr/>
          <p:nvPr/>
        </p:nvSpPr>
        <p:spPr>
          <a:xfrm>
            <a:off x="875995" y="2305202"/>
            <a:ext cx="38405" cy="1076249"/>
          </a:xfrm>
          <a:prstGeom prst="roundRect">
            <a:avLst>
              <a:gd name="adj" fmla="val 337124"/>
            </a:avLst>
          </a:prstGeom>
          <a:solidFill>
            <a:srgbClr val="1B5E20"/>
          </a:solidFill>
          <a:ln w="12700">
            <a:solidFill>
              <a:srgbClr val="1B5E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Shape 7"/>
          <p:cNvSpPr/>
          <p:nvPr/>
        </p:nvSpPr>
        <p:spPr>
          <a:xfrm>
            <a:off x="1067105" y="2476195"/>
            <a:ext cx="267005" cy="267005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 t="-13478" b="-13478"/>
          <a:stretch/>
        </p:blipFill>
        <p:spPr>
          <a:xfrm>
            <a:off x="1147572" y="2542946"/>
            <a:ext cx="105156" cy="13350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476756" y="2457907"/>
            <a:ext cx="3972154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Reducir lead time</a:t>
            </a:r>
            <a:r>
              <a:rPr lang="en-US" sz="13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cambios y tiempos de despliegue mediante automatización completa del pipeline CI/CD 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875995" y="3571646"/>
            <a:ext cx="4724705" cy="1076249"/>
          </a:xfrm>
          <a:prstGeom prst="roundRect">
            <a:avLst>
              <a:gd name="adj" fmla="val 12030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5" name="Shape 10"/>
          <p:cNvSpPr/>
          <p:nvPr/>
        </p:nvSpPr>
        <p:spPr>
          <a:xfrm>
            <a:off x="875995" y="3571646"/>
            <a:ext cx="38405" cy="1076249"/>
          </a:xfrm>
          <a:prstGeom prst="roundRect">
            <a:avLst>
              <a:gd name="adj" fmla="val 337124"/>
            </a:avLst>
          </a:prstGeom>
          <a:solidFill>
            <a:srgbClr val="1B5E20"/>
          </a:solidFill>
          <a:ln w="12700">
            <a:solidFill>
              <a:srgbClr val="1B5E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Shape 11"/>
          <p:cNvSpPr/>
          <p:nvPr/>
        </p:nvSpPr>
        <p:spPr>
          <a:xfrm>
            <a:off x="1067105" y="3743554"/>
            <a:ext cx="267005" cy="267005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rcRect t="-13478" b="-13478"/>
          <a:stretch/>
        </p:blipFill>
        <p:spPr>
          <a:xfrm>
            <a:off x="1147572" y="3810305"/>
            <a:ext cx="105156" cy="13350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476756" y="3724351"/>
            <a:ext cx="3972154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Incrementar estabilidad</a:t>
            </a:r>
            <a:r>
              <a:rPr lang="en-US" sz="13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confiabilidad en producción con monitoreo continuo y rollback automático 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875995" y="4839005"/>
            <a:ext cx="4724705" cy="819302"/>
          </a:xfrm>
          <a:prstGeom prst="roundRect">
            <a:avLst>
              <a:gd name="adj" fmla="val 20764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0" name="Shape 14"/>
          <p:cNvSpPr/>
          <p:nvPr/>
        </p:nvSpPr>
        <p:spPr>
          <a:xfrm>
            <a:off x="875995" y="4839005"/>
            <a:ext cx="38405" cy="819302"/>
          </a:xfrm>
          <a:prstGeom prst="roundRect">
            <a:avLst>
              <a:gd name="adj" fmla="val 442966"/>
            </a:avLst>
          </a:prstGeom>
          <a:solidFill>
            <a:srgbClr val="1B5E20"/>
          </a:solidFill>
          <a:ln w="12700">
            <a:solidFill>
              <a:srgbClr val="1B5E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Shape 15"/>
          <p:cNvSpPr/>
          <p:nvPr/>
        </p:nvSpPr>
        <p:spPr>
          <a:xfrm>
            <a:off x="1067105" y="5009998"/>
            <a:ext cx="267005" cy="267005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rcRect t="-5544" b="-5544"/>
          <a:stretch/>
        </p:blipFill>
        <p:spPr>
          <a:xfrm>
            <a:off x="1147572" y="5076749"/>
            <a:ext cx="105156" cy="133502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476756" y="4990795"/>
            <a:ext cx="3972154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Asegurar la infraestructura</a:t>
            </a:r>
            <a:r>
              <a:rPr lang="en-US" sz="13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con prácticas DevSecOps y escaneo de vulnerabilidades </a:t>
            </a:r>
            <a:endParaRPr lang="en-US" sz="1300" dirty="0"/>
          </a:p>
        </p:txBody>
      </p:sp>
      <p:sp>
        <p:nvSpPr>
          <p:cNvPr id="24" name="Text 17"/>
          <p:cNvSpPr txBox="1"/>
          <p:nvPr/>
        </p:nvSpPr>
        <p:spPr>
          <a:xfrm>
            <a:off x="875995" y="6133795"/>
            <a:ext cx="178033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Progreso del proyecto</a:t>
            </a:r>
            <a:endParaRPr lang="en-US" sz="1200" dirty="0"/>
          </a:p>
        </p:txBody>
      </p:sp>
      <p:sp>
        <p:nvSpPr>
          <p:cNvPr id="25" name="Text 18"/>
          <p:cNvSpPr txBox="1"/>
          <p:nvPr/>
        </p:nvSpPr>
        <p:spPr>
          <a:xfrm>
            <a:off x="5311750" y="6133795"/>
            <a:ext cx="2953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75%</a:t>
            </a:r>
            <a:endParaRPr lang="en-US" sz="1200" dirty="0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rcRect l="-83" r="-83"/>
          <a:stretch/>
        </p:blipFill>
        <p:spPr>
          <a:xfrm>
            <a:off x="875995" y="6409944"/>
            <a:ext cx="4724705" cy="95098"/>
          </a:xfrm>
          <a:prstGeom prst="rect">
            <a:avLst/>
          </a:prstGeom>
        </p:spPr>
      </p:pic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9"/>
          <a:srcRect l="-80" r="-80"/>
          <a:stretch/>
        </p:blipFill>
        <p:spPr>
          <a:xfrm>
            <a:off x="875995" y="6409944"/>
            <a:ext cx="3543300" cy="95098"/>
          </a:xfrm>
          <a:prstGeom prst="rect">
            <a:avLst/>
          </a:prstGeom>
        </p:spPr>
      </p:pic>
      <p:sp>
        <p:nvSpPr>
          <p:cNvPr id="28" name="Shape 19"/>
          <p:cNvSpPr/>
          <p:nvPr/>
        </p:nvSpPr>
        <p:spPr>
          <a:xfrm>
            <a:off x="6286500" y="1143000"/>
            <a:ext cx="5333695" cy="4953305"/>
          </a:xfrm>
          <a:prstGeom prst="roundRect">
            <a:avLst>
              <a:gd name="adj" fmla="val 1065"/>
            </a:avLst>
          </a:prstGeom>
          <a:solidFill>
            <a:srgbClr val="FFFFFF"/>
          </a:solidFill>
          <a:ln w="25400">
            <a:solidFill>
              <a:srgbClr val="FFC107"/>
            </a:solidFill>
            <a:prstDash val="solid"/>
          </a:ln>
          <a:effectLst>
            <a:outerShdw blurRad="1397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9" name="Shape 20"/>
          <p:cNvSpPr/>
          <p:nvPr/>
        </p:nvSpPr>
        <p:spPr>
          <a:xfrm>
            <a:off x="6590995" y="2047342"/>
            <a:ext cx="4724705" cy="1920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Shape 21"/>
          <p:cNvSpPr/>
          <p:nvPr/>
        </p:nvSpPr>
        <p:spPr>
          <a:xfrm>
            <a:off x="6590995" y="1447495"/>
            <a:ext cx="457200" cy="457200"/>
          </a:xfrm>
          <a:prstGeom prst="ellipse">
            <a:avLst/>
          </a:prstGeom>
          <a:solidFill>
            <a:srgbClr val="FFC10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10"/>
          <a:srcRect t="-14689" b="-14689"/>
          <a:stretch/>
        </p:blipFill>
        <p:spPr>
          <a:xfrm>
            <a:off x="6739128" y="1571854"/>
            <a:ext cx="161849" cy="209398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7191756" y="1509674"/>
            <a:ext cx="319674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Indicadores Clave (KPIs)</a:t>
            </a:r>
            <a:endParaRPr lang="en-US" sz="1900" dirty="0"/>
          </a:p>
        </p:txBody>
      </p:sp>
      <p:sp>
        <p:nvSpPr>
          <p:cNvPr id="33" name="Shape 23"/>
          <p:cNvSpPr/>
          <p:nvPr/>
        </p:nvSpPr>
        <p:spPr>
          <a:xfrm>
            <a:off x="6590995" y="2400300"/>
            <a:ext cx="2266798" cy="1352398"/>
          </a:xfrm>
          <a:prstGeom prst="roundRect">
            <a:avLst>
              <a:gd name="adj" fmla="val 7618"/>
            </a:avLst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4" name="Text 24"/>
          <p:cNvSpPr txBox="1"/>
          <p:nvPr/>
        </p:nvSpPr>
        <p:spPr>
          <a:xfrm>
            <a:off x="6791249" y="2600554"/>
            <a:ext cx="186720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 1 día</a:t>
            </a:r>
            <a:endParaRPr lang="en-US" sz="2100" dirty="0"/>
          </a:p>
        </p:txBody>
      </p:sp>
      <p:sp>
        <p:nvSpPr>
          <p:cNvPr id="35" name="Text 25"/>
          <p:cNvSpPr txBox="1"/>
          <p:nvPr/>
        </p:nvSpPr>
        <p:spPr>
          <a:xfrm>
            <a:off x="6791249" y="3029407"/>
            <a:ext cx="18672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 time de cambios</a:t>
            </a:r>
            <a:endParaRPr lang="en-US" sz="1000" dirty="0"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rcRect l="-35" r="-35"/>
          <a:stretch/>
        </p:blipFill>
        <p:spPr>
          <a:xfrm>
            <a:off x="7358177" y="3323844"/>
            <a:ext cx="733349" cy="22860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7586777" y="3323844"/>
            <a:ext cx="5056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En meta </a:t>
            </a:r>
            <a:endParaRPr lang="en-US" sz="900" dirty="0"/>
          </a:p>
        </p:txBody>
      </p:sp>
      <p:pic>
        <p:nvPicPr>
          <p:cNvPr id="38" name="Image 9" descr="preencoded.png"/>
          <p:cNvPicPr>
            <a:picLocks noChangeAspect="1"/>
          </p:cNvPicPr>
          <p:nvPr/>
        </p:nvPicPr>
        <p:blipFill>
          <a:blip r:embed="rId12"/>
          <a:srcRect t="-11170" b="-11170"/>
          <a:stretch/>
        </p:blipFill>
        <p:spPr>
          <a:xfrm>
            <a:off x="7453274" y="3386023"/>
            <a:ext cx="85954" cy="105156"/>
          </a:xfrm>
          <a:prstGeom prst="rect">
            <a:avLst/>
          </a:prstGeom>
        </p:spPr>
      </p:pic>
      <p:sp>
        <p:nvSpPr>
          <p:cNvPr id="39" name="Shape 27"/>
          <p:cNvSpPr/>
          <p:nvPr/>
        </p:nvSpPr>
        <p:spPr>
          <a:xfrm>
            <a:off x="9048902" y="2400300"/>
            <a:ext cx="2266798" cy="1352398"/>
          </a:xfrm>
          <a:prstGeom prst="roundRect">
            <a:avLst>
              <a:gd name="adj" fmla="val 7618"/>
            </a:avLst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0" name="Text 28"/>
          <p:cNvSpPr txBox="1"/>
          <p:nvPr/>
        </p:nvSpPr>
        <p:spPr>
          <a:xfrm>
            <a:off x="9249156" y="2600554"/>
            <a:ext cx="186720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Semanal</a:t>
            </a:r>
            <a:endParaRPr lang="en-US" sz="2100" dirty="0"/>
          </a:p>
        </p:txBody>
      </p:sp>
      <p:sp>
        <p:nvSpPr>
          <p:cNvPr id="41" name="Text 29"/>
          <p:cNvSpPr txBox="1"/>
          <p:nvPr/>
        </p:nvSpPr>
        <p:spPr>
          <a:xfrm>
            <a:off x="9144914" y="3029407"/>
            <a:ext cx="207568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Frecuencia de despliegues</a:t>
            </a:r>
            <a:endParaRPr lang="en-US" sz="1000" dirty="0"/>
          </a:p>
        </p:txBody>
      </p:sp>
      <p:pic>
        <p:nvPicPr>
          <p:cNvPr id="42" name="Image 10" descr="preencoded.png"/>
          <p:cNvPicPr>
            <a:picLocks noChangeAspect="1"/>
          </p:cNvPicPr>
          <p:nvPr/>
        </p:nvPicPr>
        <p:blipFill>
          <a:blip r:embed="rId11"/>
          <a:srcRect l="-35" r="-35"/>
          <a:stretch/>
        </p:blipFill>
        <p:spPr>
          <a:xfrm>
            <a:off x="9816084" y="3323844"/>
            <a:ext cx="733349" cy="228600"/>
          </a:xfrm>
          <a:prstGeom prst="rect">
            <a:avLst/>
          </a:prstGeom>
        </p:spPr>
      </p:pic>
      <p:sp>
        <p:nvSpPr>
          <p:cNvPr id="43" name="Text 30"/>
          <p:cNvSpPr/>
          <p:nvPr/>
        </p:nvSpPr>
        <p:spPr>
          <a:xfrm>
            <a:off x="10044684" y="3323844"/>
            <a:ext cx="5056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En meta </a:t>
            </a:r>
            <a:endParaRPr lang="en-US" sz="900" dirty="0"/>
          </a:p>
        </p:txBody>
      </p:sp>
      <p:pic>
        <p:nvPicPr>
          <p:cNvPr id="44" name="Image 11" descr="preencoded.png"/>
          <p:cNvPicPr>
            <a:picLocks noChangeAspect="1"/>
          </p:cNvPicPr>
          <p:nvPr/>
        </p:nvPicPr>
        <p:blipFill>
          <a:blip r:embed="rId12"/>
          <a:srcRect t="-11170" b="-11170"/>
          <a:stretch/>
        </p:blipFill>
        <p:spPr>
          <a:xfrm>
            <a:off x="9911182" y="3386023"/>
            <a:ext cx="85954" cy="105156"/>
          </a:xfrm>
          <a:prstGeom prst="rect">
            <a:avLst/>
          </a:prstGeom>
        </p:spPr>
      </p:pic>
      <p:sp>
        <p:nvSpPr>
          <p:cNvPr id="45" name="Shape 31"/>
          <p:cNvSpPr/>
          <p:nvPr/>
        </p:nvSpPr>
        <p:spPr>
          <a:xfrm>
            <a:off x="6590995" y="3943807"/>
            <a:ext cx="2266798" cy="1352398"/>
          </a:xfrm>
          <a:prstGeom prst="roundRect">
            <a:avLst>
              <a:gd name="adj" fmla="val 7618"/>
            </a:avLst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6" name="Text 32"/>
          <p:cNvSpPr txBox="1"/>
          <p:nvPr/>
        </p:nvSpPr>
        <p:spPr>
          <a:xfrm>
            <a:off x="6791249" y="4143146"/>
            <a:ext cx="186720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 5%</a:t>
            </a:r>
            <a:endParaRPr lang="en-US" sz="2100" dirty="0"/>
          </a:p>
        </p:txBody>
      </p:sp>
      <p:sp>
        <p:nvSpPr>
          <p:cNvPr id="47" name="Text 33"/>
          <p:cNvSpPr txBox="1"/>
          <p:nvPr/>
        </p:nvSpPr>
        <p:spPr>
          <a:xfrm>
            <a:off x="6791249" y="4572000"/>
            <a:ext cx="18672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Tasa de fallos</a:t>
            </a:r>
            <a:endParaRPr lang="en-US" sz="1000" dirty="0"/>
          </a:p>
        </p:txBody>
      </p:sp>
      <p:pic>
        <p:nvPicPr>
          <p:cNvPr id="48" name="Image 12" descr="preencoded.png"/>
          <p:cNvPicPr>
            <a:picLocks noChangeAspect="1"/>
          </p:cNvPicPr>
          <p:nvPr/>
        </p:nvPicPr>
        <p:blipFill>
          <a:blip r:embed="rId11"/>
          <a:srcRect l="-35" r="-35"/>
          <a:stretch/>
        </p:blipFill>
        <p:spPr>
          <a:xfrm>
            <a:off x="7358177" y="4867351"/>
            <a:ext cx="733349" cy="228600"/>
          </a:xfrm>
          <a:prstGeom prst="rect">
            <a:avLst/>
          </a:prstGeom>
        </p:spPr>
      </p:pic>
      <p:sp>
        <p:nvSpPr>
          <p:cNvPr id="49" name="Text 34"/>
          <p:cNvSpPr/>
          <p:nvPr/>
        </p:nvSpPr>
        <p:spPr>
          <a:xfrm>
            <a:off x="7586777" y="4867351"/>
            <a:ext cx="5056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En meta </a:t>
            </a:r>
            <a:endParaRPr lang="en-US" sz="900" dirty="0"/>
          </a:p>
        </p:txBody>
      </p:sp>
      <p:pic>
        <p:nvPicPr>
          <p:cNvPr id="50" name="Image 13" descr="preencoded.png"/>
          <p:cNvPicPr>
            <a:picLocks noChangeAspect="1"/>
          </p:cNvPicPr>
          <p:nvPr/>
        </p:nvPicPr>
        <p:blipFill>
          <a:blip r:embed="rId12"/>
          <a:srcRect t="-11170" b="-11170"/>
          <a:stretch/>
        </p:blipFill>
        <p:spPr>
          <a:xfrm>
            <a:off x="7453274" y="4929530"/>
            <a:ext cx="85954" cy="105156"/>
          </a:xfrm>
          <a:prstGeom prst="rect">
            <a:avLst/>
          </a:prstGeom>
        </p:spPr>
      </p:pic>
      <p:sp>
        <p:nvSpPr>
          <p:cNvPr id="51" name="Shape 35"/>
          <p:cNvSpPr/>
          <p:nvPr/>
        </p:nvSpPr>
        <p:spPr>
          <a:xfrm>
            <a:off x="9048902" y="3943807"/>
            <a:ext cx="2266798" cy="1352398"/>
          </a:xfrm>
          <a:prstGeom prst="roundRect">
            <a:avLst>
              <a:gd name="adj" fmla="val 7618"/>
            </a:avLst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2" name="Text 36"/>
          <p:cNvSpPr txBox="1"/>
          <p:nvPr/>
        </p:nvSpPr>
        <p:spPr>
          <a:xfrm>
            <a:off x="9249156" y="4143146"/>
            <a:ext cx="186720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 30 min</a:t>
            </a:r>
            <a:endParaRPr lang="en-US" sz="2100" dirty="0"/>
          </a:p>
        </p:txBody>
      </p:sp>
      <p:sp>
        <p:nvSpPr>
          <p:cNvPr id="53" name="Text 37"/>
          <p:cNvSpPr txBox="1"/>
          <p:nvPr/>
        </p:nvSpPr>
        <p:spPr>
          <a:xfrm>
            <a:off x="9249156" y="4572000"/>
            <a:ext cx="18672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MTTR recuperación</a:t>
            </a:r>
            <a:endParaRPr lang="en-US" sz="1000" dirty="0"/>
          </a:p>
        </p:txBody>
      </p:sp>
      <p:pic>
        <p:nvPicPr>
          <p:cNvPr id="54" name="Image 14" descr="preencoded.png"/>
          <p:cNvPicPr>
            <a:picLocks noChangeAspect="1"/>
          </p:cNvPicPr>
          <p:nvPr/>
        </p:nvPicPr>
        <p:blipFill>
          <a:blip r:embed="rId11"/>
          <a:srcRect l="-35" r="-35"/>
          <a:stretch/>
        </p:blipFill>
        <p:spPr>
          <a:xfrm>
            <a:off x="9816084" y="4867351"/>
            <a:ext cx="733349" cy="228600"/>
          </a:xfrm>
          <a:prstGeom prst="rect">
            <a:avLst/>
          </a:prstGeom>
        </p:spPr>
      </p:pic>
      <p:sp>
        <p:nvSpPr>
          <p:cNvPr id="55" name="Text 38"/>
          <p:cNvSpPr/>
          <p:nvPr/>
        </p:nvSpPr>
        <p:spPr>
          <a:xfrm>
            <a:off x="10044684" y="4867351"/>
            <a:ext cx="5056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En meta </a:t>
            </a:r>
            <a:endParaRPr lang="en-US" sz="900" dirty="0"/>
          </a:p>
        </p:txBody>
      </p:sp>
      <p:pic>
        <p:nvPicPr>
          <p:cNvPr id="56" name="Image 15" descr="preencoded.png"/>
          <p:cNvPicPr>
            <a:picLocks noChangeAspect="1"/>
          </p:cNvPicPr>
          <p:nvPr/>
        </p:nvPicPr>
        <p:blipFill>
          <a:blip r:embed="rId12"/>
          <a:srcRect t="-11170" b="-11170"/>
          <a:stretch/>
        </p:blipFill>
        <p:spPr>
          <a:xfrm>
            <a:off x="9911182" y="4929530"/>
            <a:ext cx="85954" cy="105156"/>
          </a:xfrm>
          <a:prstGeom prst="rect">
            <a:avLst/>
          </a:prstGeom>
        </p:spPr>
      </p:pic>
      <p:sp>
        <p:nvSpPr>
          <p:cNvPr id="57" name="Text 39"/>
          <p:cNvSpPr txBox="1"/>
          <p:nvPr/>
        </p:nvSpPr>
        <p:spPr>
          <a:xfrm>
            <a:off x="6590995" y="5581498"/>
            <a:ext cx="218815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Cobertura de pruebas: 70%</a:t>
            </a:r>
            <a:endParaRPr lang="en-US" sz="1200" dirty="0"/>
          </a:p>
        </p:txBody>
      </p:sp>
      <p:sp>
        <p:nvSpPr>
          <p:cNvPr id="58" name="Text 40"/>
          <p:cNvSpPr txBox="1"/>
          <p:nvPr/>
        </p:nvSpPr>
        <p:spPr>
          <a:xfrm>
            <a:off x="11026750" y="5581498"/>
            <a:ext cx="2953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70%</a:t>
            </a:r>
            <a:endParaRPr lang="en-US" sz="1200" dirty="0"/>
          </a:p>
        </p:txBody>
      </p:sp>
      <p:pic>
        <p:nvPicPr>
          <p:cNvPr id="59" name="Image 16" descr="preencoded.png"/>
          <p:cNvPicPr>
            <a:picLocks noChangeAspect="1"/>
          </p:cNvPicPr>
          <p:nvPr/>
        </p:nvPicPr>
        <p:blipFill>
          <a:blip r:embed="rId8"/>
          <a:srcRect l="-83" r="-83"/>
          <a:stretch/>
        </p:blipFill>
        <p:spPr>
          <a:xfrm>
            <a:off x="6590995" y="5857646"/>
            <a:ext cx="4724705" cy="95098"/>
          </a:xfrm>
          <a:prstGeom prst="rect">
            <a:avLst/>
          </a:prstGeom>
        </p:spPr>
      </p:pic>
      <p:pic>
        <p:nvPicPr>
          <p:cNvPr id="60" name="Image 17" descr="preencoded.png"/>
          <p:cNvPicPr>
            <a:picLocks noChangeAspect="1"/>
          </p:cNvPicPr>
          <p:nvPr/>
        </p:nvPicPr>
        <p:blipFill>
          <a:blip r:embed="rId13"/>
          <a:srcRect l="-86" r="-86"/>
          <a:stretch/>
        </p:blipFill>
        <p:spPr>
          <a:xfrm>
            <a:off x="6590995" y="5857646"/>
            <a:ext cx="3307385" cy="95098"/>
          </a:xfrm>
          <a:prstGeom prst="rect">
            <a:avLst/>
          </a:prstGeom>
        </p:spPr>
      </p:pic>
      <p:sp>
        <p:nvSpPr>
          <p:cNvPr id="61" name="Text 41"/>
          <p:cNvSpPr txBox="1"/>
          <p:nvPr/>
        </p:nvSpPr>
        <p:spPr>
          <a:xfrm>
            <a:off x="6590995" y="6143854"/>
            <a:ext cx="312907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Costo mensual: Dentro de presupuesto</a:t>
            </a:r>
            <a:endParaRPr lang="en-US" sz="1200" dirty="0"/>
          </a:p>
        </p:txBody>
      </p:sp>
      <p:sp>
        <p:nvSpPr>
          <p:cNvPr id="62" name="Text 42"/>
          <p:cNvSpPr txBox="1"/>
          <p:nvPr/>
        </p:nvSpPr>
        <p:spPr>
          <a:xfrm>
            <a:off x="11026750" y="6143854"/>
            <a:ext cx="2953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85%</a:t>
            </a:r>
            <a:endParaRPr lang="en-US" sz="1200" dirty="0"/>
          </a:p>
        </p:txBody>
      </p:sp>
      <p:pic>
        <p:nvPicPr>
          <p:cNvPr id="63" name="Image 18" descr="preencoded.png"/>
          <p:cNvPicPr>
            <a:picLocks noChangeAspect="1"/>
          </p:cNvPicPr>
          <p:nvPr/>
        </p:nvPicPr>
        <p:blipFill>
          <a:blip r:embed="rId8"/>
          <a:srcRect l="-83" r="-83"/>
          <a:stretch/>
        </p:blipFill>
        <p:spPr>
          <a:xfrm>
            <a:off x="6590995" y="6420002"/>
            <a:ext cx="4724705" cy="95098"/>
          </a:xfrm>
          <a:prstGeom prst="rect">
            <a:avLst/>
          </a:prstGeom>
        </p:spPr>
      </p:pic>
      <p:pic>
        <p:nvPicPr>
          <p:cNvPr id="64" name="Image 19" descr="preencoded.png"/>
          <p:cNvPicPr>
            <a:picLocks noChangeAspect="1"/>
          </p:cNvPicPr>
          <p:nvPr/>
        </p:nvPicPr>
        <p:blipFill>
          <a:blip r:embed="rId14"/>
          <a:srcRect l="-85" r="-85"/>
          <a:stretch/>
        </p:blipFill>
        <p:spPr>
          <a:xfrm>
            <a:off x="6590995" y="6420002"/>
            <a:ext cx="4016045" cy="95098"/>
          </a:xfrm>
          <a:prstGeom prst="rect">
            <a:avLst/>
          </a:prstGeom>
        </p:spPr>
      </p:pic>
      <p:sp>
        <p:nvSpPr>
          <p:cNvPr id="65" name="Shape 43"/>
          <p:cNvSpPr/>
          <p:nvPr/>
        </p:nvSpPr>
        <p:spPr>
          <a:xfrm>
            <a:off x="0" y="6381598"/>
            <a:ext cx="12191695" cy="476402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6" name="Text 44"/>
          <p:cNvSpPr txBox="1"/>
          <p:nvPr/>
        </p:nvSpPr>
        <p:spPr>
          <a:xfrm>
            <a:off x="712318" y="6529730"/>
            <a:ext cx="21717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Proyecto DevOps - Mayo 2026 </a:t>
            </a:r>
            <a:endParaRPr lang="en-US" sz="1000" dirty="0"/>
          </a:p>
        </p:txBody>
      </p:sp>
      <p:pic>
        <p:nvPicPr>
          <p:cNvPr id="67" name="Image 20" descr="preencoded.png"/>
          <p:cNvPicPr>
            <a:picLocks noChangeAspect="1"/>
          </p:cNvPicPr>
          <p:nvPr/>
        </p:nvPicPr>
        <p:blipFill>
          <a:blip r:embed="rId15"/>
          <a:srcRect t="-5544" b="-5544"/>
          <a:stretch/>
        </p:blipFill>
        <p:spPr>
          <a:xfrm>
            <a:off x="571500" y="6555334"/>
            <a:ext cx="105156" cy="133502"/>
          </a:xfrm>
          <a:prstGeom prst="rect">
            <a:avLst/>
          </a:prstGeom>
        </p:spPr>
      </p:pic>
      <p:sp>
        <p:nvSpPr>
          <p:cNvPr id="68" name="Text 45"/>
          <p:cNvSpPr txBox="1"/>
          <p:nvPr/>
        </p:nvSpPr>
        <p:spPr>
          <a:xfrm>
            <a:off x="10585094" y="6529730"/>
            <a:ext cx="151607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C10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</a:t>
            </a: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| Tecmilenio </a:t>
            </a:r>
            <a:endParaRPr lang="en-US" sz="1000" dirty="0"/>
          </a:p>
        </p:txBody>
      </p:sp>
      <p:pic>
        <p:nvPicPr>
          <p:cNvPr id="69" name="Image 21" descr="preencoded.png"/>
          <p:cNvPicPr>
            <a:picLocks noChangeAspect="1"/>
          </p:cNvPicPr>
          <p:nvPr/>
        </p:nvPicPr>
        <p:blipFill>
          <a:blip r:embed="rId16"/>
          <a:srcRect l="-19" r="-19"/>
          <a:stretch/>
        </p:blipFill>
        <p:spPr>
          <a:xfrm>
            <a:off x="0" y="0"/>
            <a:ext cx="12191695" cy="761695"/>
          </a:xfrm>
          <a:prstGeom prst="rect">
            <a:avLst/>
          </a:prstGeom>
        </p:spPr>
      </p:pic>
      <p:sp>
        <p:nvSpPr>
          <p:cNvPr id="70" name="Text 46"/>
          <p:cNvSpPr txBox="1"/>
          <p:nvPr/>
        </p:nvSpPr>
        <p:spPr>
          <a:xfrm>
            <a:off x="571500" y="267005"/>
            <a:ext cx="22329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Universidad Tecmilenio</a:t>
            </a:r>
            <a:endParaRPr lang="en-US" sz="1300" dirty="0"/>
          </a:p>
        </p:txBody>
      </p:sp>
      <p:sp>
        <p:nvSpPr>
          <p:cNvPr id="71" name="Text 47"/>
          <p:cNvSpPr txBox="1"/>
          <p:nvPr/>
        </p:nvSpPr>
        <p:spPr>
          <a:xfrm>
            <a:off x="4964278" y="176479"/>
            <a:ext cx="4200754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Objetivos y KPIs de Éxito</a:t>
            </a:r>
            <a:endParaRPr lang="en-US" sz="2400" dirty="0"/>
          </a:p>
        </p:txBody>
      </p:sp>
      <p:sp>
        <p:nvSpPr>
          <p:cNvPr id="72" name="Shape 48"/>
          <p:cNvSpPr/>
          <p:nvPr/>
        </p:nvSpPr>
        <p:spPr>
          <a:xfrm>
            <a:off x="11036808" y="213970"/>
            <a:ext cx="590702" cy="333756"/>
          </a:xfrm>
          <a:prstGeom prst="roundRect">
            <a:avLst>
              <a:gd name="adj" fmla="val 78278"/>
            </a:avLst>
          </a:prstGeom>
          <a:solidFill>
            <a:srgbClr val="FF99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3" name="Text 49"/>
          <p:cNvSpPr txBox="1"/>
          <p:nvPr/>
        </p:nvSpPr>
        <p:spPr>
          <a:xfrm>
            <a:off x="11036808" y="213970"/>
            <a:ext cx="590702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76200" rIns="139700" bIns="762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571500" y="1228954"/>
            <a:ext cx="11048695" cy="28346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 txBox="1"/>
          <p:nvPr/>
        </p:nvSpPr>
        <p:spPr>
          <a:xfrm>
            <a:off x="571500" y="381305"/>
            <a:ext cx="44430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Principios de DevOps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886054"/>
            <a:ext cx="454365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Marco CAMS: Cultura, Automatización, Medición, Sharing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l="30750" r="30750"/>
          <a:stretch/>
        </p:blipFill>
        <p:spPr>
          <a:xfrm>
            <a:off x="10185502" y="448056"/>
            <a:ext cx="571500" cy="5715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852099" y="448056"/>
            <a:ext cx="77175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Tecmilenio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71500" y="1543507"/>
            <a:ext cx="5381244" cy="4762195"/>
          </a:xfrm>
          <a:prstGeom prst="roundRect">
            <a:avLst>
              <a:gd name="adj" fmla="val 768"/>
            </a:avLst>
          </a:prstGeom>
          <a:solidFill>
            <a:srgbClr val="F8F9FA"/>
          </a:solidFill>
          <a:ln w="254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7"/>
          <p:cNvSpPr txBox="1"/>
          <p:nvPr/>
        </p:nvSpPr>
        <p:spPr>
          <a:xfrm>
            <a:off x="780898" y="2119579"/>
            <a:ext cx="496336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🎯 Marco CAMS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80898" y="2614270"/>
            <a:ext cx="2391156" cy="1561795"/>
          </a:xfrm>
          <a:prstGeom prst="roundRect">
            <a:avLst>
              <a:gd name="adj" fmla="val 5712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2" name="Shape 9"/>
          <p:cNvSpPr/>
          <p:nvPr/>
        </p:nvSpPr>
        <p:spPr>
          <a:xfrm>
            <a:off x="780898" y="2614270"/>
            <a:ext cx="38405" cy="1561795"/>
          </a:xfrm>
          <a:prstGeom prst="roundRect">
            <a:avLst>
              <a:gd name="adj" fmla="val 232287"/>
            </a:avLst>
          </a:prstGeom>
          <a:solidFill>
            <a:srgbClr val="1B5E20"/>
          </a:solidFill>
          <a:ln w="12700">
            <a:solidFill>
              <a:srgbClr val="1B5E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Shape 10"/>
          <p:cNvSpPr/>
          <p:nvPr/>
        </p:nvSpPr>
        <p:spPr>
          <a:xfrm>
            <a:off x="961949" y="2805379"/>
            <a:ext cx="267005" cy="267005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1"/>
          <p:cNvSpPr/>
          <p:nvPr/>
        </p:nvSpPr>
        <p:spPr>
          <a:xfrm>
            <a:off x="961949" y="2805379"/>
            <a:ext cx="267005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1304849" y="2838298"/>
            <a:ext cx="60076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Cultura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961949" y="3185770"/>
            <a:ext cx="2067458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Colaboración entre desarrollo y operaciones, eliminando silos y fomentando la responsabilidad compartida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357677" y="2614270"/>
            <a:ext cx="2391156" cy="1561795"/>
          </a:xfrm>
          <a:prstGeom prst="roundRect">
            <a:avLst>
              <a:gd name="adj" fmla="val 5712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8" name="Shape 15"/>
          <p:cNvSpPr/>
          <p:nvPr/>
        </p:nvSpPr>
        <p:spPr>
          <a:xfrm>
            <a:off x="3357677" y="2614270"/>
            <a:ext cx="38405" cy="1561795"/>
          </a:xfrm>
          <a:prstGeom prst="roundRect">
            <a:avLst>
              <a:gd name="adj" fmla="val 232287"/>
            </a:avLst>
          </a:prstGeom>
          <a:solidFill>
            <a:srgbClr val="1B5E20"/>
          </a:solidFill>
          <a:ln w="12700">
            <a:solidFill>
              <a:srgbClr val="1B5E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Shape 16"/>
          <p:cNvSpPr/>
          <p:nvPr/>
        </p:nvSpPr>
        <p:spPr>
          <a:xfrm>
            <a:off x="3538728" y="2805379"/>
            <a:ext cx="267005" cy="267005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7"/>
          <p:cNvSpPr/>
          <p:nvPr/>
        </p:nvSpPr>
        <p:spPr>
          <a:xfrm>
            <a:off x="3538728" y="2805379"/>
            <a:ext cx="267005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3881628" y="2838298"/>
            <a:ext cx="13039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Automatización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3538728" y="3185770"/>
            <a:ext cx="2067458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Eliminar tareas manuales repetitivas mediante scripts y herramientas CI/CD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780898" y="4367174"/>
            <a:ext cx="2391156" cy="1362456"/>
          </a:xfrm>
          <a:prstGeom prst="roundRect">
            <a:avLst>
              <a:gd name="adj" fmla="val 7509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4" name="Shape 21"/>
          <p:cNvSpPr/>
          <p:nvPr/>
        </p:nvSpPr>
        <p:spPr>
          <a:xfrm>
            <a:off x="780898" y="4367174"/>
            <a:ext cx="38405" cy="1362456"/>
          </a:xfrm>
          <a:prstGeom prst="roundRect">
            <a:avLst>
              <a:gd name="adj" fmla="val 266399"/>
            </a:avLst>
          </a:prstGeom>
          <a:solidFill>
            <a:srgbClr val="1B5E20"/>
          </a:solidFill>
          <a:ln w="12700">
            <a:solidFill>
              <a:srgbClr val="1B5E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Shape 22"/>
          <p:cNvSpPr/>
          <p:nvPr/>
        </p:nvSpPr>
        <p:spPr>
          <a:xfrm>
            <a:off x="961949" y="4557370"/>
            <a:ext cx="267005" cy="267005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Text 23"/>
          <p:cNvSpPr/>
          <p:nvPr/>
        </p:nvSpPr>
        <p:spPr>
          <a:xfrm>
            <a:off x="961949" y="4557370"/>
            <a:ext cx="267005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1304849" y="4591202"/>
            <a:ext cx="77083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Medición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961949" y="4938674"/>
            <a:ext cx="2067458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Métricas e indicadores de rendimiento para tomar decisiones basadas en datos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3357677" y="4367174"/>
            <a:ext cx="2391156" cy="1362456"/>
          </a:xfrm>
          <a:prstGeom prst="roundRect">
            <a:avLst>
              <a:gd name="adj" fmla="val 7509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0" name="Shape 27"/>
          <p:cNvSpPr/>
          <p:nvPr/>
        </p:nvSpPr>
        <p:spPr>
          <a:xfrm>
            <a:off x="3357677" y="4367174"/>
            <a:ext cx="38405" cy="1362456"/>
          </a:xfrm>
          <a:prstGeom prst="roundRect">
            <a:avLst>
              <a:gd name="adj" fmla="val 266399"/>
            </a:avLst>
          </a:prstGeom>
          <a:solidFill>
            <a:srgbClr val="1B5E20"/>
          </a:solidFill>
          <a:ln w="12700">
            <a:solidFill>
              <a:srgbClr val="1B5E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1" name="Shape 28"/>
          <p:cNvSpPr/>
          <p:nvPr/>
        </p:nvSpPr>
        <p:spPr>
          <a:xfrm>
            <a:off x="3538728" y="4557370"/>
            <a:ext cx="267005" cy="267005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2" name="Text 29"/>
          <p:cNvSpPr/>
          <p:nvPr/>
        </p:nvSpPr>
        <p:spPr>
          <a:xfrm>
            <a:off x="3538728" y="4557370"/>
            <a:ext cx="267005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3881628" y="4591202"/>
            <a:ext cx="63550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Sharing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3538728" y="4938674"/>
            <a:ext cx="2067458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Compartir conocimiento y mejores prácticas entre equipos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6238951" y="1591056"/>
            <a:ext cx="5381244" cy="1123798"/>
          </a:xfrm>
          <a:prstGeom prst="roundRect">
            <a:avLst>
              <a:gd name="adj" fmla="val 11033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6" name="Shape 33"/>
          <p:cNvSpPr/>
          <p:nvPr/>
        </p:nvSpPr>
        <p:spPr>
          <a:xfrm>
            <a:off x="6439205" y="1790395"/>
            <a:ext cx="228600" cy="228600"/>
          </a:xfrm>
          <a:prstGeom prst="roundRect">
            <a:avLst>
              <a:gd name="adj" fmla="val 133333"/>
            </a:avLst>
          </a:prstGeom>
          <a:solidFill>
            <a:srgbClr val="FFC10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7" name="Text 34"/>
          <p:cNvSpPr txBox="1"/>
          <p:nvPr/>
        </p:nvSpPr>
        <p:spPr>
          <a:xfrm>
            <a:off x="6439205" y="1790395"/>
            <a:ext cx="2286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900" dirty="0"/>
          </a:p>
        </p:txBody>
      </p:sp>
      <p:sp>
        <p:nvSpPr>
          <p:cNvPr id="38" name="Text 35"/>
          <p:cNvSpPr txBox="1"/>
          <p:nvPr/>
        </p:nvSpPr>
        <p:spPr>
          <a:xfrm>
            <a:off x="6782105" y="1805026"/>
            <a:ext cx="121340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Flujo Continuo</a:t>
            </a:r>
            <a:endParaRPr lang="en-US" sz="1200" dirty="0"/>
          </a:p>
        </p:txBody>
      </p:sp>
      <p:sp>
        <p:nvSpPr>
          <p:cNvPr id="39" name="Text 36"/>
          <p:cNvSpPr txBox="1"/>
          <p:nvPr/>
        </p:nvSpPr>
        <p:spPr>
          <a:xfrm>
            <a:off x="6439205" y="2115007"/>
            <a:ext cx="498165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→ Test → Deploy → Monitor. Ciclo de vida completo del software con integración continua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6238951" y="2905049"/>
            <a:ext cx="5381244" cy="1123798"/>
          </a:xfrm>
          <a:prstGeom prst="roundRect">
            <a:avLst>
              <a:gd name="adj" fmla="val 11033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1" name="Shape 38"/>
          <p:cNvSpPr/>
          <p:nvPr/>
        </p:nvSpPr>
        <p:spPr>
          <a:xfrm>
            <a:off x="6439205" y="3105302"/>
            <a:ext cx="228600" cy="228600"/>
          </a:xfrm>
          <a:prstGeom prst="roundRect">
            <a:avLst>
              <a:gd name="adj" fmla="val 133333"/>
            </a:avLst>
          </a:prstGeom>
          <a:solidFill>
            <a:srgbClr val="FFC10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2" name="Text 39"/>
          <p:cNvSpPr txBox="1"/>
          <p:nvPr/>
        </p:nvSpPr>
        <p:spPr>
          <a:xfrm>
            <a:off x="6439205" y="3105302"/>
            <a:ext cx="2286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</a:t>
            </a:r>
            <a:endParaRPr lang="en-US" sz="900" dirty="0"/>
          </a:p>
        </p:txBody>
      </p:sp>
      <p:sp>
        <p:nvSpPr>
          <p:cNvPr id="43" name="Text 40"/>
          <p:cNvSpPr txBox="1"/>
          <p:nvPr/>
        </p:nvSpPr>
        <p:spPr>
          <a:xfrm>
            <a:off x="6782105" y="3119018"/>
            <a:ext cx="141732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Feedback Rápido</a:t>
            </a:r>
            <a:endParaRPr lang="en-US" sz="1200" dirty="0"/>
          </a:p>
        </p:txBody>
      </p:sp>
      <p:sp>
        <p:nvSpPr>
          <p:cNvPr id="44" name="Text 41"/>
          <p:cNvSpPr txBox="1"/>
          <p:nvPr/>
        </p:nvSpPr>
        <p:spPr>
          <a:xfrm>
            <a:off x="6439205" y="3429000"/>
            <a:ext cx="498165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Alertas y dashboards en tiempo real para detectar y resolver problemas inmediatamente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6238951" y="4219956"/>
            <a:ext cx="5381244" cy="923544"/>
          </a:xfrm>
          <a:prstGeom prst="roundRect">
            <a:avLst>
              <a:gd name="adj" fmla="val 16332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6" name="Shape 43"/>
          <p:cNvSpPr/>
          <p:nvPr/>
        </p:nvSpPr>
        <p:spPr>
          <a:xfrm>
            <a:off x="6439205" y="4419295"/>
            <a:ext cx="228600" cy="228600"/>
          </a:xfrm>
          <a:prstGeom prst="roundRect">
            <a:avLst>
              <a:gd name="adj" fmla="val 133333"/>
            </a:avLst>
          </a:prstGeom>
          <a:solidFill>
            <a:srgbClr val="FFC10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7" name="Text 44"/>
          <p:cNvSpPr txBox="1"/>
          <p:nvPr/>
        </p:nvSpPr>
        <p:spPr>
          <a:xfrm>
            <a:off x="6439205" y="4419295"/>
            <a:ext cx="2286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📈</a:t>
            </a:r>
            <a:endParaRPr lang="en-US" sz="900" dirty="0"/>
          </a:p>
        </p:txBody>
      </p:sp>
      <p:sp>
        <p:nvSpPr>
          <p:cNvPr id="48" name="Text 45"/>
          <p:cNvSpPr txBox="1"/>
          <p:nvPr/>
        </p:nvSpPr>
        <p:spPr>
          <a:xfrm>
            <a:off x="6782105" y="4433926"/>
            <a:ext cx="17913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Aprendizaje Continuo</a:t>
            </a:r>
            <a:endParaRPr lang="en-US" sz="1200" dirty="0"/>
          </a:p>
        </p:txBody>
      </p:sp>
      <p:sp>
        <p:nvSpPr>
          <p:cNvPr id="49" name="Text 46"/>
          <p:cNvSpPr txBox="1"/>
          <p:nvPr/>
        </p:nvSpPr>
        <p:spPr>
          <a:xfrm>
            <a:off x="6439205" y="4743907"/>
            <a:ext cx="563544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Retrospectivas regulares y mejora continua del pipeline de desarrollo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6238951" y="5333695"/>
            <a:ext cx="5381244" cy="923544"/>
          </a:xfrm>
          <a:prstGeom prst="roundRect">
            <a:avLst>
              <a:gd name="adj" fmla="val 16332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1" name="Shape 48"/>
          <p:cNvSpPr/>
          <p:nvPr/>
        </p:nvSpPr>
        <p:spPr>
          <a:xfrm>
            <a:off x="6439205" y="5533949"/>
            <a:ext cx="228600" cy="228600"/>
          </a:xfrm>
          <a:prstGeom prst="roundRect">
            <a:avLst>
              <a:gd name="adj" fmla="val 133333"/>
            </a:avLst>
          </a:prstGeom>
          <a:solidFill>
            <a:srgbClr val="FFC10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2" name="Text 49"/>
          <p:cNvSpPr txBox="1"/>
          <p:nvPr/>
        </p:nvSpPr>
        <p:spPr>
          <a:xfrm>
            <a:off x="6439205" y="5533949"/>
            <a:ext cx="2286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🏗️</a:t>
            </a:r>
            <a:endParaRPr lang="en-US" sz="900" dirty="0"/>
          </a:p>
        </p:txBody>
      </p:sp>
      <p:sp>
        <p:nvSpPr>
          <p:cNvPr id="53" name="Text 50"/>
          <p:cNvSpPr txBox="1"/>
          <p:nvPr/>
        </p:nvSpPr>
        <p:spPr>
          <a:xfrm>
            <a:off x="6782105" y="5548579"/>
            <a:ext cx="238109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Infraestructura como Código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6439205" y="5857646"/>
            <a:ext cx="56674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IaC y compliance como código para garantizar consistencia y trazabilidad</a:t>
            </a:r>
            <a:endParaRPr lang="en-US" sz="1000" dirty="0"/>
          </a:p>
        </p:txBody>
      </p:sp>
      <p:sp>
        <p:nvSpPr>
          <p:cNvPr id="55" name="Shape 52"/>
          <p:cNvSpPr/>
          <p:nvPr/>
        </p:nvSpPr>
        <p:spPr>
          <a:xfrm>
            <a:off x="571500" y="6553505"/>
            <a:ext cx="75895" cy="75895"/>
          </a:xfrm>
          <a:prstGeom prst="ellipse">
            <a:avLst/>
          </a:prstGeom>
          <a:solidFill>
            <a:srgbClr val="4CAF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6" name="Text 53"/>
          <p:cNvSpPr txBox="1"/>
          <p:nvPr/>
        </p:nvSpPr>
        <p:spPr>
          <a:xfrm>
            <a:off x="743407" y="6515100"/>
            <a:ext cx="196138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DevOps en AWS - Proyecto 2026</a:t>
            </a:r>
            <a:endParaRPr lang="en-US" sz="900" dirty="0"/>
          </a:p>
        </p:txBody>
      </p:sp>
      <p:sp>
        <p:nvSpPr>
          <p:cNvPr id="57" name="Text 54"/>
          <p:cNvSpPr txBox="1"/>
          <p:nvPr/>
        </p:nvSpPr>
        <p:spPr>
          <a:xfrm>
            <a:off x="9529877" y="6515100"/>
            <a:ext cx="249448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Equipo: Narciso, Caleb, Rodrigo, Natanael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571500" y="1162202"/>
            <a:ext cx="11048695" cy="28346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 txBox="1"/>
          <p:nvPr/>
        </p:nvSpPr>
        <p:spPr>
          <a:xfrm>
            <a:off x="571500" y="381305"/>
            <a:ext cx="6943954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Automatización: Terraform, Ansible y CI/CD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838505"/>
            <a:ext cx="62581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Infraestructura como código y despliegue automatizado</a:t>
            </a:r>
            <a:endParaRPr lang="en-US" sz="10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l="30750" r="30750"/>
          <a:stretch/>
        </p:blipFill>
        <p:spPr>
          <a:xfrm>
            <a:off x="10280599" y="461772"/>
            <a:ext cx="476402" cy="47640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852099" y="461772"/>
            <a:ext cx="771754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Tecmilenio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71500" y="1429207"/>
            <a:ext cx="5381244" cy="1600200"/>
          </a:xfrm>
          <a:prstGeom prst="roundRect">
            <a:avLst>
              <a:gd name="adj" fmla="val 5442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0" name="Shape 7"/>
          <p:cNvSpPr/>
          <p:nvPr/>
        </p:nvSpPr>
        <p:spPr>
          <a:xfrm>
            <a:off x="809244" y="1666951"/>
            <a:ext cx="476402" cy="476402"/>
          </a:xfrm>
          <a:prstGeom prst="roundRect">
            <a:avLst>
              <a:gd name="adj" fmla="val 61420"/>
            </a:avLst>
          </a:prstGeom>
          <a:solidFill>
            <a:srgbClr val="5C4E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8"/>
          <p:cNvSpPr txBox="1"/>
          <p:nvPr/>
        </p:nvSpPr>
        <p:spPr>
          <a:xfrm>
            <a:off x="809244" y="1666951"/>
            <a:ext cx="476402" cy="4764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429207" y="1666951"/>
            <a:ext cx="42867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Terraform (IaC)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429207" y="1971446"/>
            <a:ext cx="42867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Define VPC, subredes, EC2 y S3 como código en YAML. Infrastructure as Code para gestión consistente de recursos AWS.</a:t>
            </a:r>
            <a:endParaRPr lang="en-US" sz="10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rcRect l="-206" r="-206"/>
          <a:stretch/>
        </p:blipFill>
        <p:spPr>
          <a:xfrm>
            <a:off x="1429207" y="2486254"/>
            <a:ext cx="4286707" cy="75895"/>
          </a:xfrm>
          <a:prstGeom prst="rect">
            <a:avLst/>
          </a:prstGeom>
        </p:spPr>
      </p:pic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rcRect l="-196" r="-196"/>
          <a:stretch/>
        </p:blipFill>
        <p:spPr>
          <a:xfrm>
            <a:off x="1429207" y="2486254"/>
            <a:ext cx="3642970" cy="7589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429207" y="2638044"/>
            <a:ext cx="42867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85% automatizado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571500" y="3314700"/>
            <a:ext cx="5381244" cy="1600200"/>
          </a:xfrm>
          <a:prstGeom prst="roundRect">
            <a:avLst>
              <a:gd name="adj" fmla="val 5442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8" name="Shape 13"/>
          <p:cNvSpPr/>
          <p:nvPr/>
        </p:nvSpPr>
        <p:spPr>
          <a:xfrm>
            <a:off x="809244" y="3552444"/>
            <a:ext cx="476402" cy="476402"/>
          </a:xfrm>
          <a:prstGeom prst="roundRect">
            <a:avLst>
              <a:gd name="adj" fmla="val 61420"/>
            </a:avLst>
          </a:prstGeom>
          <a:solidFill>
            <a:srgbClr val="EE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4"/>
          <p:cNvSpPr txBox="1"/>
          <p:nvPr/>
        </p:nvSpPr>
        <p:spPr>
          <a:xfrm>
            <a:off x="809244" y="3552444"/>
            <a:ext cx="476402" cy="4764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1429207" y="3552444"/>
            <a:ext cx="42867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Ansible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1429207" y="3857854"/>
            <a:ext cx="42867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Configuración y aprovisionamiento de paquetes y servicios. Automatización de tareas de administración de sistemas.</a:t>
            </a:r>
            <a:endParaRPr lang="en-US" sz="100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rcRect l="-206" r="-206"/>
          <a:stretch/>
        </p:blipFill>
        <p:spPr>
          <a:xfrm>
            <a:off x="1429207" y="4371746"/>
            <a:ext cx="4286707" cy="75895"/>
          </a:xfrm>
          <a:prstGeom prst="rect">
            <a:avLst/>
          </a:prstGeom>
        </p:spPr>
      </p:pic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6"/>
          <a:srcRect l="-206" r="-206"/>
          <a:stretch/>
        </p:blipFill>
        <p:spPr>
          <a:xfrm>
            <a:off x="1429207" y="4371746"/>
            <a:ext cx="3215030" cy="75895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429207" y="4524451"/>
            <a:ext cx="42867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75% configurado</a:t>
            </a:r>
            <a:endParaRPr lang="en-US" sz="900" dirty="0"/>
          </a:p>
        </p:txBody>
      </p:sp>
      <p:sp>
        <p:nvSpPr>
          <p:cNvPr id="25" name="Shape 18"/>
          <p:cNvSpPr/>
          <p:nvPr/>
        </p:nvSpPr>
        <p:spPr>
          <a:xfrm>
            <a:off x="571500" y="5201107"/>
            <a:ext cx="5381244" cy="1600200"/>
          </a:xfrm>
          <a:prstGeom prst="roundRect">
            <a:avLst>
              <a:gd name="adj" fmla="val 5442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6" name="Shape 19"/>
          <p:cNvSpPr/>
          <p:nvPr/>
        </p:nvSpPr>
        <p:spPr>
          <a:xfrm>
            <a:off x="809244" y="5438851"/>
            <a:ext cx="476402" cy="476402"/>
          </a:xfrm>
          <a:prstGeom prst="roundRect">
            <a:avLst>
              <a:gd name="adj" fmla="val 61420"/>
            </a:avLst>
          </a:prstGeom>
          <a:solidFill>
            <a:srgbClr val="FF6B3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Text 20"/>
          <p:cNvSpPr txBox="1"/>
          <p:nvPr/>
        </p:nvSpPr>
        <p:spPr>
          <a:xfrm>
            <a:off x="809244" y="5438851"/>
            <a:ext cx="476402" cy="4764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</a:t>
            </a:r>
            <a:endParaRPr lang="en-US" sz="1800" dirty="0"/>
          </a:p>
        </p:txBody>
      </p:sp>
      <p:sp>
        <p:nvSpPr>
          <p:cNvPr id="28" name="Text 21"/>
          <p:cNvSpPr txBox="1"/>
          <p:nvPr/>
        </p:nvSpPr>
        <p:spPr>
          <a:xfrm>
            <a:off x="1429207" y="5438851"/>
            <a:ext cx="42867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CI/CD Pipeline</a:t>
            </a:r>
            <a:endParaRPr lang="en-US" sz="1300" dirty="0"/>
          </a:p>
        </p:txBody>
      </p:sp>
      <p:sp>
        <p:nvSpPr>
          <p:cNvPr id="29" name="Text 22"/>
          <p:cNvSpPr txBox="1"/>
          <p:nvPr/>
        </p:nvSpPr>
        <p:spPr>
          <a:xfrm>
            <a:off x="1429207" y="5743346"/>
            <a:ext cx="42867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Ejecuta build, pruebas unitarias, análisis estático y despliegue automatizado en múltiples entornos.</a:t>
            </a:r>
            <a:endParaRPr lang="en-US" sz="1000" dirty="0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4"/>
          <a:srcRect l="-206" r="-206"/>
          <a:stretch/>
        </p:blipFill>
        <p:spPr>
          <a:xfrm>
            <a:off x="1429207" y="6258154"/>
            <a:ext cx="4286707" cy="75895"/>
          </a:xfrm>
          <a:prstGeom prst="rect">
            <a:avLst/>
          </a:prstGeom>
        </p:spPr>
      </p:pic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7"/>
          <a:srcRect l="-204" r="-204"/>
          <a:stretch/>
        </p:blipFill>
        <p:spPr>
          <a:xfrm>
            <a:off x="1429207" y="6258154"/>
            <a:ext cx="3857854" cy="75895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1429207" y="6409944"/>
            <a:ext cx="42867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90% integrado</a:t>
            </a:r>
            <a:endParaRPr lang="en-US" sz="900" dirty="0"/>
          </a:p>
        </p:txBody>
      </p:sp>
      <p:sp>
        <p:nvSpPr>
          <p:cNvPr id="33" name="Shape 24"/>
          <p:cNvSpPr/>
          <p:nvPr/>
        </p:nvSpPr>
        <p:spPr>
          <a:xfrm>
            <a:off x="6238951" y="1429207"/>
            <a:ext cx="5381244" cy="2542946"/>
          </a:xfrm>
          <a:prstGeom prst="roundRect">
            <a:avLst>
              <a:gd name="adj" fmla="val 2155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4" name="Shape 25"/>
          <p:cNvSpPr/>
          <p:nvPr/>
        </p:nvSpPr>
        <p:spPr>
          <a:xfrm>
            <a:off x="6238951" y="1429207"/>
            <a:ext cx="38405" cy="2542946"/>
          </a:xfrm>
          <a:prstGeom prst="roundRect">
            <a:avLst>
              <a:gd name="adj" fmla="val 142678"/>
            </a:avLst>
          </a:prstGeom>
          <a:solidFill>
            <a:srgbClr val="FFC107"/>
          </a:solidFill>
          <a:ln w="12700">
            <a:solidFill>
              <a:srgbClr val="FFC10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5" name="Shape 26"/>
          <p:cNvSpPr/>
          <p:nvPr/>
        </p:nvSpPr>
        <p:spPr>
          <a:xfrm>
            <a:off x="6562649" y="1737360"/>
            <a:ext cx="267005" cy="267005"/>
          </a:xfrm>
          <a:prstGeom prst="roundRect">
            <a:avLst>
              <a:gd name="adj" fmla="val 97847"/>
            </a:avLst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6" name="Text 27"/>
          <p:cNvSpPr txBox="1"/>
          <p:nvPr/>
        </p:nvSpPr>
        <p:spPr>
          <a:xfrm>
            <a:off x="6562649" y="1737360"/>
            <a:ext cx="267005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000" dirty="0"/>
          </a:p>
        </p:txBody>
      </p:sp>
      <p:sp>
        <p:nvSpPr>
          <p:cNvPr id="37" name="Text 28"/>
          <p:cNvSpPr txBox="1"/>
          <p:nvPr/>
        </p:nvSpPr>
        <p:spPr>
          <a:xfrm>
            <a:off x="6924751" y="1741932"/>
            <a:ext cx="166695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Beneficios Clave</a:t>
            </a:r>
            <a:endParaRPr lang="en-US" sz="1500" dirty="0"/>
          </a:p>
        </p:txBody>
      </p:sp>
      <p:sp>
        <p:nvSpPr>
          <p:cNvPr id="38" name="Text 29"/>
          <p:cNvSpPr txBox="1"/>
          <p:nvPr/>
        </p:nvSpPr>
        <p:spPr>
          <a:xfrm>
            <a:off x="6562649" y="2194560"/>
            <a:ext cx="54580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Menos tareas manuales - Reducción del 80% en configuración manual</a:t>
            </a:r>
            <a:endParaRPr lang="en-US" sz="1100" dirty="0"/>
          </a:p>
        </p:txBody>
      </p:sp>
      <p:sp>
        <p:nvSpPr>
          <p:cNvPr id="39" name="Text 30"/>
          <p:cNvSpPr txBox="1"/>
          <p:nvPr/>
        </p:nvSpPr>
        <p:spPr>
          <a:xfrm>
            <a:off x="6562649" y="2551176"/>
            <a:ext cx="54297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Reproducibilidad total - Entornos idénticos en cada despliegue</a:t>
            </a:r>
            <a:endParaRPr lang="en-US" sz="1100" dirty="0"/>
          </a:p>
        </p:txBody>
      </p:sp>
      <p:sp>
        <p:nvSpPr>
          <p:cNvPr id="40" name="Text 31"/>
          <p:cNvSpPr txBox="1"/>
          <p:nvPr/>
        </p:nvSpPr>
        <p:spPr>
          <a:xfrm>
            <a:off x="6562649" y="2906878"/>
            <a:ext cx="4772254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Trazabilidad completa - Registro de todos los cambios en la infraestructura</a:t>
            </a:r>
            <a:endParaRPr lang="en-US" sz="1100" dirty="0"/>
          </a:p>
        </p:txBody>
      </p:sp>
      <p:sp>
        <p:nvSpPr>
          <p:cNvPr id="41" name="Text 32"/>
          <p:cNvSpPr txBox="1"/>
          <p:nvPr/>
        </p:nvSpPr>
        <p:spPr>
          <a:xfrm>
            <a:off x="6562649" y="3450031"/>
            <a:ext cx="54297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Menor riesgo humano - Eliminación de errores por factor humano</a:t>
            </a:r>
            <a:endParaRPr lang="en-US" sz="1100" dirty="0"/>
          </a:p>
        </p:txBody>
      </p:sp>
      <p:sp>
        <p:nvSpPr>
          <p:cNvPr id="42" name="Shape 33"/>
          <p:cNvSpPr/>
          <p:nvPr/>
        </p:nvSpPr>
        <p:spPr>
          <a:xfrm>
            <a:off x="6238951" y="4257446"/>
            <a:ext cx="5381244" cy="2542946"/>
          </a:xfrm>
          <a:prstGeom prst="roundRect">
            <a:avLst>
              <a:gd name="adj" fmla="val 2155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3" name="Shape 34"/>
          <p:cNvSpPr/>
          <p:nvPr/>
        </p:nvSpPr>
        <p:spPr>
          <a:xfrm>
            <a:off x="6238951" y="4257446"/>
            <a:ext cx="38405" cy="2542946"/>
          </a:xfrm>
          <a:prstGeom prst="roundRect">
            <a:avLst>
              <a:gd name="adj" fmla="val 142678"/>
            </a:avLst>
          </a:prstGeom>
          <a:solidFill>
            <a:srgbClr val="FFC107"/>
          </a:solidFill>
          <a:ln w="12700">
            <a:solidFill>
              <a:srgbClr val="FFC10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4" name="Shape 35"/>
          <p:cNvSpPr/>
          <p:nvPr/>
        </p:nvSpPr>
        <p:spPr>
          <a:xfrm>
            <a:off x="6562649" y="4886554"/>
            <a:ext cx="267005" cy="267005"/>
          </a:xfrm>
          <a:prstGeom prst="roundRect">
            <a:avLst>
              <a:gd name="adj" fmla="val 97847"/>
            </a:avLst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5" name="Text 36"/>
          <p:cNvSpPr txBox="1"/>
          <p:nvPr/>
        </p:nvSpPr>
        <p:spPr>
          <a:xfrm>
            <a:off x="6562649" y="4886554"/>
            <a:ext cx="267005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</a:t>
            </a:r>
            <a:endParaRPr lang="en-US" sz="1000" dirty="0"/>
          </a:p>
        </p:txBody>
      </p:sp>
      <p:sp>
        <p:nvSpPr>
          <p:cNvPr id="46" name="Text 37"/>
          <p:cNvSpPr txBox="1"/>
          <p:nvPr/>
        </p:nvSpPr>
        <p:spPr>
          <a:xfrm>
            <a:off x="6924751" y="4891126"/>
            <a:ext cx="212049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Resultados Medibles</a:t>
            </a:r>
            <a:endParaRPr lang="en-US" sz="1500" dirty="0"/>
          </a:p>
        </p:txBody>
      </p:sp>
      <p:sp>
        <p:nvSpPr>
          <p:cNvPr id="47" name="Text 38"/>
          <p:cNvSpPr txBox="1"/>
          <p:nvPr/>
        </p:nvSpPr>
        <p:spPr>
          <a:xfrm>
            <a:off x="6790334" y="5533949"/>
            <a:ext cx="1305763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60%</a:t>
            </a:r>
            <a:endParaRPr lang="en-US" sz="2400" dirty="0"/>
          </a:p>
        </p:txBody>
      </p:sp>
      <p:sp>
        <p:nvSpPr>
          <p:cNvPr id="48" name="Text 39"/>
          <p:cNvSpPr txBox="1"/>
          <p:nvPr/>
        </p:nvSpPr>
        <p:spPr>
          <a:xfrm>
            <a:off x="6547104" y="5991149"/>
            <a:ext cx="17913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Reducción en tiempos</a:t>
            </a:r>
            <a:endParaRPr lang="en-US" sz="1000" dirty="0"/>
          </a:p>
        </p:txBody>
      </p:sp>
      <p:sp>
        <p:nvSpPr>
          <p:cNvPr id="49" name="Text 40"/>
          <p:cNvSpPr txBox="1"/>
          <p:nvPr/>
        </p:nvSpPr>
        <p:spPr>
          <a:xfrm>
            <a:off x="8546897" y="5533949"/>
            <a:ext cx="1448410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95%</a:t>
            </a:r>
            <a:endParaRPr lang="en-US" sz="2400" dirty="0"/>
          </a:p>
        </p:txBody>
      </p:sp>
      <p:sp>
        <p:nvSpPr>
          <p:cNvPr id="50" name="Text 41"/>
          <p:cNvSpPr txBox="1"/>
          <p:nvPr/>
        </p:nvSpPr>
        <p:spPr>
          <a:xfrm>
            <a:off x="8409737" y="5991149"/>
            <a:ext cx="172364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Precisión en despliegues</a:t>
            </a:r>
            <a:endParaRPr lang="en-US" sz="1000" dirty="0"/>
          </a:p>
        </p:txBody>
      </p:sp>
      <p:sp>
        <p:nvSpPr>
          <p:cNvPr id="51" name="Text 42"/>
          <p:cNvSpPr txBox="1"/>
          <p:nvPr/>
        </p:nvSpPr>
        <p:spPr>
          <a:xfrm>
            <a:off x="10445191" y="5533949"/>
            <a:ext cx="667512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3x</a:t>
            </a:r>
            <a:endParaRPr lang="en-US" sz="2400" dirty="0"/>
          </a:p>
        </p:txBody>
      </p:sp>
      <p:sp>
        <p:nvSpPr>
          <p:cNvPr id="52" name="Text 43"/>
          <p:cNvSpPr txBox="1"/>
          <p:nvPr/>
        </p:nvSpPr>
        <p:spPr>
          <a:xfrm>
            <a:off x="10328148" y="5991149"/>
            <a:ext cx="90068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Más rápido</a:t>
            </a:r>
            <a:endParaRPr lang="en-US" sz="1000" dirty="0"/>
          </a:p>
        </p:txBody>
      </p:sp>
      <p:sp>
        <p:nvSpPr>
          <p:cNvPr id="53" name="Shape 44"/>
          <p:cNvSpPr/>
          <p:nvPr/>
        </p:nvSpPr>
        <p:spPr>
          <a:xfrm>
            <a:off x="571500" y="6452921"/>
            <a:ext cx="75895" cy="75895"/>
          </a:xfrm>
          <a:prstGeom prst="ellipse">
            <a:avLst/>
          </a:prstGeom>
          <a:solidFill>
            <a:srgbClr val="4CAF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4" name="Text 45"/>
          <p:cNvSpPr txBox="1"/>
          <p:nvPr/>
        </p:nvSpPr>
        <p:spPr>
          <a:xfrm>
            <a:off x="743407" y="6409944"/>
            <a:ext cx="213146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DevOps en AWS - Proyecto 2026</a:t>
            </a:r>
            <a:endParaRPr lang="en-US" sz="900" dirty="0"/>
          </a:p>
        </p:txBody>
      </p:sp>
      <p:sp>
        <p:nvSpPr>
          <p:cNvPr id="55" name="Text 46"/>
          <p:cNvSpPr txBox="1"/>
          <p:nvPr/>
        </p:nvSpPr>
        <p:spPr>
          <a:xfrm>
            <a:off x="9355226" y="6409944"/>
            <a:ext cx="269839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Equipo: Narciso, Caleb, Rodrigo, Natanael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571500" y="1228954"/>
            <a:ext cx="11048695" cy="28346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 txBox="1"/>
          <p:nvPr/>
        </p:nvSpPr>
        <p:spPr>
          <a:xfrm>
            <a:off x="571500" y="381305"/>
            <a:ext cx="65690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Colaboración Dev+Ops con Agile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886054"/>
            <a:ext cx="60103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Integración entre desarrollo y operaciones mediante metodologías ágiles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l="30750" r="30750"/>
          <a:stretch/>
        </p:blipFill>
        <p:spPr>
          <a:xfrm>
            <a:off x="10185502" y="448056"/>
            <a:ext cx="571500" cy="5715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852099" y="448056"/>
            <a:ext cx="77175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Tecmilenio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71500" y="1495044"/>
            <a:ext cx="5381244" cy="4990795"/>
          </a:xfrm>
          <a:prstGeom prst="roundRect">
            <a:avLst>
              <a:gd name="adj" fmla="val 699"/>
            </a:avLst>
          </a:prstGeom>
          <a:solidFill>
            <a:srgbClr val="F8F9FA"/>
          </a:solidFill>
          <a:ln w="254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Shape 7"/>
          <p:cNvSpPr/>
          <p:nvPr/>
        </p:nvSpPr>
        <p:spPr>
          <a:xfrm>
            <a:off x="780898" y="1776679"/>
            <a:ext cx="267005" cy="267005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8"/>
          <p:cNvSpPr/>
          <p:nvPr/>
        </p:nvSpPr>
        <p:spPr>
          <a:xfrm>
            <a:off x="780898" y="1776679"/>
            <a:ext cx="267005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🎯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1143000" y="1781251"/>
            <a:ext cx="238109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Marco de Trabajo Agile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780898" y="2281428"/>
            <a:ext cx="2391156" cy="1285646"/>
          </a:xfrm>
          <a:prstGeom prst="roundRect">
            <a:avLst>
              <a:gd name="adj" fmla="val 8429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4" name="Shape 11"/>
          <p:cNvSpPr/>
          <p:nvPr/>
        </p:nvSpPr>
        <p:spPr>
          <a:xfrm>
            <a:off x="780898" y="2281428"/>
            <a:ext cx="38405" cy="1285646"/>
          </a:xfrm>
          <a:prstGeom prst="roundRect">
            <a:avLst>
              <a:gd name="adj" fmla="val 282185"/>
            </a:avLst>
          </a:prstGeom>
          <a:solidFill>
            <a:srgbClr val="1B5E20"/>
          </a:solidFill>
          <a:ln w="12700">
            <a:solidFill>
              <a:srgbClr val="1B5E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2"/>
          <p:cNvSpPr txBox="1"/>
          <p:nvPr/>
        </p:nvSpPr>
        <p:spPr>
          <a:xfrm>
            <a:off x="990295" y="2452421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📋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1281074" y="2471623"/>
            <a:ext cx="110185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Scrum/Kanban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990295" y="2795321"/>
            <a:ext cx="2009851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Ceremonias diarias y tableros visibles para seguimiento de tareas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357677" y="2281428"/>
            <a:ext cx="2391156" cy="1285646"/>
          </a:xfrm>
          <a:prstGeom prst="roundRect">
            <a:avLst>
              <a:gd name="adj" fmla="val 8429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9" name="Shape 16"/>
          <p:cNvSpPr/>
          <p:nvPr/>
        </p:nvSpPr>
        <p:spPr>
          <a:xfrm>
            <a:off x="3357677" y="2281428"/>
            <a:ext cx="38405" cy="1285646"/>
          </a:xfrm>
          <a:prstGeom prst="roundRect">
            <a:avLst>
              <a:gd name="adj" fmla="val 282185"/>
            </a:avLst>
          </a:prstGeom>
          <a:solidFill>
            <a:srgbClr val="1B5E20"/>
          </a:solidFill>
          <a:ln w="12700">
            <a:solidFill>
              <a:srgbClr val="1B5E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7"/>
          <p:cNvSpPr txBox="1"/>
          <p:nvPr/>
        </p:nvSpPr>
        <p:spPr>
          <a:xfrm>
            <a:off x="3567074" y="2452421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🔄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3856939" y="2471623"/>
            <a:ext cx="58978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GitFlow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3567074" y="2795321"/>
            <a:ext cx="200985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Ramas main, develop y feature branches con flujo controlado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780898" y="3757270"/>
            <a:ext cx="2391156" cy="1086307"/>
          </a:xfrm>
          <a:prstGeom prst="roundRect">
            <a:avLst>
              <a:gd name="adj" fmla="val 11814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4" name="Shape 21"/>
          <p:cNvSpPr/>
          <p:nvPr/>
        </p:nvSpPr>
        <p:spPr>
          <a:xfrm>
            <a:off x="780898" y="3757270"/>
            <a:ext cx="38405" cy="1086307"/>
          </a:xfrm>
          <a:prstGeom prst="roundRect">
            <a:avLst>
              <a:gd name="adj" fmla="val 334167"/>
            </a:avLst>
          </a:prstGeom>
          <a:solidFill>
            <a:srgbClr val="1B5E20"/>
          </a:solidFill>
          <a:ln w="12700">
            <a:solidFill>
              <a:srgbClr val="1B5E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Text 22"/>
          <p:cNvSpPr txBox="1"/>
          <p:nvPr/>
        </p:nvSpPr>
        <p:spPr>
          <a:xfrm>
            <a:off x="990295" y="3929177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👥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1281074" y="3948379"/>
            <a:ext cx="10323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Pull Requests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990295" y="4272077"/>
            <a:ext cx="200985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Revisión por pares obligatoria con checks automáticos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3357677" y="3757270"/>
            <a:ext cx="2391156" cy="1086307"/>
          </a:xfrm>
          <a:prstGeom prst="roundRect">
            <a:avLst>
              <a:gd name="adj" fmla="val 11814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9" name="Shape 26"/>
          <p:cNvSpPr/>
          <p:nvPr/>
        </p:nvSpPr>
        <p:spPr>
          <a:xfrm>
            <a:off x="3357677" y="3757270"/>
            <a:ext cx="38405" cy="1086307"/>
          </a:xfrm>
          <a:prstGeom prst="roundRect">
            <a:avLst>
              <a:gd name="adj" fmla="val 334167"/>
            </a:avLst>
          </a:prstGeom>
          <a:solidFill>
            <a:srgbClr val="1B5E20"/>
          </a:solidFill>
          <a:ln w="12700">
            <a:solidFill>
              <a:srgbClr val="1B5E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Text 27"/>
          <p:cNvSpPr txBox="1"/>
          <p:nvPr/>
        </p:nvSpPr>
        <p:spPr>
          <a:xfrm>
            <a:off x="3567074" y="3929177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3856939" y="3948379"/>
            <a:ext cx="2953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DoD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3567074" y="4272077"/>
            <a:ext cx="200985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Definición de Listo con pruebas y seguridad incluidas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780898" y="5176418"/>
            <a:ext cx="4962449" cy="1028700"/>
          </a:xfrm>
          <a:prstGeom prst="roundRect">
            <a:avLst>
              <a:gd name="adj" fmla="val 13169"/>
            </a:avLst>
          </a:prstGeom>
          <a:solidFill>
            <a:srgbClr val="F0F7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4" name="Text 31"/>
          <p:cNvSpPr txBox="1"/>
          <p:nvPr/>
        </p:nvSpPr>
        <p:spPr>
          <a:xfrm>
            <a:off x="972007" y="5367528"/>
            <a:ext cx="458205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Flujo de Trabajo DevOps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972007" y="5643677"/>
            <a:ext cx="857707" cy="371246"/>
          </a:xfrm>
          <a:prstGeom prst="roundRect">
            <a:avLst>
              <a:gd name="adj" fmla="val 75786"/>
            </a:avLst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6" name="Text 33"/>
          <p:cNvSpPr txBox="1"/>
          <p:nvPr/>
        </p:nvSpPr>
        <p:spPr>
          <a:xfrm>
            <a:off x="972007" y="5643677"/>
            <a:ext cx="857707" cy="3721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01600" rIns="152400" bIns="1016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</a:t>
            </a:r>
            <a:endParaRPr lang="en-US" sz="1000" dirty="0"/>
          </a:p>
        </p:txBody>
      </p:sp>
      <p:sp>
        <p:nvSpPr>
          <p:cNvPr id="37" name="Text 34"/>
          <p:cNvSpPr txBox="1"/>
          <p:nvPr/>
        </p:nvSpPr>
        <p:spPr>
          <a:xfrm>
            <a:off x="1936699" y="5700370"/>
            <a:ext cx="1719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500" dirty="0"/>
          </a:p>
        </p:txBody>
      </p:sp>
      <p:sp>
        <p:nvSpPr>
          <p:cNvPr id="38" name="Shape 35"/>
          <p:cNvSpPr/>
          <p:nvPr/>
        </p:nvSpPr>
        <p:spPr>
          <a:xfrm>
            <a:off x="2215591" y="5643677"/>
            <a:ext cx="857707" cy="371246"/>
          </a:xfrm>
          <a:prstGeom prst="roundRect">
            <a:avLst>
              <a:gd name="adj" fmla="val 75786"/>
            </a:avLst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9" name="Text 36"/>
          <p:cNvSpPr txBox="1"/>
          <p:nvPr/>
        </p:nvSpPr>
        <p:spPr>
          <a:xfrm>
            <a:off x="2215591" y="5643677"/>
            <a:ext cx="857707" cy="3721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01600" rIns="152400" bIns="1016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</a:t>
            </a:r>
            <a:endParaRPr lang="en-US" sz="1000" dirty="0"/>
          </a:p>
        </p:txBody>
      </p:sp>
      <p:sp>
        <p:nvSpPr>
          <p:cNvPr id="40" name="Text 37"/>
          <p:cNvSpPr txBox="1"/>
          <p:nvPr/>
        </p:nvSpPr>
        <p:spPr>
          <a:xfrm>
            <a:off x="3180283" y="5700370"/>
            <a:ext cx="1719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500" dirty="0"/>
          </a:p>
        </p:txBody>
      </p:sp>
      <p:sp>
        <p:nvSpPr>
          <p:cNvPr id="41" name="Shape 38"/>
          <p:cNvSpPr/>
          <p:nvPr/>
        </p:nvSpPr>
        <p:spPr>
          <a:xfrm>
            <a:off x="3459175" y="5643677"/>
            <a:ext cx="857707" cy="371246"/>
          </a:xfrm>
          <a:prstGeom prst="roundRect">
            <a:avLst>
              <a:gd name="adj" fmla="val 75786"/>
            </a:avLst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2" name="Text 39"/>
          <p:cNvSpPr txBox="1"/>
          <p:nvPr/>
        </p:nvSpPr>
        <p:spPr>
          <a:xfrm>
            <a:off x="3459175" y="5643677"/>
            <a:ext cx="857707" cy="3721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01600" rIns="152400" bIns="1016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</a:t>
            </a:r>
            <a:endParaRPr lang="en-US" sz="1000" dirty="0"/>
          </a:p>
        </p:txBody>
      </p:sp>
      <p:sp>
        <p:nvSpPr>
          <p:cNvPr id="43" name="Text 40"/>
          <p:cNvSpPr txBox="1"/>
          <p:nvPr/>
        </p:nvSpPr>
        <p:spPr>
          <a:xfrm>
            <a:off x="4423867" y="5700370"/>
            <a:ext cx="1719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500" dirty="0"/>
          </a:p>
        </p:txBody>
      </p:sp>
      <p:sp>
        <p:nvSpPr>
          <p:cNvPr id="44" name="Shape 41"/>
          <p:cNvSpPr/>
          <p:nvPr/>
        </p:nvSpPr>
        <p:spPr>
          <a:xfrm>
            <a:off x="4702759" y="5643677"/>
            <a:ext cx="857707" cy="371246"/>
          </a:xfrm>
          <a:prstGeom prst="roundRect">
            <a:avLst>
              <a:gd name="adj" fmla="val 75786"/>
            </a:avLst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5" name="Text 42"/>
          <p:cNvSpPr txBox="1"/>
          <p:nvPr/>
        </p:nvSpPr>
        <p:spPr>
          <a:xfrm>
            <a:off x="4702759" y="5643677"/>
            <a:ext cx="857707" cy="3721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101600" rIns="152400" bIns="1016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6238951" y="1495044"/>
            <a:ext cx="5381244" cy="1505102"/>
          </a:xfrm>
          <a:prstGeom prst="roundRect">
            <a:avLst>
              <a:gd name="adj" fmla="val 6152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7" name="Shape 44"/>
          <p:cNvSpPr/>
          <p:nvPr/>
        </p:nvSpPr>
        <p:spPr>
          <a:xfrm>
            <a:off x="6486754" y="1714500"/>
            <a:ext cx="267005" cy="267005"/>
          </a:xfrm>
          <a:prstGeom prst="roundRect">
            <a:avLst>
              <a:gd name="adj" fmla="val 97847"/>
            </a:avLst>
          </a:prstGeom>
          <a:solidFill>
            <a:srgbClr val="FFC10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8" name="Text 45"/>
          <p:cNvSpPr txBox="1"/>
          <p:nvPr/>
        </p:nvSpPr>
        <p:spPr>
          <a:xfrm>
            <a:off x="6486754" y="1714500"/>
            <a:ext cx="267005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🌿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6867144" y="1733702"/>
            <a:ext cx="19046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GitFlow Simplificado</a:t>
            </a:r>
            <a:endParaRPr lang="en-US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86754" y="2095805"/>
            <a:ext cx="48865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main:</a:t>
            </a:r>
            <a:r>
              <a:rPr lang="en-US" sz="11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Código de producción estable</a:t>
            </a:r>
            <a:endParaRPr lang="en-US" sz="1100" dirty="0"/>
          </a:p>
          <a:p>
            <a:pPr marL="0" indent="0" algn="l">
              <a:buNone/>
            </a:pPr>
            <a:r>
              <a:rPr lang="en-US" sz="1100" b="1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develop:</a:t>
            </a:r>
            <a:r>
              <a:rPr lang="en-US" sz="11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Integración continua de features</a:t>
            </a:r>
            <a:endParaRPr lang="en-US" sz="1100" dirty="0"/>
          </a:p>
          <a:p>
            <a:pPr marL="0" indent="0" algn="l">
              <a:buNone/>
            </a:pPr>
            <a:r>
              <a:rPr lang="en-US" sz="1100" b="1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feature/*:</a:t>
            </a:r>
            <a:r>
              <a:rPr lang="en-US" sz="11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Desarrollo de nuevas funcionalidades 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6238951" y="3238805"/>
            <a:ext cx="5381244" cy="1505102"/>
          </a:xfrm>
          <a:prstGeom prst="roundRect">
            <a:avLst>
              <a:gd name="adj" fmla="val 6152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2" name="Shape 49"/>
          <p:cNvSpPr/>
          <p:nvPr/>
        </p:nvSpPr>
        <p:spPr>
          <a:xfrm>
            <a:off x="6486754" y="3457346"/>
            <a:ext cx="267005" cy="267005"/>
          </a:xfrm>
          <a:prstGeom prst="roundRect">
            <a:avLst>
              <a:gd name="adj" fmla="val 97847"/>
            </a:avLst>
          </a:prstGeom>
          <a:solidFill>
            <a:srgbClr val="FFC10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3" name="Text 50"/>
          <p:cNvSpPr txBox="1"/>
          <p:nvPr/>
        </p:nvSpPr>
        <p:spPr>
          <a:xfrm>
            <a:off x="6486754" y="3457346"/>
            <a:ext cx="267005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🤝</a:t>
            </a:r>
            <a:endParaRPr lang="en-US" sz="1000" dirty="0"/>
          </a:p>
        </p:txBody>
      </p:sp>
      <p:sp>
        <p:nvSpPr>
          <p:cNvPr id="54" name="Text 51"/>
          <p:cNvSpPr txBox="1"/>
          <p:nvPr/>
        </p:nvSpPr>
        <p:spPr>
          <a:xfrm>
            <a:off x="6867144" y="3476549"/>
            <a:ext cx="275508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Comunicación y Colaboración</a:t>
            </a:r>
            <a:endParaRPr lang="en-US" sz="1300" dirty="0"/>
          </a:p>
        </p:txBody>
      </p:sp>
      <p:sp>
        <p:nvSpPr>
          <p:cNvPr id="55" name="Text 52"/>
          <p:cNvSpPr txBox="1"/>
          <p:nvPr/>
        </p:nvSpPr>
        <p:spPr>
          <a:xfrm>
            <a:off x="6486754" y="3838651"/>
            <a:ext cx="48865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• Canales compartidos para comunicación en tiempo real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• Postmortems sin culpa para mejora continua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• Documentación colaborativa en wiki/confluence </a:t>
            </a:r>
            <a:endParaRPr lang="en-US" sz="1100" dirty="0"/>
          </a:p>
        </p:txBody>
      </p:sp>
      <p:sp>
        <p:nvSpPr>
          <p:cNvPr id="56" name="Shape 53"/>
          <p:cNvSpPr/>
          <p:nvPr/>
        </p:nvSpPr>
        <p:spPr>
          <a:xfrm>
            <a:off x="6238951" y="4981651"/>
            <a:ext cx="5381244" cy="1505102"/>
          </a:xfrm>
          <a:prstGeom prst="roundRect">
            <a:avLst>
              <a:gd name="adj" fmla="val 6152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7" name="Shape 54"/>
          <p:cNvSpPr/>
          <p:nvPr/>
        </p:nvSpPr>
        <p:spPr>
          <a:xfrm>
            <a:off x="6486754" y="5201107"/>
            <a:ext cx="267005" cy="267005"/>
          </a:xfrm>
          <a:prstGeom prst="roundRect">
            <a:avLst>
              <a:gd name="adj" fmla="val 97847"/>
            </a:avLst>
          </a:prstGeom>
          <a:solidFill>
            <a:srgbClr val="FFC10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8" name="Text 55"/>
          <p:cNvSpPr txBox="1"/>
          <p:nvPr/>
        </p:nvSpPr>
        <p:spPr>
          <a:xfrm>
            <a:off x="6486754" y="5201107"/>
            <a:ext cx="267005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🔒</a:t>
            </a:r>
            <a:endParaRPr lang="en-US" sz="1000" dirty="0"/>
          </a:p>
        </p:txBody>
      </p:sp>
      <p:sp>
        <p:nvSpPr>
          <p:cNvPr id="59" name="Text 56"/>
          <p:cNvSpPr txBox="1"/>
          <p:nvPr/>
        </p:nvSpPr>
        <p:spPr>
          <a:xfrm>
            <a:off x="6867144" y="5219395"/>
            <a:ext cx="22448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Seguridad en el Pipeline</a:t>
            </a:r>
            <a:endParaRPr lang="en-US" sz="1300" dirty="0"/>
          </a:p>
        </p:txBody>
      </p:sp>
      <p:sp>
        <p:nvSpPr>
          <p:cNvPr id="60" name="Text 57"/>
          <p:cNvSpPr txBox="1"/>
          <p:nvPr/>
        </p:nvSpPr>
        <p:spPr>
          <a:xfrm>
            <a:off x="6486754" y="5581498"/>
            <a:ext cx="48865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• Análisis estático de código (SAST)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• Escaneo de vulnerabilidades en dependencias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• Validación de permisos antes del merge </a:t>
            </a:r>
            <a:endParaRPr lang="en-US" sz="1100" dirty="0"/>
          </a:p>
        </p:txBody>
      </p:sp>
      <p:sp>
        <p:nvSpPr>
          <p:cNvPr id="61" name="Shape 58"/>
          <p:cNvSpPr/>
          <p:nvPr/>
        </p:nvSpPr>
        <p:spPr>
          <a:xfrm>
            <a:off x="571500" y="6452921"/>
            <a:ext cx="75895" cy="75895"/>
          </a:xfrm>
          <a:prstGeom prst="ellipse">
            <a:avLst/>
          </a:prstGeom>
          <a:solidFill>
            <a:srgbClr val="4CAF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2" name="Text 59"/>
          <p:cNvSpPr txBox="1"/>
          <p:nvPr/>
        </p:nvSpPr>
        <p:spPr>
          <a:xfrm>
            <a:off x="743407" y="6409944"/>
            <a:ext cx="213146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DevOps en AWS - Proyecto 2026</a:t>
            </a:r>
            <a:endParaRPr lang="en-US" sz="900" dirty="0"/>
          </a:p>
        </p:txBody>
      </p:sp>
      <p:sp>
        <p:nvSpPr>
          <p:cNvPr id="63" name="Text 60"/>
          <p:cNvSpPr txBox="1"/>
          <p:nvPr/>
        </p:nvSpPr>
        <p:spPr>
          <a:xfrm>
            <a:off x="9355226" y="6409944"/>
            <a:ext cx="269839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Equipo: Narciso, Caleb, Rodrigo, Natanael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571500" y="1181405"/>
            <a:ext cx="11048695" cy="28346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 txBox="1"/>
          <p:nvPr/>
        </p:nvSpPr>
        <p:spPr>
          <a:xfrm>
            <a:off x="571500" y="381305"/>
            <a:ext cx="6305702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Medición y Monitoreo con CloudWatch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838505"/>
            <a:ext cx="56199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Métricas, logs y alertas en tiempo real para AWS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l="30750" r="30750"/>
          <a:stretch/>
        </p:blipFill>
        <p:spPr>
          <a:xfrm>
            <a:off x="10280599" y="471830"/>
            <a:ext cx="476402" cy="47640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852099" y="471830"/>
            <a:ext cx="771754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Tecmilenio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38505" y="1447495"/>
            <a:ext cx="50676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Métricas Clave </a:t>
            </a:r>
            <a:endParaRPr lang="en-US" sz="15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71500" y="1490472"/>
            <a:ext cx="171907" cy="171907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71500" y="1848002"/>
            <a:ext cx="2572207" cy="1343254"/>
          </a:xfrm>
          <a:prstGeom prst="roundRect">
            <a:avLst>
              <a:gd name="adj" fmla="val 7725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Shape 8"/>
          <p:cNvSpPr/>
          <p:nvPr/>
        </p:nvSpPr>
        <p:spPr>
          <a:xfrm>
            <a:off x="771754" y="2048256"/>
            <a:ext cx="267005" cy="267005"/>
          </a:xfrm>
          <a:prstGeom prst="roundRect">
            <a:avLst>
              <a:gd name="adj" fmla="val 97847"/>
            </a:avLst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38505" y="2115007"/>
            <a:ext cx="133502" cy="13350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33856" y="2081174"/>
            <a:ext cx="29443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EC2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771754" y="2428646"/>
            <a:ext cx="21717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CPU, Network In/Out, Estado</a:t>
            </a:r>
            <a:endParaRPr lang="en-US" sz="1000" dirty="0"/>
          </a:p>
        </p:txBody>
      </p:sp>
      <p:sp>
        <p:nvSpPr>
          <p:cNvPr id="16" name="Text 11"/>
          <p:cNvSpPr txBox="1"/>
          <p:nvPr/>
        </p:nvSpPr>
        <p:spPr>
          <a:xfrm>
            <a:off x="771754" y="2704795"/>
            <a:ext cx="21717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85%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3333902" y="1848002"/>
            <a:ext cx="2572207" cy="1343254"/>
          </a:xfrm>
          <a:prstGeom prst="roundRect">
            <a:avLst>
              <a:gd name="adj" fmla="val 7725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Shape 13"/>
          <p:cNvSpPr/>
          <p:nvPr/>
        </p:nvSpPr>
        <p:spPr>
          <a:xfrm>
            <a:off x="3534156" y="2048256"/>
            <a:ext cx="267005" cy="267005"/>
          </a:xfrm>
          <a:prstGeom prst="roundRect">
            <a:avLst>
              <a:gd name="adj" fmla="val 97847"/>
            </a:avLst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rcRect t="-1100" b="-1100"/>
          <a:stretch/>
        </p:blipFill>
        <p:spPr>
          <a:xfrm>
            <a:off x="3610051" y="2115007"/>
            <a:ext cx="114300" cy="13350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3895344" y="2081174"/>
            <a:ext cx="19659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S3</a:t>
            </a:r>
            <a:endParaRPr lang="en-US" sz="1200" dirty="0"/>
          </a:p>
        </p:txBody>
      </p:sp>
      <p:sp>
        <p:nvSpPr>
          <p:cNvPr id="21" name="Text 15"/>
          <p:cNvSpPr txBox="1"/>
          <p:nvPr/>
        </p:nvSpPr>
        <p:spPr>
          <a:xfrm>
            <a:off x="3534156" y="2428646"/>
            <a:ext cx="21717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Requests, Bytes, Latencia</a:t>
            </a:r>
            <a:endParaRPr lang="en-US" sz="1000" dirty="0"/>
          </a:p>
        </p:txBody>
      </p:sp>
      <p:sp>
        <p:nvSpPr>
          <p:cNvPr id="22" name="Text 16"/>
          <p:cNvSpPr txBox="1"/>
          <p:nvPr/>
        </p:nvSpPr>
        <p:spPr>
          <a:xfrm>
            <a:off x="3534156" y="2704795"/>
            <a:ext cx="21717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1.2M</a:t>
            </a:r>
            <a:endParaRPr lang="en-US" sz="1600" dirty="0"/>
          </a:p>
        </p:txBody>
      </p:sp>
      <p:sp>
        <p:nvSpPr>
          <p:cNvPr id="23" name="Shape 17"/>
          <p:cNvSpPr/>
          <p:nvPr/>
        </p:nvSpPr>
        <p:spPr>
          <a:xfrm>
            <a:off x="571500" y="3381451"/>
            <a:ext cx="2572207" cy="1343254"/>
          </a:xfrm>
          <a:prstGeom prst="roundRect">
            <a:avLst>
              <a:gd name="adj" fmla="val 7725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Shape 18"/>
          <p:cNvSpPr/>
          <p:nvPr/>
        </p:nvSpPr>
        <p:spPr>
          <a:xfrm>
            <a:off x="771754" y="3581705"/>
            <a:ext cx="267005" cy="267005"/>
          </a:xfrm>
          <a:prstGeom prst="roundRect">
            <a:avLst>
              <a:gd name="adj" fmla="val 97847"/>
            </a:avLst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rcRect t="-1100" b="-1100"/>
          <a:stretch/>
        </p:blipFill>
        <p:spPr>
          <a:xfrm>
            <a:off x="847649" y="3648456"/>
            <a:ext cx="114300" cy="133502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133856" y="3614623"/>
            <a:ext cx="58978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Lambda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771754" y="3962095"/>
            <a:ext cx="256763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Duración, Errores, Invocaciones</a:t>
            </a:r>
            <a:endParaRPr lang="en-US" sz="1000" dirty="0"/>
          </a:p>
        </p:txBody>
      </p:sp>
      <p:sp>
        <p:nvSpPr>
          <p:cNvPr id="28" name="Text 21"/>
          <p:cNvSpPr txBox="1"/>
          <p:nvPr/>
        </p:nvSpPr>
        <p:spPr>
          <a:xfrm>
            <a:off x="771754" y="4238244"/>
            <a:ext cx="21717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245ms</a:t>
            </a:r>
            <a:endParaRPr lang="en-US" sz="1600" dirty="0"/>
          </a:p>
        </p:txBody>
      </p:sp>
      <p:sp>
        <p:nvSpPr>
          <p:cNvPr id="29" name="Shape 22"/>
          <p:cNvSpPr/>
          <p:nvPr/>
        </p:nvSpPr>
        <p:spPr>
          <a:xfrm>
            <a:off x="3333902" y="3381451"/>
            <a:ext cx="2572207" cy="1343254"/>
          </a:xfrm>
          <a:prstGeom prst="roundRect">
            <a:avLst>
              <a:gd name="adj" fmla="val 7725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Shape 23"/>
          <p:cNvSpPr/>
          <p:nvPr/>
        </p:nvSpPr>
        <p:spPr>
          <a:xfrm>
            <a:off x="3534156" y="3581705"/>
            <a:ext cx="267005" cy="267005"/>
          </a:xfrm>
          <a:prstGeom prst="roundRect">
            <a:avLst>
              <a:gd name="adj" fmla="val 97847"/>
            </a:avLst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rcRect l="-2512" r="-2512"/>
          <a:stretch/>
        </p:blipFill>
        <p:spPr>
          <a:xfrm>
            <a:off x="3614623" y="3648456"/>
            <a:ext cx="105156" cy="133502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3895344" y="3614623"/>
            <a:ext cx="38587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Logs</a:t>
            </a:r>
            <a:endParaRPr lang="en-US" sz="1200" dirty="0"/>
          </a:p>
        </p:txBody>
      </p:sp>
      <p:sp>
        <p:nvSpPr>
          <p:cNvPr id="33" name="Text 25"/>
          <p:cNvSpPr txBox="1"/>
          <p:nvPr/>
        </p:nvSpPr>
        <p:spPr>
          <a:xfrm>
            <a:off x="3534156" y="3962095"/>
            <a:ext cx="21717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CloudWatch Logs, Agentes</a:t>
            </a:r>
            <a:endParaRPr lang="en-US" sz="1000" dirty="0"/>
          </a:p>
        </p:txBody>
      </p:sp>
      <p:sp>
        <p:nvSpPr>
          <p:cNvPr id="34" name="Text 26"/>
          <p:cNvSpPr txBox="1"/>
          <p:nvPr/>
        </p:nvSpPr>
        <p:spPr>
          <a:xfrm>
            <a:off x="3534156" y="4238244"/>
            <a:ext cx="21717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2.3GB</a:t>
            </a:r>
            <a:endParaRPr lang="en-US" sz="1600" dirty="0"/>
          </a:p>
        </p:txBody>
      </p:sp>
      <p:sp>
        <p:nvSpPr>
          <p:cNvPr id="35" name="Shape 27"/>
          <p:cNvSpPr/>
          <p:nvPr/>
        </p:nvSpPr>
        <p:spPr>
          <a:xfrm>
            <a:off x="571500" y="5105095"/>
            <a:ext cx="5333695" cy="1123798"/>
          </a:xfrm>
          <a:prstGeom prst="roundRect">
            <a:avLst>
              <a:gd name="adj" fmla="val 11033"/>
            </a:avLst>
          </a:prstGeom>
          <a:solidFill>
            <a:srgbClr val="FFF3E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6" name="Shape 28"/>
          <p:cNvSpPr/>
          <p:nvPr/>
        </p:nvSpPr>
        <p:spPr>
          <a:xfrm>
            <a:off x="571500" y="5105095"/>
            <a:ext cx="38405" cy="1123798"/>
          </a:xfrm>
          <a:prstGeom prst="roundRect">
            <a:avLst>
              <a:gd name="adj" fmla="val 322839"/>
            </a:avLst>
          </a:prstGeom>
          <a:solidFill>
            <a:srgbClr val="FF9800"/>
          </a:solidFill>
          <a:ln w="12700">
            <a:solidFill>
              <a:srgbClr val="FF9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9"/>
          <a:srcRect t="-43" b="-43"/>
          <a:stretch/>
        </p:blipFill>
        <p:spPr>
          <a:xfrm>
            <a:off x="800100" y="5319979"/>
            <a:ext cx="133502" cy="152705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1028700" y="5296205"/>
            <a:ext cx="165506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51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Alertas Automáticas</a:t>
            </a:r>
            <a:endParaRPr lang="en-US" sz="1200" dirty="0"/>
          </a:p>
        </p:txBody>
      </p:sp>
      <p:sp>
        <p:nvSpPr>
          <p:cNvPr id="39" name="Text 30"/>
          <p:cNvSpPr txBox="1"/>
          <p:nvPr/>
        </p:nvSpPr>
        <p:spPr>
          <a:xfrm>
            <a:off x="800100" y="5609844"/>
            <a:ext cx="49149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SNS notifica automáticamente cuando las métricas exceden umbrales definidos, integrando con sistemas de respuesta a incidentes.</a:t>
            </a:r>
            <a:endParaRPr 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6286500" y="1447495"/>
            <a:ext cx="5333695" cy="5000854"/>
          </a:xfrm>
          <a:prstGeom prst="roundRect">
            <a:avLst>
              <a:gd name="adj" fmla="val 697"/>
            </a:avLst>
          </a:prstGeom>
          <a:solidFill>
            <a:srgbClr val="F8F9FA"/>
          </a:solidFill>
          <a:ln w="254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1" name="Text 32"/>
          <p:cNvSpPr txBox="1"/>
          <p:nvPr/>
        </p:nvSpPr>
        <p:spPr>
          <a:xfrm>
            <a:off x="6837883" y="1738274"/>
            <a:ext cx="23920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Dashboard de Monitoreo </a:t>
            </a:r>
            <a:endParaRPr lang="en-US" sz="1300" dirty="0"/>
          </a:p>
        </p:txBody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543446" y="1769364"/>
            <a:ext cx="171907" cy="171907"/>
          </a:xfrm>
          <a:prstGeom prst="rect">
            <a:avLst/>
          </a:prstGeom>
        </p:spPr>
      </p:pic>
      <p:sp>
        <p:nvSpPr>
          <p:cNvPr id="43" name="Shape 33"/>
          <p:cNvSpPr/>
          <p:nvPr/>
        </p:nvSpPr>
        <p:spPr>
          <a:xfrm>
            <a:off x="10691165" y="1705356"/>
            <a:ext cx="676656" cy="295351"/>
          </a:xfrm>
          <a:prstGeom prst="roundRect">
            <a:avLst>
              <a:gd name="adj" fmla="val 239689"/>
            </a:avLst>
          </a:prstGeom>
          <a:solidFill>
            <a:srgbClr val="4CAF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4" name="Text 34"/>
          <p:cNvSpPr txBox="1"/>
          <p:nvPr/>
        </p:nvSpPr>
        <p:spPr>
          <a:xfrm>
            <a:off x="10691165" y="1705356"/>
            <a:ext cx="676656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63500" rIns="152400" bIns="635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Activo</a:t>
            </a:r>
            <a:endParaRPr lang="en-US" sz="1000" dirty="0"/>
          </a:p>
        </p:txBody>
      </p:sp>
      <p:sp>
        <p:nvSpPr>
          <p:cNvPr id="45" name="Shape 35"/>
          <p:cNvSpPr/>
          <p:nvPr/>
        </p:nvSpPr>
        <p:spPr>
          <a:xfrm>
            <a:off x="6543446" y="2190902"/>
            <a:ext cx="2314346" cy="1238098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6" name="Text 36"/>
          <p:cNvSpPr txBox="1"/>
          <p:nvPr/>
        </p:nvSpPr>
        <p:spPr>
          <a:xfrm>
            <a:off x="6743700" y="2391156"/>
            <a:ext cx="19147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CPU Usage</a:t>
            </a:r>
            <a:endParaRPr lang="en-US" sz="1000" dirty="0"/>
          </a:p>
        </p:txBody>
      </p:sp>
      <p:sp>
        <p:nvSpPr>
          <p:cNvPr id="47" name="Text 37"/>
          <p:cNvSpPr txBox="1"/>
          <p:nvPr/>
        </p:nvSpPr>
        <p:spPr>
          <a:xfrm>
            <a:off x="6743700" y="2648102"/>
            <a:ext cx="1914754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78%</a:t>
            </a:r>
            <a:endParaRPr lang="en-US" sz="2100" dirty="0"/>
          </a:p>
        </p:txBody>
      </p:sp>
      <p:sp>
        <p:nvSpPr>
          <p:cNvPr id="48" name="Text 38"/>
          <p:cNvSpPr txBox="1"/>
          <p:nvPr/>
        </p:nvSpPr>
        <p:spPr>
          <a:xfrm>
            <a:off x="6743700" y="3076956"/>
            <a:ext cx="19147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Promedio 24h</a:t>
            </a:r>
            <a:endParaRPr lang="en-US" sz="900" dirty="0"/>
          </a:p>
        </p:txBody>
      </p:sp>
      <p:sp>
        <p:nvSpPr>
          <p:cNvPr id="49" name="Shape 39"/>
          <p:cNvSpPr/>
          <p:nvPr/>
        </p:nvSpPr>
        <p:spPr>
          <a:xfrm>
            <a:off x="9048902" y="2190902"/>
            <a:ext cx="2314346" cy="1238098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0" name="Text 40"/>
          <p:cNvSpPr txBox="1"/>
          <p:nvPr/>
        </p:nvSpPr>
        <p:spPr>
          <a:xfrm>
            <a:off x="9249156" y="2391156"/>
            <a:ext cx="19147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Memory</a:t>
            </a:r>
            <a:endParaRPr lang="en-US" sz="1000" dirty="0"/>
          </a:p>
        </p:txBody>
      </p:sp>
      <p:sp>
        <p:nvSpPr>
          <p:cNvPr id="51" name="Text 41"/>
          <p:cNvSpPr txBox="1"/>
          <p:nvPr/>
        </p:nvSpPr>
        <p:spPr>
          <a:xfrm>
            <a:off x="9249156" y="2648102"/>
            <a:ext cx="1914754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4.2GB</a:t>
            </a:r>
            <a:endParaRPr lang="en-US" sz="2100" dirty="0"/>
          </a:p>
        </p:txBody>
      </p:sp>
      <p:sp>
        <p:nvSpPr>
          <p:cNvPr id="52" name="Text 42"/>
          <p:cNvSpPr txBox="1"/>
          <p:nvPr/>
        </p:nvSpPr>
        <p:spPr>
          <a:xfrm>
            <a:off x="9249156" y="3076956"/>
            <a:ext cx="19147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 8GB total</a:t>
            </a:r>
            <a:endParaRPr lang="en-US" sz="900" dirty="0"/>
          </a:p>
        </p:txBody>
      </p:sp>
      <p:sp>
        <p:nvSpPr>
          <p:cNvPr id="53" name="Shape 43"/>
          <p:cNvSpPr/>
          <p:nvPr/>
        </p:nvSpPr>
        <p:spPr>
          <a:xfrm>
            <a:off x="6543446" y="3619195"/>
            <a:ext cx="2314346" cy="1238098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4" name="Text 44"/>
          <p:cNvSpPr txBox="1"/>
          <p:nvPr/>
        </p:nvSpPr>
        <p:spPr>
          <a:xfrm>
            <a:off x="6743700" y="3819449"/>
            <a:ext cx="19147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Network</a:t>
            </a:r>
            <a:endParaRPr lang="en-US" sz="1000" dirty="0"/>
          </a:p>
        </p:txBody>
      </p:sp>
      <p:sp>
        <p:nvSpPr>
          <p:cNvPr id="55" name="Text 45"/>
          <p:cNvSpPr txBox="1"/>
          <p:nvPr/>
        </p:nvSpPr>
        <p:spPr>
          <a:xfrm>
            <a:off x="6743700" y="4076395"/>
            <a:ext cx="1914754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1.5GB/s</a:t>
            </a:r>
            <a:endParaRPr lang="en-US" sz="2100" dirty="0"/>
          </a:p>
        </p:txBody>
      </p:sp>
      <p:sp>
        <p:nvSpPr>
          <p:cNvPr id="56" name="Text 46"/>
          <p:cNvSpPr txBox="1"/>
          <p:nvPr/>
        </p:nvSpPr>
        <p:spPr>
          <a:xfrm>
            <a:off x="6743700" y="4505249"/>
            <a:ext cx="19147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In/Out</a:t>
            </a:r>
            <a:endParaRPr lang="en-US" sz="900" dirty="0"/>
          </a:p>
        </p:txBody>
      </p:sp>
      <p:sp>
        <p:nvSpPr>
          <p:cNvPr id="57" name="Shape 47"/>
          <p:cNvSpPr/>
          <p:nvPr/>
        </p:nvSpPr>
        <p:spPr>
          <a:xfrm>
            <a:off x="9048902" y="3619195"/>
            <a:ext cx="2314346" cy="1238098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8" name="Text 48"/>
          <p:cNvSpPr txBox="1"/>
          <p:nvPr/>
        </p:nvSpPr>
        <p:spPr>
          <a:xfrm>
            <a:off x="9249156" y="3819449"/>
            <a:ext cx="19147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Latency</a:t>
            </a:r>
            <a:endParaRPr lang="en-US" sz="1000" dirty="0"/>
          </a:p>
        </p:txBody>
      </p:sp>
      <p:sp>
        <p:nvSpPr>
          <p:cNvPr id="59" name="Text 49"/>
          <p:cNvSpPr txBox="1"/>
          <p:nvPr/>
        </p:nvSpPr>
        <p:spPr>
          <a:xfrm>
            <a:off x="9249156" y="4076395"/>
            <a:ext cx="1914754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45ms</a:t>
            </a:r>
            <a:endParaRPr lang="en-US" sz="2100" dirty="0"/>
          </a:p>
        </p:txBody>
      </p:sp>
      <p:sp>
        <p:nvSpPr>
          <p:cNvPr id="60" name="Text 50"/>
          <p:cNvSpPr txBox="1"/>
          <p:nvPr/>
        </p:nvSpPr>
        <p:spPr>
          <a:xfrm>
            <a:off x="9249156" y="4505249"/>
            <a:ext cx="19147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Promedio</a:t>
            </a:r>
            <a:endParaRPr lang="en-US" sz="900" dirty="0"/>
          </a:p>
        </p:txBody>
      </p:sp>
      <p:pic>
        <p:nvPicPr>
          <p:cNvPr id="61" name="Image 8" descr="preencoded.png"/>
          <p:cNvPicPr>
            <a:picLocks noChangeAspect="1"/>
          </p:cNvPicPr>
          <p:nvPr/>
        </p:nvPicPr>
        <p:blipFill>
          <a:blip r:embed="rId11"/>
          <a:srcRect l="-2" r="-2"/>
          <a:stretch/>
        </p:blipFill>
        <p:spPr>
          <a:xfrm>
            <a:off x="6543446" y="5048402"/>
            <a:ext cx="4819802" cy="1143000"/>
          </a:xfrm>
          <a:prstGeom prst="rect">
            <a:avLst/>
          </a:prstGeom>
        </p:spPr>
      </p:pic>
      <p:sp>
        <p:nvSpPr>
          <p:cNvPr id="62" name="Text 51"/>
          <p:cNvSpPr txBox="1"/>
          <p:nvPr/>
        </p:nvSpPr>
        <p:spPr>
          <a:xfrm>
            <a:off x="6534302" y="6687007"/>
            <a:ext cx="50868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Notificaciones y Alertas </a:t>
            </a:r>
            <a:endParaRPr lang="en-US" sz="1500" dirty="0"/>
          </a:p>
        </p:txBody>
      </p:sp>
      <p:pic>
        <p:nvPicPr>
          <p:cNvPr id="63" name="Image 9" descr="preencoded.png"/>
          <p:cNvPicPr>
            <a:picLocks noChangeAspect="1"/>
          </p:cNvPicPr>
          <p:nvPr/>
        </p:nvPicPr>
        <p:blipFill>
          <a:blip r:embed="rId12"/>
          <a:srcRect l="-760" r="-760"/>
          <a:stretch/>
        </p:blipFill>
        <p:spPr>
          <a:xfrm>
            <a:off x="6286500" y="6729070"/>
            <a:ext cx="152705" cy="171907"/>
          </a:xfrm>
          <a:prstGeom prst="rect">
            <a:avLst/>
          </a:prstGeom>
        </p:spPr>
      </p:pic>
      <p:pic>
        <p:nvPicPr>
          <p:cNvPr id="64" name="Image 10" descr="preencoded.png"/>
          <p:cNvPicPr>
            <a:picLocks noChangeAspect="1"/>
          </p:cNvPicPr>
          <p:nvPr/>
        </p:nvPicPr>
        <p:blipFill>
          <a:blip r:embed="rId13"/>
          <a:srcRect l="-293" r="-293"/>
          <a:stretch/>
        </p:blipFill>
        <p:spPr>
          <a:xfrm>
            <a:off x="6286500" y="7086600"/>
            <a:ext cx="1086307" cy="371246"/>
          </a:xfrm>
          <a:prstGeom prst="rect">
            <a:avLst/>
          </a:prstGeom>
        </p:spPr>
      </p:pic>
      <p:sp>
        <p:nvSpPr>
          <p:cNvPr id="65" name="Text 52"/>
          <p:cNvSpPr txBox="1"/>
          <p:nvPr/>
        </p:nvSpPr>
        <p:spPr>
          <a:xfrm>
            <a:off x="6638544" y="7086600"/>
            <a:ext cx="734263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565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SNS Topic </a:t>
            </a:r>
            <a:endParaRPr lang="en-US" sz="1000" dirty="0"/>
          </a:p>
        </p:txBody>
      </p:sp>
      <p:pic>
        <p:nvPicPr>
          <p:cNvPr id="66" name="Image 11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6429146" y="7205472"/>
            <a:ext cx="133502" cy="133502"/>
          </a:xfrm>
          <a:prstGeom prst="rect">
            <a:avLst/>
          </a:prstGeom>
        </p:spPr>
      </p:pic>
      <p:pic>
        <p:nvPicPr>
          <p:cNvPr id="67" name="Image 12" descr="preencoded.png"/>
          <p:cNvPicPr>
            <a:picLocks noChangeAspect="1"/>
          </p:cNvPicPr>
          <p:nvPr/>
        </p:nvPicPr>
        <p:blipFill>
          <a:blip r:embed="rId15"/>
          <a:srcRect l="-601" r="-601"/>
          <a:stretch/>
        </p:blipFill>
        <p:spPr>
          <a:xfrm>
            <a:off x="7509967" y="7086600"/>
            <a:ext cx="819302" cy="371246"/>
          </a:xfrm>
          <a:prstGeom prst="rect">
            <a:avLst/>
          </a:prstGeom>
        </p:spPr>
      </p:pic>
      <p:sp>
        <p:nvSpPr>
          <p:cNvPr id="68" name="Text 53"/>
          <p:cNvSpPr txBox="1"/>
          <p:nvPr/>
        </p:nvSpPr>
        <p:spPr>
          <a:xfrm>
            <a:off x="7862011" y="7086600"/>
            <a:ext cx="467258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Email </a:t>
            </a:r>
            <a:endParaRPr lang="en-US" sz="1000" dirty="0"/>
          </a:p>
        </p:txBody>
      </p:sp>
      <p:pic>
        <p:nvPicPr>
          <p:cNvPr id="69" name="Image 13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7652614" y="7205472"/>
            <a:ext cx="133502" cy="133502"/>
          </a:xfrm>
          <a:prstGeom prst="rect">
            <a:avLst/>
          </a:prstGeom>
        </p:spPr>
      </p:pic>
      <p:pic>
        <p:nvPicPr>
          <p:cNvPr id="70" name="Image 14" descr="preencoded.png"/>
          <p:cNvPicPr>
            <a:picLocks noChangeAspect="1"/>
          </p:cNvPicPr>
          <p:nvPr/>
        </p:nvPicPr>
        <p:blipFill>
          <a:blip r:embed="rId17"/>
          <a:srcRect l="-355" r="-355"/>
          <a:stretch/>
        </p:blipFill>
        <p:spPr>
          <a:xfrm>
            <a:off x="8462772" y="7086600"/>
            <a:ext cx="761695" cy="371246"/>
          </a:xfrm>
          <a:prstGeom prst="rect">
            <a:avLst/>
          </a:prstGeom>
        </p:spPr>
      </p:pic>
      <p:sp>
        <p:nvSpPr>
          <p:cNvPr id="71" name="Text 54"/>
          <p:cNvSpPr txBox="1"/>
          <p:nvPr/>
        </p:nvSpPr>
        <p:spPr>
          <a:xfrm>
            <a:off x="8814816" y="7086600"/>
            <a:ext cx="410566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651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SMS </a:t>
            </a:r>
            <a:endParaRPr lang="en-US" sz="1000" dirty="0"/>
          </a:p>
        </p:txBody>
      </p:sp>
      <p:pic>
        <p:nvPicPr>
          <p:cNvPr id="72" name="Image 15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8605418" y="7205472"/>
            <a:ext cx="133502" cy="133502"/>
          </a:xfrm>
          <a:prstGeom prst="rect">
            <a:avLst/>
          </a:prstGeom>
        </p:spPr>
      </p:pic>
      <p:sp>
        <p:nvSpPr>
          <p:cNvPr id="73" name="Shape 55"/>
          <p:cNvSpPr/>
          <p:nvPr/>
        </p:nvSpPr>
        <p:spPr>
          <a:xfrm>
            <a:off x="571500" y="6482182"/>
            <a:ext cx="95098" cy="95098"/>
          </a:xfrm>
          <a:prstGeom prst="ellipse">
            <a:avLst/>
          </a:prstGeom>
          <a:solidFill>
            <a:srgbClr val="4CAF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4" name="Text 56"/>
          <p:cNvSpPr txBox="1"/>
          <p:nvPr/>
        </p:nvSpPr>
        <p:spPr>
          <a:xfrm>
            <a:off x="780898" y="6439205"/>
            <a:ext cx="228965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DevOps en AWS - Proyecto 2026</a:t>
            </a:r>
            <a:endParaRPr lang="en-US" sz="1000" dirty="0"/>
          </a:p>
        </p:txBody>
      </p:sp>
      <p:sp>
        <p:nvSpPr>
          <p:cNvPr id="75" name="Text 57"/>
          <p:cNvSpPr txBox="1"/>
          <p:nvPr/>
        </p:nvSpPr>
        <p:spPr>
          <a:xfrm>
            <a:off x="9181490" y="6439205"/>
            <a:ext cx="291327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Equipo: Narciso, Caleb, Rodrigo, Natanael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571500" y="1228954"/>
            <a:ext cx="11048695" cy="28346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 txBox="1"/>
          <p:nvPr/>
        </p:nvSpPr>
        <p:spPr>
          <a:xfrm>
            <a:off x="571500" y="381305"/>
            <a:ext cx="50804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DevSecOps con SonarQube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886054"/>
            <a:ext cx="50484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Análisis de seguridad y calidad del código en el pipeline CI/CD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l="30750" r="30750"/>
          <a:stretch/>
        </p:blipFill>
        <p:spPr>
          <a:xfrm>
            <a:off x="10185502" y="448056"/>
            <a:ext cx="571500" cy="5715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852099" y="448056"/>
            <a:ext cx="77175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Tecmilenio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71500" y="1495044"/>
            <a:ext cx="5381244" cy="2447849"/>
          </a:xfrm>
          <a:prstGeom prst="roundRect">
            <a:avLst>
              <a:gd name="adj" fmla="val 2907"/>
            </a:avLst>
          </a:prstGeom>
          <a:solidFill>
            <a:srgbClr val="F8F9FA"/>
          </a:solidFill>
          <a:ln w="254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Shape 7"/>
          <p:cNvSpPr/>
          <p:nvPr/>
        </p:nvSpPr>
        <p:spPr>
          <a:xfrm>
            <a:off x="733349" y="1657807"/>
            <a:ext cx="342900" cy="342900"/>
          </a:xfrm>
          <a:prstGeom prst="roundRect">
            <a:avLst>
              <a:gd name="adj" fmla="val 118519"/>
            </a:avLst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28446" y="1752905"/>
            <a:ext cx="152705" cy="15270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190549" y="1729130"/>
            <a:ext cx="17684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Análisis de Seguridad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733349" y="2143354"/>
            <a:ext cx="5057546" cy="485546"/>
          </a:xfrm>
          <a:prstGeom prst="roundRect">
            <a:avLst>
              <a:gd name="adj" fmla="val 4431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4" name="Shape 10"/>
          <p:cNvSpPr/>
          <p:nvPr/>
        </p:nvSpPr>
        <p:spPr>
          <a:xfrm>
            <a:off x="733349" y="2143354"/>
            <a:ext cx="28346" cy="485546"/>
          </a:xfrm>
          <a:prstGeom prst="roundRect">
            <a:avLst>
              <a:gd name="adj" fmla="val 759024"/>
            </a:avLst>
          </a:prstGeom>
          <a:solidFill>
            <a:srgbClr val="FFC107"/>
          </a:solidFill>
          <a:ln w="12700">
            <a:solidFill>
              <a:srgbClr val="FFC10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Shape 11"/>
          <p:cNvSpPr/>
          <p:nvPr/>
        </p:nvSpPr>
        <p:spPr>
          <a:xfrm>
            <a:off x="838505" y="2238451"/>
            <a:ext cx="190195" cy="190195"/>
          </a:xfrm>
          <a:prstGeom prst="roundRect">
            <a:avLst>
              <a:gd name="adj" fmla="val 192308"/>
            </a:avLst>
          </a:prstGeom>
          <a:solidFill>
            <a:srgbClr val="FFC10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86054" y="2286000"/>
            <a:ext cx="95098" cy="9509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123798" y="2219249"/>
            <a:ext cx="45912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Análisis SAST</a:t>
            </a:r>
            <a:endParaRPr lang="en-US" sz="900" dirty="0"/>
          </a:p>
        </p:txBody>
      </p:sp>
      <p:sp>
        <p:nvSpPr>
          <p:cNvPr id="18" name="Text 13"/>
          <p:cNvSpPr txBox="1"/>
          <p:nvPr/>
        </p:nvSpPr>
        <p:spPr>
          <a:xfrm>
            <a:off x="1123798" y="2400300"/>
            <a:ext cx="52770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Escaneo de código estático en busca de vulnerabilidades de seguridad y malas prácticas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733349" y="2720340"/>
            <a:ext cx="5057546" cy="485546"/>
          </a:xfrm>
          <a:prstGeom prst="roundRect">
            <a:avLst>
              <a:gd name="adj" fmla="val 4431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0" name="Shape 15"/>
          <p:cNvSpPr/>
          <p:nvPr/>
        </p:nvSpPr>
        <p:spPr>
          <a:xfrm>
            <a:off x="733349" y="2720340"/>
            <a:ext cx="28346" cy="485546"/>
          </a:xfrm>
          <a:prstGeom prst="roundRect">
            <a:avLst>
              <a:gd name="adj" fmla="val 759024"/>
            </a:avLst>
          </a:prstGeom>
          <a:solidFill>
            <a:srgbClr val="FFC107"/>
          </a:solidFill>
          <a:ln w="12700">
            <a:solidFill>
              <a:srgbClr val="FFC10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Shape 16"/>
          <p:cNvSpPr/>
          <p:nvPr/>
        </p:nvSpPr>
        <p:spPr>
          <a:xfrm>
            <a:off x="838505" y="2815438"/>
            <a:ext cx="190195" cy="190195"/>
          </a:xfrm>
          <a:prstGeom prst="roundRect">
            <a:avLst>
              <a:gd name="adj" fmla="val 192308"/>
            </a:avLst>
          </a:prstGeom>
          <a:solidFill>
            <a:srgbClr val="FFC10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86054" y="2862986"/>
            <a:ext cx="95098" cy="95098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123798" y="2796235"/>
            <a:ext cx="45912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Quality Gates</a:t>
            </a:r>
            <a:endParaRPr lang="en-US" sz="900" dirty="0"/>
          </a:p>
        </p:txBody>
      </p:sp>
      <p:sp>
        <p:nvSpPr>
          <p:cNvPr id="24" name="Text 18"/>
          <p:cNvSpPr txBox="1"/>
          <p:nvPr/>
        </p:nvSpPr>
        <p:spPr>
          <a:xfrm>
            <a:off x="1123798" y="2977286"/>
            <a:ext cx="45912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Reglas para seguridad (OWASP Top 10), bugs críticos y code smells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733349" y="3297326"/>
            <a:ext cx="5057546" cy="485546"/>
          </a:xfrm>
          <a:prstGeom prst="roundRect">
            <a:avLst>
              <a:gd name="adj" fmla="val 4431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6" name="Shape 20"/>
          <p:cNvSpPr/>
          <p:nvPr/>
        </p:nvSpPr>
        <p:spPr>
          <a:xfrm>
            <a:off x="733349" y="3297326"/>
            <a:ext cx="28346" cy="485546"/>
          </a:xfrm>
          <a:prstGeom prst="roundRect">
            <a:avLst>
              <a:gd name="adj" fmla="val 759024"/>
            </a:avLst>
          </a:prstGeom>
          <a:solidFill>
            <a:srgbClr val="FFC107"/>
          </a:solidFill>
          <a:ln w="12700">
            <a:solidFill>
              <a:srgbClr val="FFC10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Shape 21"/>
          <p:cNvSpPr/>
          <p:nvPr/>
        </p:nvSpPr>
        <p:spPr>
          <a:xfrm>
            <a:off x="838505" y="3392424"/>
            <a:ext cx="190195" cy="190195"/>
          </a:xfrm>
          <a:prstGeom prst="roundRect">
            <a:avLst>
              <a:gd name="adj" fmla="val 192308"/>
            </a:avLst>
          </a:prstGeom>
          <a:solidFill>
            <a:srgbClr val="FFC10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86054" y="3439973"/>
            <a:ext cx="95098" cy="95098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123798" y="3373222"/>
            <a:ext cx="45912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Bloqueo de Merges</a:t>
            </a:r>
            <a:endParaRPr lang="en-US" sz="900" dirty="0"/>
          </a:p>
        </p:txBody>
      </p:sp>
      <p:sp>
        <p:nvSpPr>
          <p:cNvPr id="30" name="Text 23"/>
          <p:cNvSpPr txBox="1"/>
          <p:nvPr/>
        </p:nvSpPr>
        <p:spPr>
          <a:xfrm>
            <a:off x="1123798" y="3554273"/>
            <a:ext cx="45912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Pipeline falla automáticamente si no pasa los gates de calidad</a:t>
            </a:r>
            <a:endParaRPr lang="en-US" sz="900" dirty="0"/>
          </a:p>
        </p:txBody>
      </p:sp>
      <p:sp>
        <p:nvSpPr>
          <p:cNvPr id="31" name="Shape 24"/>
          <p:cNvSpPr/>
          <p:nvPr/>
        </p:nvSpPr>
        <p:spPr>
          <a:xfrm>
            <a:off x="571500" y="4083710"/>
            <a:ext cx="5381244" cy="1876349"/>
          </a:xfrm>
          <a:prstGeom prst="roundRect">
            <a:avLst>
              <a:gd name="adj" fmla="val 4948"/>
            </a:avLst>
          </a:prstGeom>
          <a:solidFill>
            <a:srgbClr val="F8F9FA"/>
          </a:solidFill>
          <a:ln w="254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2" name="Shape 25"/>
          <p:cNvSpPr/>
          <p:nvPr/>
        </p:nvSpPr>
        <p:spPr>
          <a:xfrm>
            <a:off x="733349" y="4246474"/>
            <a:ext cx="342900" cy="342900"/>
          </a:xfrm>
          <a:prstGeom prst="roundRect">
            <a:avLst>
              <a:gd name="adj" fmla="val 118519"/>
            </a:avLst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28446" y="4341571"/>
            <a:ext cx="152705" cy="152705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1190549" y="4317797"/>
            <a:ext cx="167792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Reportes Integrados</a:t>
            </a:r>
            <a:endParaRPr lang="en-US" sz="1200" dirty="0"/>
          </a:p>
        </p:txBody>
      </p:sp>
      <p:sp>
        <p:nvSpPr>
          <p:cNvPr id="35" name="Shape 27"/>
          <p:cNvSpPr/>
          <p:nvPr/>
        </p:nvSpPr>
        <p:spPr>
          <a:xfrm>
            <a:off x="733349" y="4732020"/>
            <a:ext cx="5057546" cy="485546"/>
          </a:xfrm>
          <a:prstGeom prst="roundRect">
            <a:avLst>
              <a:gd name="adj" fmla="val 4431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6" name="Shape 28"/>
          <p:cNvSpPr/>
          <p:nvPr/>
        </p:nvSpPr>
        <p:spPr>
          <a:xfrm>
            <a:off x="733349" y="4732020"/>
            <a:ext cx="28346" cy="485546"/>
          </a:xfrm>
          <a:prstGeom prst="roundRect">
            <a:avLst>
              <a:gd name="adj" fmla="val 759024"/>
            </a:avLst>
          </a:prstGeom>
          <a:solidFill>
            <a:srgbClr val="FFC107"/>
          </a:solidFill>
          <a:ln w="12700">
            <a:solidFill>
              <a:srgbClr val="FFC10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7" name="Shape 29"/>
          <p:cNvSpPr/>
          <p:nvPr/>
        </p:nvSpPr>
        <p:spPr>
          <a:xfrm>
            <a:off x="838505" y="4827118"/>
            <a:ext cx="190195" cy="190195"/>
          </a:xfrm>
          <a:prstGeom prst="roundRect">
            <a:avLst>
              <a:gd name="adj" fmla="val 192308"/>
            </a:avLst>
          </a:prstGeom>
          <a:solidFill>
            <a:srgbClr val="FFC10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9"/>
          <a:srcRect t="-870" b="-870"/>
          <a:stretch/>
        </p:blipFill>
        <p:spPr>
          <a:xfrm>
            <a:off x="881482" y="4874666"/>
            <a:ext cx="105156" cy="95098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1123798" y="4807915"/>
            <a:ext cx="45912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Visualización en PRs</a:t>
            </a:r>
            <a:endParaRPr lang="en-US" sz="900" dirty="0"/>
          </a:p>
        </p:txBody>
      </p:sp>
      <p:sp>
        <p:nvSpPr>
          <p:cNvPr id="40" name="Text 31"/>
          <p:cNvSpPr txBox="1"/>
          <p:nvPr/>
        </p:nvSpPr>
        <p:spPr>
          <a:xfrm>
            <a:off x="1123798" y="4988966"/>
            <a:ext cx="45912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Reportes visuales directamente en los Pull Requests</a:t>
            </a:r>
            <a:endParaRPr lang="en-US" sz="900" dirty="0"/>
          </a:p>
        </p:txBody>
      </p:sp>
      <p:sp>
        <p:nvSpPr>
          <p:cNvPr id="41" name="Shape 32"/>
          <p:cNvSpPr/>
          <p:nvPr/>
        </p:nvSpPr>
        <p:spPr>
          <a:xfrm>
            <a:off x="733349" y="5309006"/>
            <a:ext cx="5057546" cy="485546"/>
          </a:xfrm>
          <a:prstGeom prst="roundRect">
            <a:avLst>
              <a:gd name="adj" fmla="val 4431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2" name="Shape 33"/>
          <p:cNvSpPr/>
          <p:nvPr/>
        </p:nvSpPr>
        <p:spPr>
          <a:xfrm>
            <a:off x="733349" y="5309006"/>
            <a:ext cx="28346" cy="485546"/>
          </a:xfrm>
          <a:prstGeom prst="roundRect">
            <a:avLst>
              <a:gd name="adj" fmla="val 759024"/>
            </a:avLst>
          </a:prstGeom>
          <a:solidFill>
            <a:srgbClr val="FFC107"/>
          </a:solidFill>
          <a:ln w="12700">
            <a:solidFill>
              <a:srgbClr val="FFC10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3" name="Shape 34"/>
          <p:cNvSpPr/>
          <p:nvPr/>
        </p:nvSpPr>
        <p:spPr>
          <a:xfrm>
            <a:off x="838505" y="5404104"/>
            <a:ext cx="190195" cy="190195"/>
          </a:xfrm>
          <a:prstGeom prst="roundRect">
            <a:avLst>
              <a:gd name="adj" fmla="val 192308"/>
            </a:avLst>
          </a:prstGeom>
          <a:solidFill>
            <a:srgbClr val="FFC10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44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886054" y="5451653"/>
            <a:ext cx="95098" cy="95098"/>
          </a:xfrm>
          <a:prstGeom prst="rect">
            <a:avLst/>
          </a:prstGeom>
        </p:spPr>
      </p:pic>
      <p:sp>
        <p:nvSpPr>
          <p:cNvPr id="45" name="Text 35"/>
          <p:cNvSpPr txBox="1"/>
          <p:nvPr/>
        </p:nvSpPr>
        <p:spPr>
          <a:xfrm>
            <a:off x="1123798" y="5384902"/>
            <a:ext cx="45912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del Pipeline</a:t>
            </a:r>
            <a:endParaRPr lang="en-US" sz="900" dirty="0"/>
          </a:p>
        </p:txBody>
      </p:sp>
      <p:sp>
        <p:nvSpPr>
          <p:cNvPr id="46" name="Text 36"/>
          <p:cNvSpPr txBox="1"/>
          <p:nvPr/>
        </p:nvSpPr>
        <p:spPr>
          <a:xfrm>
            <a:off x="1123798" y="5565953"/>
            <a:ext cx="45912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Métricas de calidad y seguridad en tiempo real</a:t>
            </a:r>
            <a:endParaRPr lang="en-US" sz="900" dirty="0"/>
          </a:p>
        </p:txBody>
      </p:sp>
      <p:sp>
        <p:nvSpPr>
          <p:cNvPr id="47" name="Shape 37"/>
          <p:cNvSpPr/>
          <p:nvPr/>
        </p:nvSpPr>
        <p:spPr>
          <a:xfrm>
            <a:off x="6238951" y="1495044"/>
            <a:ext cx="5381244" cy="2400300"/>
          </a:xfrm>
          <a:prstGeom prst="roundRect">
            <a:avLst>
              <a:gd name="adj" fmla="val 3023"/>
            </a:avLst>
          </a:prstGeom>
          <a:solidFill>
            <a:srgbClr val="F8F9FA"/>
          </a:solidFill>
          <a:ln w="254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8" name="Shape 38"/>
          <p:cNvSpPr/>
          <p:nvPr/>
        </p:nvSpPr>
        <p:spPr>
          <a:xfrm>
            <a:off x="6400800" y="1657807"/>
            <a:ext cx="342900" cy="342900"/>
          </a:xfrm>
          <a:prstGeom prst="roundRect">
            <a:avLst>
              <a:gd name="adj" fmla="val 118519"/>
            </a:avLst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49" name="Image 8" descr="preencoded.png"/>
          <p:cNvPicPr>
            <a:picLocks noChangeAspect="1"/>
          </p:cNvPicPr>
          <p:nvPr/>
        </p:nvPicPr>
        <p:blipFill>
          <a:blip r:embed="rId11"/>
          <a:srcRect l="-33" r="-33"/>
          <a:stretch/>
        </p:blipFill>
        <p:spPr>
          <a:xfrm>
            <a:off x="6486754" y="1752905"/>
            <a:ext cx="171907" cy="152705"/>
          </a:xfrm>
          <a:prstGeom prst="rect">
            <a:avLst/>
          </a:prstGeom>
        </p:spPr>
      </p:pic>
      <p:sp>
        <p:nvSpPr>
          <p:cNvPr id="50" name="Text 39"/>
          <p:cNvSpPr txBox="1"/>
          <p:nvPr/>
        </p:nvSpPr>
        <p:spPr>
          <a:xfrm>
            <a:off x="6858000" y="1729130"/>
            <a:ext cx="168889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 y Dependencias</a:t>
            </a:r>
            <a:endParaRPr lang="en-US" sz="1200" dirty="0"/>
          </a:p>
        </p:txBody>
      </p:sp>
      <p:sp>
        <p:nvSpPr>
          <p:cNvPr id="51" name="Shape 40"/>
          <p:cNvSpPr/>
          <p:nvPr/>
        </p:nvSpPr>
        <p:spPr>
          <a:xfrm>
            <a:off x="6400800" y="2143354"/>
            <a:ext cx="2486254" cy="676656"/>
          </a:xfrm>
          <a:prstGeom prst="roundRect">
            <a:avLst>
              <a:gd name="adj" fmla="val 2284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2" name="Text 41"/>
          <p:cNvSpPr txBox="1"/>
          <p:nvPr/>
        </p:nvSpPr>
        <p:spPr>
          <a:xfrm>
            <a:off x="6505956" y="2247595"/>
            <a:ext cx="22768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 Analysis</a:t>
            </a:r>
            <a:endParaRPr lang="en-US" sz="900" dirty="0"/>
          </a:p>
        </p:txBody>
      </p:sp>
      <p:sp>
        <p:nvSpPr>
          <p:cNvPr id="53" name="Text 42"/>
          <p:cNvSpPr txBox="1"/>
          <p:nvPr/>
        </p:nvSpPr>
        <p:spPr>
          <a:xfrm>
            <a:off x="6505956" y="2438705"/>
            <a:ext cx="22768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Análisis de dependencias vulnerables en el código</a:t>
            </a:r>
            <a:endParaRPr lang="en-US" sz="800" dirty="0"/>
          </a:p>
        </p:txBody>
      </p:sp>
      <p:sp>
        <p:nvSpPr>
          <p:cNvPr id="54" name="Shape 43"/>
          <p:cNvSpPr/>
          <p:nvPr/>
        </p:nvSpPr>
        <p:spPr>
          <a:xfrm>
            <a:off x="8977579" y="2143354"/>
            <a:ext cx="2486254" cy="676656"/>
          </a:xfrm>
          <a:prstGeom prst="roundRect">
            <a:avLst>
              <a:gd name="adj" fmla="val 2284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5" name="Text 44"/>
          <p:cNvSpPr txBox="1"/>
          <p:nvPr/>
        </p:nvSpPr>
        <p:spPr>
          <a:xfrm>
            <a:off x="9081821" y="2247595"/>
            <a:ext cx="22768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CodeBuild</a:t>
            </a:r>
            <a:endParaRPr lang="en-US" sz="900" dirty="0"/>
          </a:p>
        </p:txBody>
      </p:sp>
      <p:sp>
        <p:nvSpPr>
          <p:cNvPr id="56" name="Text 45"/>
          <p:cNvSpPr txBox="1"/>
          <p:nvPr/>
        </p:nvSpPr>
        <p:spPr>
          <a:xfrm>
            <a:off x="9081821" y="2438705"/>
            <a:ext cx="260604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Ejecución automática en cada commit y PR</a:t>
            </a:r>
            <a:endParaRPr lang="en-US" sz="800" dirty="0"/>
          </a:p>
        </p:txBody>
      </p:sp>
      <p:sp>
        <p:nvSpPr>
          <p:cNvPr id="57" name="Shape 46"/>
          <p:cNvSpPr/>
          <p:nvPr/>
        </p:nvSpPr>
        <p:spPr>
          <a:xfrm>
            <a:off x="6400800" y="2910535"/>
            <a:ext cx="2486254" cy="543154"/>
          </a:xfrm>
          <a:prstGeom prst="roundRect">
            <a:avLst>
              <a:gd name="adj" fmla="val 35442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8" name="Text 47"/>
          <p:cNvSpPr txBox="1"/>
          <p:nvPr/>
        </p:nvSpPr>
        <p:spPr>
          <a:xfrm>
            <a:off x="6505956" y="3015691"/>
            <a:ext cx="22768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Vulnerability Scan</a:t>
            </a:r>
            <a:endParaRPr lang="en-US" sz="900" dirty="0"/>
          </a:p>
        </p:txBody>
      </p:sp>
      <p:sp>
        <p:nvSpPr>
          <p:cNvPr id="59" name="Text 48"/>
          <p:cNvSpPr txBox="1"/>
          <p:nvPr/>
        </p:nvSpPr>
        <p:spPr>
          <a:xfrm>
            <a:off x="6505956" y="3205886"/>
            <a:ext cx="22768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Escaneo de librerías de terceros</a:t>
            </a:r>
            <a:endParaRPr lang="en-US" sz="800" dirty="0"/>
          </a:p>
        </p:txBody>
      </p:sp>
      <p:sp>
        <p:nvSpPr>
          <p:cNvPr id="60" name="Shape 49"/>
          <p:cNvSpPr/>
          <p:nvPr/>
        </p:nvSpPr>
        <p:spPr>
          <a:xfrm>
            <a:off x="8977579" y="2910535"/>
            <a:ext cx="2486254" cy="543154"/>
          </a:xfrm>
          <a:prstGeom prst="roundRect">
            <a:avLst>
              <a:gd name="adj" fmla="val 35442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1" name="Text 50"/>
          <p:cNvSpPr txBox="1"/>
          <p:nvPr/>
        </p:nvSpPr>
        <p:spPr>
          <a:xfrm>
            <a:off x="9081821" y="3015691"/>
            <a:ext cx="22768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CI/CD Integration</a:t>
            </a:r>
            <a:endParaRPr lang="en-US" sz="900" dirty="0"/>
          </a:p>
        </p:txBody>
      </p:sp>
      <p:sp>
        <p:nvSpPr>
          <p:cNvPr id="62" name="Text 51"/>
          <p:cNvSpPr txBox="1"/>
          <p:nvPr/>
        </p:nvSpPr>
        <p:spPr>
          <a:xfrm>
            <a:off x="9081821" y="3205886"/>
            <a:ext cx="22768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Integración continua con el pipeline</a:t>
            </a:r>
            <a:endParaRPr lang="en-US" sz="800" dirty="0"/>
          </a:p>
        </p:txBody>
      </p:sp>
      <p:sp>
        <p:nvSpPr>
          <p:cNvPr id="63" name="Shape 52"/>
          <p:cNvSpPr/>
          <p:nvPr/>
        </p:nvSpPr>
        <p:spPr>
          <a:xfrm>
            <a:off x="6400800" y="3622853"/>
            <a:ext cx="75895" cy="75895"/>
          </a:xfrm>
          <a:prstGeom prst="ellipse">
            <a:avLst/>
          </a:prstGeom>
          <a:solidFill>
            <a:srgbClr val="4CAF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4" name="Text 53"/>
          <p:cNvSpPr txBox="1"/>
          <p:nvPr/>
        </p:nvSpPr>
        <p:spPr>
          <a:xfrm>
            <a:off x="6524244" y="3589934"/>
            <a:ext cx="427939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Seguro</a:t>
            </a:r>
            <a:endParaRPr lang="en-US" sz="800" dirty="0"/>
          </a:p>
        </p:txBody>
      </p:sp>
      <p:sp>
        <p:nvSpPr>
          <p:cNvPr id="65" name="Shape 54"/>
          <p:cNvSpPr/>
          <p:nvPr/>
        </p:nvSpPr>
        <p:spPr>
          <a:xfrm>
            <a:off x="6930238" y="3622853"/>
            <a:ext cx="75895" cy="75895"/>
          </a:xfrm>
          <a:prstGeom prst="ellipse">
            <a:avLst/>
          </a:prstGeom>
          <a:solidFill>
            <a:srgbClr val="FFC10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6" name="Text 55"/>
          <p:cNvSpPr txBox="1"/>
          <p:nvPr/>
        </p:nvSpPr>
        <p:spPr>
          <a:xfrm>
            <a:off x="7053682" y="3589934"/>
            <a:ext cx="56052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Revisión</a:t>
            </a:r>
            <a:endParaRPr lang="en-US" sz="800" dirty="0"/>
          </a:p>
        </p:txBody>
      </p:sp>
      <p:sp>
        <p:nvSpPr>
          <p:cNvPr id="67" name="Shape 56"/>
          <p:cNvSpPr/>
          <p:nvPr/>
        </p:nvSpPr>
        <p:spPr>
          <a:xfrm>
            <a:off x="7510882" y="3622853"/>
            <a:ext cx="75895" cy="75895"/>
          </a:xfrm>
          <a:prstGeom prst="ellipse">
            <a:avLst/>
          </a:prstGeom>
          <a:solidFill>
            <a:srgbClr val="F443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8" name="Text 57"/>
          <p:cNvSpPr txBox="1"/>
          <p:nvPr/>
        </p:nvSpPr>
        <p:spPr>
          <a:xfrm>
            <a:off x="7634326" y="3589934"/>
            <a:ext cx="4864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Crítico</a:t>
            </a:r>
            <a:endParaRPr lang="en-US" sz="800" dirty="0"/>
          </a:p>
        </p:txBody>
      </p:sp>
      <p:sp>
        <p:nvSpPr>
          <p:cNvPr id="69" name="Shape 58"/>
          <p:cNvSpPr/>
          <p:nvPr/>
        </p:nvSpPr>
        <p:spPr>
          <a:xfrm>
            <a:off x="6238951" y="4037990"/>
            <a:ext cx="5381244" cy="1876349"/>
          </a:xfrm>
          <a:prstGeom prst="roundRect">
            <a:avLst>
              <a:gd name="adj" fmla="val 4948"/>
            </a:avLst>
          </a:prstGeom>
          <a:solidFill>
            <a:srgbClr val="F8F9FA"/>
          </a:solidFill>
          <a:ln w="254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0" name="Shape 59"/>
          <p:cNvSpPr/>
          <p:nvPr/>
        </p:nvSpPr>
        <p:spPr>
          <a:xfrm>
            <a:off x="6400800" y="4199839"/>
            <a:ext cx="342900" cy="342900"/>
          </a:xfrm>
          <a:prstGeom prst="roundRect">
            <a:avLst>
              <a:gd name="adj" fmla="val 118519"/>
            </a:avLst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71" name="Image 9" descr="preencoded.png"/>
          <p:cNvPicPr>
            <a:picLocks noChangeAspect="1"/>
          </p:cNvPicPr>
          <p:nvPr/>
        </p:nvPicPr>
        <p:blipFill>
          <a:blip r:embed="rId12"/>
          <a:srcRect t="-180" b="-180"/>
          <a:stretch/>
        </p:blipFill>
        <p:spPr>
          <a:xfrm>
            <a:off x="6476695" y="4294937"/>
            <a:ext cx="190195" cy="152705"/>
          </a:xfrm>
          <a:prstGeom prst="rect">
            <a:avLst/>
          </a:prstGeom>
        </p:spPr>
      </p:pic>
      <p:sp>
        <p:nvSpPr>
          <p:cNvPr id="72" name="Text 60"/>
          <p:cNvSpPr txBox="1"/>
          <p:nvPr/>
        </p:nvSpPr>
        <p:spPr>
          <a:xfrm>
            <a:off x="6858000" y="4271162"/>
            <a:ext cx="231251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Automatización del Pipeline</a:t>
            </a:r>
            <a:endParaRPr lang="en-US" sz="1200" dirty="0"/>
          </a:p>
        </p:txBody>
      </p:sp>
      <p:sp>
        <p:nvSpPr>
          <p:cNvPr id="73" name="Shape 61"/>
          <p:cNvSpPr/>
          <p:nvPr/>
        </p:nvSpPr>
        <p:spPr>
          <a:xfrm>
            <a:off x="6400800" y="4685386"/>
            <a:ext cx="5057546" cy="485546"/>
          </a:xfrm>
          <a:prstGeom prst="roundRect">
            <a:avLst>
              <a:gd name="adj" fmla="val 4431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4" name="Shape 62"/>
          <p:cNvSpPr/>
          <p:nvPr/>
        </p:nvSpPr>
        <p:spPr>
          <a:xfrm>
            <a:off x="6400800" y="4685386"/>
            <a:ext cx="28346" cy="485546"/>
          </a:xfrm>
          <a:prstGeom prst="roundRect">
            <a:avLst>
              <a:gd name="adj" fmla="val 759024"/>
            </a:avLst>
          </a:prstGeom>
          <a:solidFill>
            <a:srgbClr val="FFC107"/>
          </a:solidFill>
          <a:ln w="12700">
            <a:solidFill>
              <a:srgbClr val="FFC10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5" name="Shape 63"/>
          <p:cNvSpPr/>
          <p:nvPr/>
        </p:nvSpPr>
        <p:spPr>
          <a:xfrm>
            <a:off x="6505956" y="4780483"/>
            <a:ext cx="190195" cy="190195"/>
          </a:xfrm>
          <a:prstGeom prst="roundRect">
            <a:avLst>
              <a:gd name="adj" fmla="val 192308"/>
            </a:avLst>
          </a:prstGeom>
          <a:solidFill>
            <a:srgbClr val="FFC10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76" name="Image 10" descr="preencoded.png"/>
          <p:cNvPicPr>
            <a:picLocks noChangeAspect="1"/>
          </p:cNvPicPr>
          <p:nvPr/>
        </p:nvPicPr>
        <p:blipFill>
          <a:blip r:embed="rId13"/>
          <a:srcRect l="-1648" r="-1648"/>
          <a:stretch/>
        </p:blipFill>
        <p:spPr>
          <a:xfrm>
            <a:off x="6558077" y="4828032"/>
            <a:ext cx="85954" cy="95098"/>
          </a:xfrm>
          <a:prstGeom prst="rect">
            <a:avLst/>
          </a:prstGeom>
        </p:spPr>
      </p:pic>
      <p:sp>
        <p:nvSpPr>
          <p:cNvPr id="77" name="Text 64"/>
          <p:cNvSpPr txBox="1"/>
          <p:nvPr/>
        </p:nvSpPr>
        <p:spPr>
          <a:xfrm>
            <a:off x="6791249" y="4761281"/>
            <a:ext cx="45912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Integración con CodeBuild</a:t>
            </a:r>
            <a:endParaRPr lang="en-US" sz="900" dirty="0"/>
          </a:p>
        </p:txBody>
      </p:sp>
      <p:sp>
        <p:nvSpPr>
          <p:cNvPr id="78" name="Text 65"/>
          <p:cNvSpPr txBox="1"/>
          <p:nvPr/>
        </p:nvSpPr>
        <p:spPr>
          <a:xfrm>
            <a:off x="6791249" y="4942332"/>
            <a:ext cx="45912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Ejecución automática de análisis en cada commit y PR</a:t>
            </a:r>
            <a:endParaRPr lang="en-US" sz="900" dirty="0"/>
          </a:p>
        </p:txBody>
      </p:sp>
      <p:sp>
        <p:nvSpPr>
          <p:cNvPr id="79" name="Shape 66"/>
          <p:cNvSpPr/>
          <p:nvPr/>
        </p:nvSpPr>
        <p:spPr>
          <a:xfrm>
            <a:off x="6400800" y="5262372"/>
            <a:ext cx="5057546" cy="485546"/>
          </a:xfrm>
          <a:prstGeom prst="roundRect">
            <a:avLst>
              <a:gd name="adj" fmla="val 4431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0" name="Shape 67"/>
          <p:cNvSpPr/>
          <p:nvPr/>
        </p:nvSpPr>
        <p:spPr>
          <a:xfrm>
            <a:off x="6400800" y="5262372"/>
            <a:ext cx="28346" cy="485546"/>
          </a:xfrm>
          <a:prstGeom prst="roundRect">
            <a:avLst>
              <a:gd name="adj" fmla="val 759024"/>
            </a:avLst>
          </a:prstGeom>
          <a:solidFill>
            <a:srgbClr val="FFC107"/>
          </a:solidFill>
          <a:ln w="12700">
            <a:solidFill>
              <a:srgbClr val="FFC10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1" name="Shape 68"/>
          <p:cNvSpPr/>
          <p:nvPr/>
        </p:nvSpPr>
        <p:spPr>
          <a:xfrm>
            <a:off x="6505956" y="5357470"/>
            <a:ext cx="190195" cy="190195"/>
          </a:xfrm>
          <a:prstGeom prst="roundRect">
            <a:avLst>
              <a:gd name="adj" fmla="val 192308"/>
            </a:avLst>
          </a:prstGeom>
          <a:solidFill>
            <a:srgbClr val="FFC10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82" name="Image 11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6553505" y="5405018"/>
            <a:ext cx="95098" cy="95098"/>
          </a:xfrm>
          <a:prstGeom prst="rect">
            <a:avLst/>
          </a:prstGeom>
        </p:spPr>
      </p:pic>
      <p:sp>
        <p:nvSpPr>
          <p:cNvPr id="83" name="Text 69"/>
          <p:cNvSpPr txBox="1"/>
          <p:nvPr/>
        </p:nvSpPr>
        <p:spPr>
          <a:xfrm>
            <a:off x="6791249" y="5338267"/>
            <a:ext cx="45912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Actualización Continua</a:t>
            </a:r>
            <a:endParaRPr lang="en-US" sz="900" dirty="0"/>
          </a:p>
        </p:txBody>
      </p:sp>
      <p:sp>
        <p:nvSpPr>
          <p:cNvPr id="84" name="Text 70"/>
          <p:cNvSpPr txBox="1"/>
          <p:nvPr/>
        </p:nvSpPr>
        <p:spPr>
          <a:xfrm>
            <a:off x="6791249" y="5519318"/>
            <a:ext cx="45912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Mantenimiento de la base de datos de vulnerabilidades</a:t>
            </a:r>
            <a:endParaRPr lang="en-US" sz="900" dirty="0"/>
          </a:p>
        </p:txBody>
      </p:sp>
      <p:pic>
        <p:nvPicPr>
          <p:cNvPr id="85" name="Image 12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571500" y="6534302"/>
            <a:ext cx="114300" cy="114300"/>
          </a:xfrm>
          <a:prstGeom prst="rect">
            <a:avLst/>
          </a:prstGeom>
        </p:spPr>
      </p:pic>
      <p:sp>
        <p:nvSpPr>
          <p:cNvPr id="86" name="Text 71"/>
          <p:cNvSpPr txBox="1"/>
          <p:nvPr/>
        </p:nvSpPr>
        <p:spPr>
          <a:xfrm>
            <a:off x="780898" y="6515100"/>
            <a:ext cx="217627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DevSecOps en AWS - Proyecto 2026</a:t>
            </a:r>
            <a:endParaRPr lang="en-US" sz="900" dirty="0"/>
          </a:p>
        </p:txBody>
      </p:sp>
      <p:sp>
        <p:nvSpPr>
          <p:cNvPr id="87" name="Text 72"/>
          <p:cNvSpPr txBox="1"/>
          <p:nvPr/>
        </p:nvSpPr>
        <p:spPr>
          <a:xfrm>
            <a:off x="9529877" y="6515100"/>
            <a:ext cx="249448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Equipo: Narciso, Caleb, Rodrigo, Natanael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0" y="761695"/>
            <a:ext cx="12191695" cy="5524805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 txBox="1"/>
          <p:nvPr/>
        </p:nvSpPr>
        <p:spPr>
          <a:xfrm>
            <a:off x="4439412" y="1047902"/>
            <a:ext cx="7181698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Flujo de Despliegue Continuo </a:t>
            </a:r>
            <a:endParaRPr lang="en-US" sz="2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-5786" b="-5786"/>
          <a:stretch/>
        </p:blipFill>
        <p:spPr>
          <a:xfrm>
            <a:off x="4060850" y="1100023"/>
            <a:ext cx="209398" cy="26700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71500" y="1686154"/>
            <a:ext cx="11048695" cy="3124505"/>
          </a:xfrm>
          <a:prstGeom prst="roundRect">
            <a:avLst>
              <a:gd name="adj" fmla="val 2141"/>
            </a:avLst>
          </a:prstGeom>
          <a:solidFill>
            <a:srgbClr val="FFFFFF"/>
          </a:solidFill>
          <a:ln w="25400">
            <a:solidFill>
              <a:srgbClr val="E0E0E0"/>
            </a:solidFill>
            <a:prstDash val="solid"/>
          </a:ln>
          <a:effectLst>
            <a:outerShdw blurRad="1397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8" name="Shape 5"/>
          <p:cNvSpPr/>
          <p:nvPr/>
        </p:nvSpPr>
        <p:spPr>
          <a:xfrm>
            <a:off x="875995" y="1990649"/>
            <a:ext cx="1705356" cy="1904695"/>
          </a:xfrm>
          <a:prstGeom prst="roundRect">
            <a:avLst>
              <a:gd name="adj" fmla="val 4793"/>
            </a:avLst>
          </a:prstGeom>
          <a:solidFill>
            <a:srgbClr val="F8F9FA"/>
          </a:solidFill>
          <a:ln w="254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Shape 6"/>
          <p:cNvSpPr/>
          <p:nvPr/>
        </p:nvSpPr>
        <p:spPr>
          <a:xfrm>
            <a:off x="1613002" y="1914754"/>
            <a:ext cx="228600" cy="22860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7"/>
          <p:cNvSpPr/>
          <p:nvPr/>
        </p:nvSpPr>
        <p:spPr>
          <a:xfrm>
            <a:off x="1613002" y="1914754"/>
            <a:ext cx="2286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1536192" y="2200046"/>
            <a:ext cx="381305" cy="381305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 t="-30480" b="-30480"/>
          <a:stretch/>
        </p:blipFill>
        <p:spPr>
          <a:xfrm>
            <a:off x="1660550" y="2305202"/>
            <a:ext cx="133502" cy="17190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990295" y="2676449"/>
            <a:ext cx="14767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990295" y="2905049"/>
            <a:ext cx="147675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CodeCommit/GitHub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Repositorio con webhooks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1506017" y="3486607"/>
            <a:ext cx="448056" cy="200254"/>
          </a:xfrm>
          <a:prstGeom prst="roundRect">
            <a:avLst>
              <a:gd name="adj" fmla="val 456620"/>
            </a:avLst>
          </a:prstGeom>
          <a:solidFill>
            <a:srgbClr val="E8F5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2"/>
          <p:cNvSpPr/>
          <p:nvPr/>
        </p:nvSpPr>
        <p:spPr>
          <a:xfrm>
            <a:off x="1506017" y="3486607"/>
            <a:ext cx="448056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Activo</a:t>
            </a:r>
            <a:endParaRPr lang="en-US" sz="800" dirty="0"/>
          </a:p>
        </p:txBody>
      </p:sp>
      <p:sp>
        <p:nvSpPr>
          <p:cNvPr id="17" name="Text 13"/>
          <p:cNvSpPr txBox="1"/>
          <p:nvPr/>
        </p:nvSpPr>
        <p:spPr>
          <a:xfrm>
            <a:off x="2720340" y="2790749"/>
            <a:ext cx="20025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3060497" y="1990649"/>
            <a:ext cx="1705356" cy="1904695"/>
          </a:xfrm>
          <a:prstGeom prst="roundRect">
            <a:avLst>
              <a:gd name="adj" fmla="val 4793"/>
            </a:avLst>
          </a:prstGeom>
          <a:solidFill>
            <a:srgbClr val="F8F9FA"/>
          </a:solidFill>
          <a:ln w="254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Shape 15"/>
          <p:cNvSpPr/>
          <p:nvPr/>
        </p:nvSpPr>
        <p:spPr>
          <a:xfrm>
            <a:off x="3797503" y="1914754"/>
            <a:ext cx="228600" cy="22860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6"/>
          <p:cNvSpPr/>
          <p:nvPr/>
        </p:nvSpPr>
        <p:spPr>
          <a:xfrm>
            <a:off x="3797503" y="1914754"/>
            <a:ext cx="2286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3720694" y="2200046"/>
            <a:ext cx="381305" cy="381305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rcRect t="-22432" b="-22432"/>
          <a:stretch/>
        </p:blipFill>
        <p:spPr>
          <a:xfrm>
            <a:off x="3845052" y="2305202"/>
            <a:ext cx="133502" cy="171907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3174797" y="2676449"/>
            <a:ext cx="14767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</a:t>
            </a:r>
            <a:endParaRPr lang="en-US" sz="1000" dirty="0"/>
          </a:p>
        </p:txBody>
      </p:sp>
      <p:sp>
        <p:nvSpPr>
          <p:cNvPr id="24" name="Text 19"/>
          <p:cNvSpPr txBox="1"/>
          <p:nvPr/>
        </p:nvSpPr>
        <p:spPr>
          <a:xfrm>
            <a:off x="3174797" y="2905049"/>
            <a:ext cx="147675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CodeBuild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Tests, lint y SonarQube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3549701" y="3486607"/>
            <a:ext cx="724205" cy="200254"/>
          </a:xfrm>
          <a:prstGeom prst="roundRect">
            <a:avLst>
              <a:gd name="adj" fmla="val 456620"/>
            </a:avLst>
          </a:prstGeom>
          <a:solidFill>
            <a:srgbClr val="E8F5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Text 21"/>
          <p:cNvSpPr/>
          <p:nvPr/>
        </p:nvSpPr>
        <p:spPr>
          <a:xfrm>
            <a:off x="3549701" y="3486607"/>
            <a:ext cx="724205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Completado</a:t>
            </a:r>
            <a:endParaRPr lang="en-US" sz="800" dirty="0"/>
          </a:p>
        </p:txBody>
      </p:sp>
      <p:sp>
        <p:nvSpPr>
          <p:cNvPr id="27" name="Text 22"/>
          <p:cNvSpPr txBox="1"/>
          <p:nvPr/>
        </p:nvSpPr>
        <p:spPr>
          <a:xfrm>
            <a:off x="4904842" y="2790749"/>
            <a:ext cx="20025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3"/>
          <p:cNvSpPr/>
          <p:nvPr/>
        </p:nvSpPr>
        <p:spPr>
          <a:xfrm>
            <a:off x="5244998" y="1990649"/>
            <a:ext cx="1705356" cy="1904695"/>
          </a:xfrm>
          <a:prstGeom prst="roundRect">
            <a:avLst>
              <a:gd name="adj" fmla="val 4793"/>
            </a:avLst>
          </a:prstGeom>
          <a:solidFill>
            <a:srgbClr val="F8F9FA"/>
          </a:solidFill>
          <a:ln w="254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Shape 24"/>
          <p:cNvSpPr/>
          <p:nvPr/>
        </p:nvSpPr>
        <p:spPr>
          <a:xfrm>
            <a:off x="5982005" y="1914754"/>
            <a:ext cx="228600" cy="22860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Text 25"/>
          <p:cNvSpPr/>
          <p:nvPr/>
        </p:nvSpPr>
        <p:spPr>
          <a:xfrm>
            <a:off x="5982005" y="1914754"/>
            <a:ext cx="2286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00" dirty="0"/>
          </a:p>
        </p:txBody>
      </p:sp>
      <p:sp>
        <p:nvSpPr>
          <p:cNvPr id="31" name="Shape 26"/>
          <p:cNvSpPr/>
          <p:nvPr/>
        </p:nvSpPr>
        <p:spPr>
          <a:xfrm>
            <a:off x="5905195" y="2200046"/>
            <a:ext cx="381305" cy="381305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rcRect t="-6336" b="-6336"/>
          <a:stretch/>
        </p:blipFill>
        <p:spPr>
          <a:xfrm>
            <a:off x="6029554" y="2305202"/>
            <a:ext cx="133502" cy="171907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5359298" y="2676449"/>
            <a:ext cx="14767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STAGING</a:t>
            </a:r>
            <a:endParaRPr lang="en-US" sz="1000" dirty="0"/>
          </a:p>
        </p:txBody>
      </p:sp>
      <p:sp>
        <p:nvSpPr>
          <p:cNvPr id="34" name="Text 28"/>
          <p:cNvSpPr txBox="1"/>
          <p:nvPr/>
        </p:nvSpPr>
        <p:spPr>
          <a:xfrm>
            <a:off x="5359298" y="2905049"/>
            <a:ext cx="147675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Despliegue a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entorno de pruebas</a:t>
            </a:r>
            <a:endParaRPr lang="en-US" sz="900" dirty="0"/>
          </a:p>
        </p:txBody>
      </p:sp>
      <p:sp>
        <p:nvSpPr>
          <p:cNvPr id="35" name="Shape 29"/>
          <p:cNvSpPr/>
          <p:nvPr/>
        </p:nvSpPr>
        <p:spPr>
          <a:xfrm>
            <a:off x="5911596" y="3486607"/>
            <a:ext cx="371246" cy="200254"/>
          </a:xfrm>
          <a:prstGeom prst="roundRect">
            <a:avLst>
              <a:gd name="adj" fmla="val 456620"/>
            </a:avLst>
          </a:prstGeom>
          <a:solidFill>
            <a:srgbClr val="E8F5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6" name="Text 30"/>
          <p:cNvSpPr/>
          <p:nvPr/>
        </p:nvSpPr>
        <p:spPr>
          <a:xfrm>
            <a:off x="5911596" y="3486607"/>
            <a:ext cx="372161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Listo</a:t>
            </a:r>
            <a:endParaRPr lang="en-US" sz="800" dirty="0"/>
          </a:p>
        </p:txBody>
      </p:sp>
      <p:sp>
        <p:nvSpPr>
          <p:cNvPr id="37" name="Text 31"/>
          <p:cNvSpPr txBox="1"/>
          <p:nvPr/>
        </p:nvSpPr>
        <p:spPr>
          <a:xfrm>
            <a:off x="7089343" y="2790749"/>
            <a:ext cx="20025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38" name="Shape 32"/>
          <p:cNvSpPr/>
          <p:nvPr/>
        </p:nvSpPr>
        <p:spPr>
          <a:xfrm>
            <a:off x="7429500" y="1990649"/>
            <a:ext cx="1705356" cy="1904695"/>
          </a:xfrm>
          <a:prstGeom prst="roundRect">
            <a:avLst>
              <a:gd name="adj" fmla="val 4793"/>
            </a:avLst>
          </a:prstGeom>
          <a:solidFill>
            <a:srgbClr val="F8F9FA"/>
          </a:solidFill>
          <a:ln w="254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9" name="Shape 33"/>
          <p:cNvSpPr/>
          <p:nvPr/>
        </p:nvSpPr>
        <p:spPr>
          <a:xfrm>
            <a:off x="8166506" y="1914754"/>
            <a:ext cx="228600" cy="22860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0" name="Text 34"/>
          <p:cNvSpPr/>
          <p:nvPr/>
        </p:nvSpPr>
        <p:spPr>
          <a:xfrm>
            <a:off x="8166506" y="1914754"/>
            <a:ext cx="2286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900" dirty="0"/>
          </a:p>
        </p:txBody>
      </p:sp>
      <p:sp>
        <p:nvSpPr>
          <p:cNvPr id="41" name="Shape 35"/>
          <p:cNvSpPr/>
          <p:nvPr/>
        </p:nvSpPr>
        <p:spPr>
          <a:xfrm>
            <a:off x="8089697" y="2200046"/>
            <a:ext cx="381305" cy="381305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42" name="Image 4" descr="preencoded.png"/>
          <p:cNvPicPr>
            <a:picLocks noChangeAspect="1"/>
          </p:cNvPicPr>
          <p:nvPr/>
        </p:nvPicPr>
        <p:blipFill>
          <a:blip r:embed="rId7"/>
          <a:srcRect t="-14384" b="-14384"/>
          <a:stretch/>
        </p:blipFill>
        <p:spPr>
          <a:xfrm>
            <a:off x="8214055" y="2305202"/>
            <a:ext cx="133502" cy="171907"/>
          </a:xfrm>
          <a:prstGeom prst="rect">
            <a:avLst/>
          </a:prstGeom>
        </p:spPr>
      </p:pic>
      <p:sp>
        <p:nvSpPr>
          <p:cNvPr id="43" name="Text 36"/>
          <p:cNvSpPr txBox="1"/>
          <p:nvPr/>
        </p:nvSpPr>
        <p:spPr>
          <a:xfrm>
            <a:off x="7543800" y="2676449"/>
            <a:ext cx="14767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APPROVAL</a:t>
            </a:r>
            <a:endParaRPr lang="en-US" sz="1000" dirty="0"/>
          </a:p>
        </p:txBody>
      </p:sp>
      <p:sp>
        <p:nvSpPr>
          <p:cNvPr id="44" name="Text 37"/>
          <p:cNvSpPr txBox="1"/>
          <p:nvPr/>
        </p:nvSpPr>
        <p:spPr>
          <a:xfrm>
            <a:off x="7543800" y="2905049"/>
            <a:ext cx="147675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Aprobación manual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opcional</a:t>
            </a:r>
            <a:endParaRPr lang="en-US" sz="900" dirty="0"/>
          </a:p>
        </p:txBody>
      </p:sp>
      <p:sp>
        <p:nvSpPr>
          <p:cNvPr id="45" name="Shape 38"/>
          <p:cNvSpPr/>
          <p:nvPr/>
        </p:nvSpPr>
        <p:spPr>
          <a:xfrm>
            <a:off x="7974482" y="3486607"/>
            <a:ext cx="619049" cy="200254"/>
          </a:xfrm>
          <a:prstGeom prst="roundRect">
            <a:avLst>
              <a:gd name="adj" fmla="val 456620"/>
            </a:avLst>
          </a:prstGeom>
          <a:solidFill>
            <a:srgbClr val="FFF3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6" name="Text 39"/>
          <p:cNvSpPr/>
          <p:nvPr/>
        </p:nvSpPr>
        <p:spPr>
          <a:xfrm>
            <a:off x="7974482" y="3486607"/>
            <a:ext cx="619963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57C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Pendiente</a:t>
            </a:r>
            <a:endParaRPr lang="en-US" sz="800" dirty="0"/>
          </a:p>
        </p:txBody>
      </p:sp>
      <p:sp>
        <p:nvSpPr>
          <p:cNvPr id="47" name="Text 40"/>
          <p:cNvSpPr txBox="1"/>
          <p:nvPr/>
        </p:nvSpPr>
        <p:spPr>
          <a:xfrm>
            <a:off x="9273845" y="2790749"/>
            <a:ext cx="20025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48" name="Shape 41"/>
          <p:cNvSpPr/>
          <p:nvPr/>
        </p:nvSpPr>
        <p:spPr>
          <a:xfrm>
            <a:off x="9614002" y="1990649"/>
            <a:ext cx="1705356" cy="1904695"/>
          </a:xfrm>
          <a:prstGeom prst="roundRect">
            <a:avLst>
              <a:gd name="adj" fmla="val 4793"/>
            </a:avLst>
          </a:prstGeom>
          <a:solidFill>
            <a:srgbClr val="F8F9FA"/>
          </a:solidFill>
          <a:ln w="254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9" name="Shape 42"/>
          <p:cNvSpPr/>
          <p:nvPr/>
        </p:nvSpPr>
        <p:spPr>
          <a:xfrm>
            <a:off x="10351008" y="1914754"/>
            <a:ext cx="228600" cy="22860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0" name="Text 43"/>
          <p:cNvSpPr/>
          <p:nvPr/>
        </p:nvSpPr>
        <p:spPr>
          <a:xfrm>
            <a:off x="10351008" y="1914754"/>
            <a:ext cx="2286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900" dirty="0"/>
          </a:p>
        </p:txBody>
      </p:sp>
      <p:sp>
        <p:nvSpPr>
          <p:cNvPr id="51" name="Shape 44"/>
          <p:cNvSpPr/>
          <p:nvPr/>
        </p:nvSpPr>
        <p:spPr>
          <a:xfrm>
            <a:off x="10274198" y="2200046"/>
            <a:ext cx="381305" cy="381305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52" name="Image 5" descr="preencoded.png"/>
          <p:cNvPicPr>
            <a:picLocks noChangeAspect="1"/>
          </p:cNvPicPr>
          <p:nvPr/>
        </p:nvPicPr>
        <p:blipFill>
          <a:blip r:embed="rId8"/>
          <a:srcRect t="-14384" b="-14384"/>
          <a:stretch/>
        </p:blipFill>
        <p:spPr>
          <a:xfrm>
            <a:off x="10398557" y="2305202"/>
            <a:ext cx="133502" cy="171907"/>
          </a:xfrm>
          <a:prstGeom prst="rect">
            <a:avLst/>
          </a:prstGeom>
        </p:spPr>
      </p:pic>
      <p:sp>
        <p:nvSpPr>
          <p:cNvPr id="53" name="Text 45"/>
          <p:cNvSpPr txBox="1"/>
          <p:nvPr/>
        </p:nvSpPr>
        <p:spPr>
          <a:xfrm>
            <a:off x="9728302" y="2676449"/>
            <a:ext cx="14767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</a:t>
            </a:r>
            <a:endParaRPr lang="en-US" sz="1000" dirty="0"/>
          </a:p>
        </p:txBody>
      </p:sp>
      <p:sp>
        <p:nvSpPr>
          <p:cNvPr id="54" name="Text 46"/>
          <p:cNvSpPr txBox="1"/>
          <p:nvPr/>
        </p:nvSpPr>
        <p:spPr>
          <a:xfrm>
            <a:off x="9728302" y="2905049"/>
            <a:ext cx="147675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Systems Manager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Despliegue a producción</a:t>
            </a:r>
            <a:endParaRPr lang="en-US" sz="900" dirty="0"/>
          </a:p>
        </p:txBody>
      </p:sp>
      <p:sp>
        <p:nvSpPr>
          <p:cNvPr id="55" name="Shape 47"/>
          <p:cNvSpPr/>
          <p:nvPr/>
        </p:nvSpPr>
        <p:spPr>
          <a:xfrm>
            <a:off x="10244023" y="3486607"/>
            <a:ext cx="448056" cy="200254"/>
          </a:xfrm>
          <a:prstGeom prst="roundRect">
            <a:avLst>
              <a:gd name="adj" fmla="val 456620"/>
            </a:avLst>
          </a:prstGeom>
          <a:solidFill>
            <a:srgbClr val="E8F5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6" name="Text 48"/>
          <p:cNvSpPr/>
          <p:nvPr/>
        </p:nvSpPr>
        <p:spPr>
          <a:xfrm>
            <a:off x="10244023" y="3486607"/>
            <a:ext cx="448056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Activo</a:t>
            </a:r>
            <a:endParaRPr lang="en-US" sz="800" dirty="0"/>
          </a:p>
        </p:txBody>
      </p:sp>
      <p:pic>
        <p:nvPicPr>
          <p:cNvPr id="57" name="Image 6" descr="preencoded.png"/>
          <p:cNvPicPr>
            <a:picLocks noChangeAspect="1"/>
          </p:cNvPicPr>
          <p:nvPr/>
        </p:nvPicPr>
        <p:blipFill>
          <a:blip r:embed="rId9"/>
          <a:srcRect l="-202" r="-202"/>
          <a:stretch/>
        </p:blipFill>
        <p:spPr>
          <a:xfrm>
            <a:off x="875995" y="4181551"/>
            <a:ext cx="10439705" cy="75895"/>
          </a:xfrm>
          <a:prstGeom prst="rect">
            <a:avLst/>
          </a:prstGeom>
        </p:spPr>
      </p:pic>
      <p:pic>
        <p:nvPicPr>
          <p:cNvPr id="58" name="Image 7" descr="preencoded.png"/>
          <p:cNvPicPr>
            <a:picLocks noChangeAspect="1"/>
          </p:cNvPicPr>
          <p:nvPr/>
        </p:nvPicPr>
        <p:blipFill>
          <a:blip r:embed="rId10"/>
          <a:srcRect l="-200" r="-200"/>
          <a:stretch/>
        </p:blipFill>
        <p:spPr>
          <a:xfrm>
            <a:off x="875995" y="4181551"/>
            <a:ext cx="8873338" cy="75895"/>
          </a:xfrm>
          <a:prstGeom prst="rect">
            <a:avLst/>
          </a:prstGeom>
        </p:spPr>
      </p:pic>
      <p:sp>
        <p:nvSpPr>
          <p:cNvPr id="59" name="Text 49"/>
          <p:cNvSpPr txBox="1"/>
          <p:nvPr/>
        </p:nvSpPr>
        <p:spPr>
          <a:xfrm>
            <a:off x="875995" y="4352544"/>
            <a:ext cx="104397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Progreso del pipeline: 85% completado</a:t>
            </a:r>
            <a:endParaRPr lang="en-US" sz="900" dirty="0"/>
          </a:p>
        </p:txBody>
      </p:sp>
      <p:sp>
        <p:nvSpPr>
          <p:cNvPr id="60" name="Shape 50"/>
          <p:cNvSpPr/>
          <p:nvPr/>
        </p:nvSpPr>
        <p:spPr>
          <a:xfrm>
            <a:off x="571500" y="5000854"/>
            <a:ext cx="5429707" cy="1181405"/>
          </a:xfrm>
          <a:prstGeom prst="roundRect">
            <a:avLst>
              <a:gd name="adj" fmla="val 998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1" name="Shape 51"/>
          <p:cNvSpPr/>
          <p:nvPr/>
        </p:nvSpPr>
        <p:spPr>
          <a:xfrm>
            <a:off x="771754" y="5201107"/>
            <a:ext cx="304495" cy="304495"/>
          </a:xfrm>
          <a:prstGeom prst="roundRect">
            <a:avLst>
              <a:gd name="adj" fmla="val 112613"/>
            </a:avLst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62" name="Image 8" descr="preencoded.png"/>
          <p:cNvPicPr>
            <a:picLocks noChangeAspect="1"/>
          </p:cNvPicPr>
          <p:nvPr/>
        </p:nvPicPr>
        <p:blipFill>
          <a:blip r:embed="rId11"/>
          <a:srcRect t="-13478" b="-13478"/>
          <a:stretch/>
        </p:blipFill>
        <p:spPr>
          <a:xfrm>
            <a:off x="871423" y="5286146"/>
            <a:ext cx="105156" cy="133502"/>
          </a:xfrm>
          <a:prstGeom prst="rect">
            <a:avLst/>
          </a:prstGeom>
        </p:spPr>
      </p:pic>
      <p:sp>
        <p:nvSpPr>
          <p:cNvPr id="63" name="Text 52"/>
          <p:cNvSpPr txBox="1"/>
          <p:nvPr/>
        </p:nvSpPr>
        <p:spPr>
          <a:xfrm>
            <a:off x="1171346" y="5253228"/>
            <a:ext cx="171175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Despliegues Rápidos</a:t>
            </a:r>
            <a:endParaRPr lang="en-US" sz="1200" dirty="0"/>
          </a:p>
        </p:txBody>
      </p:sp>
      <p:sp>
        <p:nvSpPr>
          <p:cNvPr id="64" name="Text 53"/>
          <p:cNvSpPr txBox="1"/>
          <p:nvPr/>
        </p:nvSpPr>
        <p:spPr>
          <a:xfrm>
            <a:off x="771754" y="5600700"/>
            <a:ext cx="50292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Reducción del tiempo de despliegue de horas a minutos mediante automatización completa del pipeline CI/CD.</a:t>
            </a:r>
            <a:endParaRPr lang="en-US" sz="1000" dirty="0"/>
          </a:p>
        </p:txBody>
      </p:sp>
      <p:sp>
        <p:nvSpPr>
          <p:cNvPr id="65" name="Shape 54"/>
          <p:cNvSpPr/>
          <p:nvPr/>
        </p:nvSpPr>
        <p:spPr>
          <a:xfrm>
            <a:off x="6191402" y="5000854"/>
            <a:ext cx="5429707" cy="1181405"/>
          </a:xfrm>
          <a:prstGeom prst="roundRect">
            <a:avLst>
              <a:gd name="adj" fmla="val 998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6" name="Shape 55"/>
          <p:cNvSpPr/>
          <p:nvPr/>
        </p:nvSpPr>
        <p:spPr>
          <a:xfrm>
            <a:off x="6391656" y="5201107"/>
            <a:ext cx="304495" cy="304495"/>
          </a:xfrm>
          <a:prstGeom prst="roundRect">
            <a:avLst>
              <a:gd name="adj" fmla="val 112613"/>
            </a:avLst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67" name="Image 9" descr="preencoded.png"/>
          <p:cNvPicPr>
            <a:picLocks noChangeAspect="1"/>
          </p:cNvPicPr>
          <p:nvPr/>
        </p:nvPicPr>
        <p:blipFill>
          <a:blip r:embed="rId12"/>
          <a:srcRect t="-13478" b="-13478"/>
          <a:stretch/>
        </p:blipFill>
        <p:spPr>
          <a:xfrm>
            <a:off x="6491326" y="5286146"/>
            <a:ext cx="105156" cy="133502"/>
          </a:xfrm>
          <a:prstGeom prst="rect">
            <a:avLst/>
          </a:prstGeom>
        </p:spPr>
      </p:pic>
      <p:sp>
        <p:nvSpPr>
          <p:cNvPr id="68" name="Text 56"/>
          <p:cNvSpPr txBox="1"/>
          <p:nvPr/>
        </p:nvSpPr>
        <p:spPr>
          <a:xfrm>
            <a:off x="6791249" y="5253228"/>
            <a:ext cx="140634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Mayor Confianza</a:t>
            </a:r>
            <a:endParaRPr lang="en-US" sz="1200" dirty="0"/>
          </a:p>
        </p:txBody>
      </p:sp>
      <p:sp>
        <p:nvSpPr>
          <p:cNvPr id="69" name="Text 57"/>
          <p:cNvSpPr txBox="1"/>
          <p:nvPr/>
        </p:nvSpPr>
        <p:spPr>
          <a:xfrm>
            <a:off x="6391656" y="5600700"/>
            <a:ext cx="50292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Reducción de errores manuales mediante pruebas automatizadas y validación continua del código.</a:t>
            </a:r>
            <a:endParaRPr lang="en-US" sz="1000" dirty="0"/>
          </a:p>
        </p:txBody>
      </p:sp>
      <p:sp>
        <p:nvSpPr>
          <p:cNvPr id="70" name="Shape 58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71" name="Image 10" descr="preencoded.png"/>
          <p:cNvPicPr>
            <a:picLocks noChangeAspect="1"/>
          </p:cNvPicPr>
          <p:nvPr/>
        </p:nvPicPr>
        <p:blipFill>
          <a:blip r:embed="rId13"/>
          <a:srcRect t="-29348" b="-29348"/>
          <a:stretch/>
        </p:blipFill>
        <p:spPr>
          <a:xfrm>
            <a:off x="571500" y="6505956"/>
            <a:ext cx="105156" cy="133502"/>
          </a:xfrm>
          <a:prstGeom prst="rect">
            <a:avLst/>
          </a:prstGeom>
        </p:spPr>
      </p:pic>
      <p:sp>
        <p:nvSpPr>
          <p:cNvPr id="72" name="Text 59"/>
          <p:cNvSpPr txBox="1"/>
          <p:nvPr/>
        </p:nvSpPr>
        <p:spPr>
          <a:xfrm>
            <a:off x="771754" y="6482182"/>
            <a:ext cx="298185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Equipo: </a:t>
            </a:r>
            <a:r>
              <a:rPr lang="en-US" sz="1000" b="1" dirty="0">
                <a:solidFill>
                  <a:srgbClr val="FFC10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Narciso, Caleb, Rodrigo, Natanael</a:t>
            </a:r>
            <a:endParaRPr lang="en-US" sz="1000" dirty="0"/>
          </a:p>
        </p:txBody>
      </p:sp>
      <p:sp>
        <p:nvSpPr>
          <p:cNvPr id="73" name="Text 60"/>
          <p:cNvSpPr txBox="1"/>
          <p:nvPr/>
        </p:nvSpPr>
        <p:spPr>
          <a:xfrm>
            <a:off x="10766146" y="6482182"/>
            <a:ext cx="8193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Mayo 2026</a:t>
            </a:r>
            <a:endParaRPr lang="en-US" sz="1000" dirty="0"/>
          </a:p>
        </p:txBody>
      </p:sp>
      <p:pic>
        <p:nvPicPr>
          <p:cNvPr id="74" name="Image 11" descr="preencoded.png"/>
          <p:cNvPicPr>
            <a:picLocks noChangeAspect="1"/>
          </p:cNvPicPr>
          <p:nvPr/>
        </p:nvPicPr>
        <p:blipFill>
          <a:blip r:embed="rId14"/>
          <a:srcRect t="-5544" b="-5544"/>
          <a:stretch/>
        </p:blipFill>
        <p:spPr>
          <a:xfrm>
            <a:off x="11515954" y="6505956"/>
            <a:ext cx="105156" cy="133502"/>
          </a:xfrm>
          <a:prstGeom prst="rect">
            <a:avLst/>
          </a:prstGeom>
        </p:spPr>
      </p:pic>
      <p:pic>
        <p:nvPicPr>
          <p:cNvPr id="75" name="Image 12" descr="preencoded.png"/>
          <p:cNvPicPr>
            <a:picLocks noChangeAspect="1"/>
          </p:cNvPicPr>
          <p:nvPr/>
        </p:nvPicPr>
        <p:blipFill>
          <a:blip r:embed="rId15"/>
          <a:srcRect l="-19" r="-19"/>
          <a:stretch/>
        </p:blipFill>
        <p:spPr>
          <a:xfrm>
            <a:off x="0" y="0"/>
            <a:ext cx="12191695" cy="761695"/>
          </a:xfrm>
          <a:prstGeom prst="rect">
            <a:avLst/>
          </a:prstGeom>
        </p:spPr>
      </p:pic>
      <p:sp>
        <p:nvSpPr>
          <p:cNvPr id="76" name="Shape 61"/>
          <p:cNvSpPr/>
          <p:nvPr/>
        </p:nvSpPr>
        <p:spPr>
          <a:xfrm>
            <a:off x="571500" y="142646"/>
            <a:ext cx="476402" cy="476402"/>
          </a:xfrm>
          <a:prstGeom prst="roundRect">
            <a:avLst>
              <a:gd name="adj" fmla="val 6142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7" name="Text 62"/>
          <p:cNvSpPr txBox="1"/>
          <p:nvPr/>
        </p:nvSpPr>
        <p:spPr>
          <a:xfrm>
            <a:off x="571500" y="142646"/>
            <a:ext cx="476402" cy="4764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</a:t>
            </a:r>
            <a:endParaRPr lang="en-US" sz="1800" dirty="0"/>
          </a:p>
        </p:txBody>
      </p:sp>
      <p:sp>
        <p:nvSpPr>
          <p:cNvPr id="78" name="Text 63"/>
          <p:cNvSpPr txBox="1"/>
          <p:nvPr/>
        </p:nvSpPr>
        <p:spPr>
          <a:xfrm>
            <a:off x="1190549" y="228600"/>
            <a:ext cx="470550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Pipelines CI/CD con AWS CodePipeline</a:t>
            </a:r>
            <a:endParaRPr lang="en-US" sz="1800" dirty="0"/>
          </a:p>
        </p:txBody>
      </p:sp>
      <p:sp>
        <p:nvSpPr>
          <p:cNvPr id="79" name="Shape 64"/>
          <p:cNvSpPr/>
          <p:nvPr/>
        </p:nvSpPr>
        <p:spPr>
          <a:xfrm>
            <a:off x="10397642" y="333756"/>
            <a:ext cx="95098" cy="95098"/>
          </a:xfrm>
          <a:prstGeom prst="ellipse">
            <a:avLst/>
          </a:prstGeom>
          <a:solidFill>
            <a:srgbClr val="4CAF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0" name="Text 65"/>
          <p:cNvSpPr txBox="1"/>
          <p:nvPr/>
        </p:nvSpPr>
        <p:spPr>
          <a:xfrm>
            <a:off x="10759745" y="290779"/>
            <a:ext cx="125089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Sistema Activo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571500" y="1228954"/>
            <a:ext cx="11048695" cy="28346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 txBox="1"/>
          <p:nvPr/>
        </p:nvSpPr>
        <p:spPr>
          <a:xfrm>
            <a:off x="571500" y="381305"/>
            <a:ext cx="95454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Pruebas Automatizadas para Mayor Estabilidad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886054"/>
            <a:ext cx="76014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Implementación de testing automatizado en el pipeline CI/CD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l="30750" r="30750"/>
          <a:stretch/>
        </p:blipFill>
        <p:spPr>
          <a:xfrm>
            <a:off x="10185502" y="448056"/>
            <a:ext cx="571500" cy="5715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852099" y="448056"/>
            <a:ext cx="77175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Tecmilenio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71500" y="1543507"/>
            <a:ext cx="5381244" cy="6724498"/>
          </a:xfrm>
          <a:prstGeom prst="roundRect">
            <a:avLst>
              <a:gd name="adj" fmla="val 601"/>
            </a:avLst>
          </a:prstGeom>
          <a:solidFill>
            <a:srgbClr val="F8F9FA"/>
          </a:solidFill>
          <a:ln w="254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7"/>
          <p:cNvSpPr txBox="1"/>
          <p:nvPr/>
        </p:nvSpPr>
        <p:spPr>
          <a:xfrm>
            <a:off x="1067105" y="1800454"/>
            <a:ext cx="46771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Niveles de Pruebas </a:t>
            </a:r>
            <a:endParaRPr lang="en-US" sz="15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80898" y="1833372"/>
            <a:ext cx="190195" cy="190195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80898" y="2247595"/>
            <a:ext cx="2409444" cy="942746"/>
          </a:xfrm>
          <a:prstGeom prst="roundRect">
            <a:avLst>
              <a:gd name="adj" fmla="val 15676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3" name="Shape 9"/>
          <p:cNvSpPr/>
          <p:nvPr/>
        </p:nvSpPr>
        <p:spPr>
          <a:xfrm>
            <a:off x="780898" y="2247595"/>
            <a:ext cx="38405" cy="942746"/>
          </a:xfrm>
          <a:prstGeom prst="roundRect">
            <a:avLst>
              <a:gd name="adj" fmla="val 384798"/>
            </a:avLst>
          </a:prstGeom>
          <a:solidFill>
            <a:srgbClr val="1B5E20"/>
          </a:solidFill>
          <a:ln w="12700">
            <a:solidFill>
              <a:srgbClr val="1B5E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Shape 10"/>
          <p:cNvSpPr/>
          <p:nvPr/>
        </p:nvSpPr>
        <p:spPr>
          <a:xfrm>
            <a:off x="961949" y="2391156"/>
            <a:ext cx="228600" cy="22860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1"/>
          <p:cNvSpPr/>
          <p:nvPr/>
        </p:nvSpPr>
        <p:spPr>
          <a:xfrm>
            <a:off x="961949" y="2391156"/>
            <a:ext cx="2286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1266444" y="2414930"/>
            <a:ext cx="82570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Unitarias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961949" y="2695651"/>
            <a:ext cx="2086661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Pruebas de componentes individuales y funciones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3333902" y="2247595"/>
            <a:ext cx="2409444" cy="942746"/>
          </a:xfrm>
          <a:prstGeom prst="roundRect">
            <a:avLst>
              <a:gd name="adj" fmla="val 15676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9" name="Shape 15"/>
          <p:cNvSpPr/>
          <p:nvPr/>
        </p:nvSpPr>
        <p:spPr>
          <a:xfrm>
            <a:off x="3333902" y="2247595"/>
            <a:ext cx="38405" cy="942746"/>
          </a:xfrm>
          <a:prstGeom prst="roundRect">
            <a:avLst>
              <a:gd name="adj" fmla="val 384798"/>
            </a:avLst>
          </a:prstGeom>
          <a:solidFill>
            <a:srgbClr val="1B5E20"/>
          </a:solidFill>
          <a:ln w="12700">
            <a:solidFill>
              <a:srgbClr val="1B5E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Shape 16"/>
          <p:cNvSpPr/>
          <p:nvPr/>
        </p:nvSpPr>
        <p:spPr>
          <a:xfrm>
            <a:off x="3514954" y="2391156"/>
            <a:ext cx="228600" cy="22860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7"/>
          <p:cNvSpPr/>
          <p:nvPr/>
        </p:nvSpPr>
        <p:spPr>
          <a:xfrm>
            <a:off x="3514954" y="2391156"/>
            <a:ext cx="2286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00" dirty="0"/>
          </a:p>
        </p:txBody>
      </p:sp>
      <p:sp>
        <p:nvSpPr>
          <p:cNvPr id="22" name="Text 18"/>
          <p:cNvSpPr txBox="1"/>
          <p:nvPr/>
        </p:nvSpPr>
        <p:spPr>
          <a:xfrm>
            <a:off x="3819449" y="2414930"/>
            <a:ext cx="101407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Integración</a:t>
            </a:r>
            <a:endParaRPr lang="en-US" sz="1000" dirty="0"/>
          </a:p>
        </p:txBody>
      </p:sp>
      <p:sp>
        <p:nvSpPr>
          <p:cNvPr id="23" name="Text 19"/>
          <p:cNvSpPr txBox="1"/>
          <p:nvPr/>
        </p:nvSpPr>
        <p:spPr>
          <a:xfrm>
            <a:off x="3514954" y="2695651"/>
            <a:ext cx="2086661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Validación de interfaces entre módulos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780898" y="3328416"/>
            <a:ext cx="2409444" cy="771754"/>
          </a:xfrm>
          <a:prstGeom prst="roundRect">
            <a:avLst>
              <a:gd name="adj" fmla="val 23404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5" name="Shape 21"/>
          <p:cNvSpPr/>
          <p:nvPr/>
        </p:nvSpPr>
        <p:spPr>
          <a:xfrm>
            <a:off x="780898" y="3328416"/>
            <a:ext cx="38405" cy="771754"/>
          </a:xfrm>
          <a:prstGeom prst="roundRect">
            <a:avLst>
              <a:gd name="adj" fmla="val 470309"/>
            </a:avLst>
          </a:prstGeom>
          <a:solidFill>
            <a:srgbClr val="1B5E20"/>
          </a:solidFill>
          <a:ln w="12700">
            <a:solidFill>
              <a:srgbClr val="1B5E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Shape 22"/>
          <p:cNvSpPr/>
          <p:nvPr/>
        </p:nvSpPr>
        <p:spPr>
          <a:xfrm>
            <a:off x="961949" y="3471062"/>
            <a:ext cx="228600" cy="22860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Text 23"/>
          <p:cNvSpPr/>
          <p:nvPr/>
        </p:nvSpPr>
        <p:spPr>
          <a:xfrm>
            <a:off x="961949" y="3471062"/>
            <a:ext cx="2286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00" dirty="0"/>
          </a:p>
        </p:txBody>
      </p:sp>
      <p:sp>
        <p:nvSpPr>
          <p:cNvPr id="28" name="Text 24"/>
          <p:cNvSpPr txBox="1"/>
          <p:nvPr/>
        </p:nvSpPr>
        <p:spPr>
          <a:xfrm>
            <a:off x="1266444" y="3494837"/>
            <a:ext cx="74066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Contract</a:t>
            </a:r>
            <a:endParaRPr lang="en-US" sz="1000" dirty="0"/>
          </a:p>
        </p:txBody>
      </p:sp>
      <p:sp>
        <p:nvSpPr>
          <p:cNvPr id="29" name="Text 25"/>
          <p:cNvSpPr txBox="1"/>
          <p:nvPr/>
        </p:nvSpPr>
        <p:spPr>
          <a:xfrm>
            <a:off x="961949" y="3775558"/>
            <a:ext cx="246156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Verificación de APIs y contratos</a:t>
            </a:r>
            <a:endParaRPr lang="en-US" sz="900" dirty="0"/>
          </a:p>
        </p:txBody>
      </p:sp>
      <p:sp>
        <p:nvSpPr>
          <p:cNvPr id="30" name="Shape 26"/>
          <p:cNvSpPr/>
          <p:nvPr/>
        </p:nvSpPr>
        <p:spPr>
          <a:xfrm>
            <a:off x="3333902" y="3328416"/>
            <a:ext cx="2409444" cy="771754"/>
          </a:xfrm>
          <a:prstGeom prst="roundRect">
            <a:avLst>
              <a:gd name="adj" fmla="val 23404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1" name="Shape 27"/>
          <p:cNvSpPr/>
          <p:nvPr/>
        </p:nvSpPr>
        <p:spPr>
          <a:xfrm>
            <a:off x="3333902" y="3328416"/>
            <a:ext cx="38405" cy="771754"/>
          </a:xfrm>
          <a:prstGeom prst="roundRect">
            <a:avLst>
              <a:gd name="adj" fmla="val 470309"/>
            </a:avLst>
          </a:prstGeom>
          <a:solidFill>
            <a:srgbClr val="1B5E20"/>
          </a:solidFill>
          <a:ln w="12700">
            <a:solidFill>
              <a:srgbClr val="1B5E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2" name="Shape 28"/>
          <p:cNvSpPr/>
          <p:nvPr/>
        </p:nvSpPr>
        <p:spPr>
          <a:xfrm>
            <a:off x="3514954" y="3471062"/>
            <a:ext cx="228600" cy="22860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3" name="Text 29"/>
          <p:cNvSpPr/>
          <p:nvPr/>
        </p:nvSpPr>
        <p:spPr>
          <a:xfrm>
            <a:off x="3514954" y="3471062"/>
            <a:ext cx="2286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900" dirty="0"/>
          </a:p>
        </p:txBody>
      </p:sp>
      <p:sp>
        <p:nvSpPr>
          <p:cNvPr id="34" name="Text 30"/>
          <p:cNvSpPr txBox="1"/>
          <p:nvPr/>
        </p:nvSpPr>
        <p:spPr>
          <a:xfrm>
            <a:off x="3819449" y="3494837"/>
            <a:ext cx="47548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Smoke</a:t>
            </a:r>
            <a:endParaRPr lang="en-US" sz="1000" dirty="0"/>
          </a:p>
        </p:txBody>
      </p:sp>
      <p:sp>
        <p:nvSpPr>
          <p:cNvPr id="35" name="Text 31"/>
          <p:cNvSpPr txBox="1"/>
          <p:nvPr/>
        </p:nvSpPr>
        <p:spPr>
          <a:xfrm>
            <a:off x="3514954" y="3775558"/>
            <a:ext cx="246156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Pruebas básicas de funcionalidad</a:t>
            </a:r>
            <a:endParaRPr lang="en-US" sz="900" dirty="0"/>
          </a:p>
        </p:txBody>
      </p:sp>
      <p:sp>
        <p:nvSpPr>
          <p:cNvPr id="36" name="Shape 32"/>
          <p:cNvSpPr/>
          <p:nvPr/>
        </p:nvSpPr>
        <p:spPr>
          <a:xfrm>
            <a:off x="780898" y="4425696"/>
            <a:ext cx="4962449" cy="3438144"/>
          </a:xfrm>
          <a:prstGeom prst="roundRect">
            <a:avLst>
              <a:gd name="adj" fmla="val 1179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7" name="Text 33"/>
          <p:cNvSpPr txBox="1"/>
          <p:nvPr/>
        </p:nvSpPr>
        <p:spPr>
          <a:xfrm>
            <a:off x="933602" y="4577486"/>
            <a:ext cx="46579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Cobertura de Pruebas</a:t>
            </a:r>
            <a:endParaRPr lang="en-US" sz="1000" dirty="0"/>
          </a:p>
        </p:txBody>
      </p:sp>
      <p:pic>
        <p:nvPicPr>
          <p:cNvPr id="38" name="Image 2" descr="preencoded.png"/>
          <p:cNvPicPr>
            <a:picLocks noChangeAspect="1"/>
          </p:cNvPicPr>
          <p:nvPr/>
        </p:nvPicPr>
        <p:blipFill>
          <a:blip r:embed="rId5"/>
          <a:srcRect l="-2" r="-2"/>
          <a:stretch/>
        </p:blipFill>
        <p:spPr>
          <a:xfrm>
            <a:off x="933602" y="4853635"/>
            <a:ext cx="4657954" cy="2857500"/>
          </a:xfrm>
          <a:prstGeom prst="rect">
            <a:avLst/>
          </a:prstGeom>
        </p:spPr>
      </p:pic>
      <p:sp>
        <p:nvSpPr>
          <p:cNvPr id="39" name="Shape 34"/>
          <p:cNvSpPr/>
          <p:nvPr/>
        </p:nvSpPr>
        <p:spPr>
          <a:xfrm>
            <a:off x="6238951" y="1543507"/>
            <a:ext cx="5381244" cy="1171346"/>
          </a:xfrm>
          <a:prstGeom prst="roundRect">
            <a:avLst>
              <a:gd name="adj" fmla="val 10155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0" name="Shape 35"/>
          <p:cNvSpPr/>
          <p:nvPr/>
        </p:nvSpPr>
        <p:spPr>
          <a:xfrm>
            <a:off x="6391656" y="1695298"/>
            <a:ext cx="267005" cy="267005"/>
          </a:xfrm>
          <a:prstGeom prst="roundRect">
            <a:avLst>
              <a:gd name="adj" fmla="val 97847"/>
            </a:avLst>
          </a:prstGeom>
          <a:solidFill>
            <a:srgbClr val="FFC10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41" name="Image 3" descr="preencoded.png"/>
          <p:cNvPicPr>
            <a:picLocks noChangeAspect="1"/>
          </p:cNvPicPr>
          <p:nvPr/>
        </p:nvPicPr>
        <p:blipFill>
          <a:blip r:embed="rId6"/>
          <a:srcRect l="-1507" r="-1507"/>
          <a:stretch/>
        </p:blipFill>
        <p:spPr>
          <a:xfrm>
            <a:off x="6439205" y="1762049"/>
            <a:ext cx="171907" cy="133502"/>
          </a:xfrm>
          <a:prstGeom prst="rect">
            <a:avLst/>
          </a:prstGeom>
        </p:spPr>
      </p:pic>
      <p:sp>
        <p:nvSpPr>
          <p:cNvPr id="42" name="Text 36"/>
          <p:cNvSpPr txBox="1"/>
          <p:nvPr/>
        </p:nvSpPr>
        <p:spPr>
          <a:xfrm>
            <a:off x="6772046" y="1738274"/>
            <a:ext cx="175747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Herramientas de Testing</a:t>
            </a:r>
            <a:endParaRPr lang="en-US" sz="1000" dirty="0"/>
          </a:p>
        </p:txBody>
      </p:sp>
      <p:sp>
        <p:nvSpPr>
          <p:cNvPr id="43" name="Text 37"/>
          <p:cNvSpPr txBox="1"/>
          <p:nvPr/>
        </p:nvSpPr>
        <p:spPr>
          <a:xfrm>
            <a:off x="6391656" y="2038198"/>
            <a:ext cx="5077663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• </a:t>
            </a:r>
            <a:r>
              <a:rPr lang="en-US" sz="900" b="1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pytest</a:t>
            </a: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para Python con reportes JUnit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• </a:t>
            </a:r>
            <a:r>
              <a:rPr lang="en-US" sz="900" b="1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Jest</a:t>
            </a: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para Node.js con cobertura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• </a:t>
            </a:r>
            <a:r>
              <a:rPr lang="en-US" sz="900" b="1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CodeBuild</a:t>
            </a: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con cache de dependencias </a:t>
            </a:r>
            <a:endParaRPr lang="en-US" sz="900" dirty="0"/>
          </a:p>
        </p:txBody>
      </p:sp>
      <p:sp>
        <p:nvSpPr>
          <p:cNvPr id="44" name="Shape 38"/>
          <p:cNvSpPr/>
          <p:nvPr/>
        </p:nvSpPr>
        <p:spPr>
          <a:xfrm>
            <a:off x="6238951" y="2853842"/>
            <a:ext cx="5381244" cy="1171346"/>
          </a:xfrm>
          <a:prstGeom prst="roundRect">
            <a:avLst>
              <a:gd name="adj" fmla="val 10155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5" name="Shape 39"/>
          <p:cNvSpPr/>
          <p:nvPr/>
        </p:nvSpPr>
        <p:spPr>
          <a:xfrm>
            <a:off x="6391656" y="3006547"/>
            <a:ext cx="267005" cy="267005"/>
          </a:xfrm>
          <a:prstGeom prst="roundRect">
            <a:avLst>
              <a:gd name="adj" fmla="val 97847"/>
            </a:avLst>
          </a:prstGeom>
          <a:solidFill>
            <a:srgbClr val="FFC10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46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458407" y="3073298"/>
            <a:ext cx="133502" cy="133502"/>
          </a:xfrm>
          <a:prstGeom prst="rect">
            <a:avLst/>
          </a:prstGeom>
        </p:spPr>
      </p:pic>
      <p:sp>
        <p:nvSpPr>
          <p:cNvPr id="47" name="Text 40"/>
          <p:cNvSpPr txBox="1"/>
          <p:nvPr/>
        </p:nvSpPr>
        <p:spPr>
          <a:xfrm>
            <a:off x="6772046" y="3048610"/>
            <a:ext cx="119695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Quality Gates</a:t>
            </a:r>
            <a:endParaRPr lang="en-US" sz="1000" dirty="0"/>
          </a:p>
        </p:txBody>
      </p:sp>
      <p:sp>
        <p:nvSpPr>
          <p:cNvPr id="48" name="Text 41"/>
          <p:cNvSpPr txBox="1"/>
          <p:nvPr/>
        </p:nvSpPr>
        <p:spPr>
          <a:xfrm>
            <a:off x="6391656" y="3349447"/>
            <a:ext cx="5077663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• Pipeline falla automáticamente si pruebas fallan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• </a:t>
            </a:r>
            <a:r>
              <a:rPr lang="en-US" sz="900" b="1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cfn-nag</a:t>
            </a: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</a:t>
            </a:r>
            <a:r>
              <a:rPr lang="en-US" sz="900" b="1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cfn-lint</a:t>
            </a: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para infraestructura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• </a:t>
            </a:r>
            <a:r>
              <a:rPr lang="en-US" sz="900" b="1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terraform validate</a:t>
            </a: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para IaC </a:t>
            </a:r>
            <a:endParaRPr lang="en-US" sz="900" dirty="0"/>
          </a:p>
        </p:txBody>
      </p:sp>
      <p:sp>
        <p:nvSpPr>
          <p:cNvPr id="49" name="Shape 42"/>
          <p:cNvSpPr/>
          <p:nvPr/>
        </p:nvSpPr>
        <p:spPr>
          <a:xfrm>
            <a:off x="6238951" y="4164178"/>
            <a:ext cx="5381244" cy="828446"/>
          </a:xfrm>
          <a:prstGeom prst="roundRect">
            <a:avLst>
              <a:gd name="adj" fmla="val 20299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0" name="Shape 43"/>
          <p:cNvSpPr/>
          <p:nvPr/>
        </p:nvSpPr>
        <p:spPr>
          <a:xfrm>
            <a:off x="6391656" y="4316882"/>
            <a:ext cx="267005" cy="267005"/>
          </a:xfrm>
          <a:prstGeom prst="roundRect">
            <a:avLst>
              <a:gd name="adj" fmla="val 97847"/>
            </a:avLst>
          </a:prstGeom>
          <a:solidFill>
            <a:srgbClr val="FFC10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51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458407" y="4383634"/>
            <a:ext cx="133502" cy="133502"/>
          </a:xfrm>
          <a:prstGeom prst="rect">
            <a:avLst/>
          </a:prstGeom>
        </p:spPr>
      </p:pic>
      <p:sp>
        <p:nvSpPr>
          <p:cNvPr id="52" name="Text 44"/>
          <p:cNvSpPr txBox="1"/>
          <p:nvPr/>
        </p:nvSpPr>
        <p:spPr>
          <a:xfrm>
            <a:off x="6772046" y="4359859"/>
            <a:ext cx="9198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Beneficios</a:t>
            </a:r>
            <a:endParaRPr lang="en-US" sz="1000" dirty="0"/>
          </a:p>
        </p:txBody>
      </p:sp>
      <p:sp>
        <p:nvSpPr>
          <p:cNvPr id="53" name="Text 45"/>
          <p:cNvSpPr txBox="1"/>
          <p:nvPr/>
        </p:nvSpPr>
        <p:spPr>
          <a:xfrm>
            <a:off x="6391656" y="4659782"/>
            <a:ext cx="57634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Mayor estabilidad y confiabilidad en producción con detección temprana de errores</a:t>
            </a:r>
            <a:endParaRPr lang="en-US" sz="900" dirty="0"/>
          </a:p>
        </p:txBody>
      </p:sp>
      <p:sp>
        <p:nvSpPr>
          <p:cNvPr id="54" name="Shape 46"/>
          <p:cNvSpPr/>
          <p:nvPr/>
        </p:nvSpPr>
        <p:spPr>
          <a:xfrm>
            <a:off x="6238951" y="5223967"/>
            <a:ext cx="5381244" cy="304495"/>
          </a:xfrm>
          <a:prstGeom prst="roundRect">
            <a:avLst>
              <a:gd name="adj" fmla="val 112613"/>
            </a:avLst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5" name="Text 47"/>
          <p:cNvSpPr txBox="1"/>
          <p:nvPr/>
        </p:nvSpPr>
        <p:spPr>
          <a:xfrm>
            <a:off x="6353251" y="5299862"/>
            <a:ext cx="14502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Cobertura objetivo:</a:t>
            </a:r>
            <a:endParaRPr lang="en-US" sz="900" dirty="0"/>
          </a:p>
        </p:txBody>
      </p:sp>
      <p:sp>
        <p:nvSpPr>
          <p:cNvPr id="56" name="Text 48"/>
          <p:cNvSpPr txBox="1"/>
          <p:nvPr/>
        </p:nvSpPr>
        <p:spPr>
          <a:xfrm>
            <a:off x="11205972" y="5299862"/>
            <a:ext cx="3054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70%+</a:t>
            </a:r>
            <a:endParaRPr lang="en-US" sz="900" dirty="0"/>
          </a:p>
        </p:txBody>
      </p:sp>
      <p:sp>
        <p:nvSpPr>
          <p:cNvPr id="57" name="Shape 49"/>
          <p:cNvSpPr/>
          <p:nvPr/>
        </p:nvSpPr>
        <p:spPr>
          <a:xfrm>
            <a:off x="571500" y="6553505"/>
            <a:ext cx="75895" cy="75895"/>
          </a:xfrm>
          <a:prstGeom prst="ellipse">
            <a:avLst/>
          </a:prstGeom>
          <a:solidFill>
            <a:srgbClr val="4CAF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8" name="Text 50"/>
          <p:cNvSpPr txBox="1"/>
          <p:nvPr/>
        </p:nvSpPr>
        <p:spPr>
          <a:xfrm>
            <a:off x="743407" y="6515100"/>
            <a:ext cx="196138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DevOps en AWS - Proyecto 2026</a:t>
            </a:r>
            <a:endParaRPr lang="en-US" sz="900" dirty="0"/>
          </a:p>
        </p:txBody>
      </p:sp>
      <p:sp>
        <p:nvSpPr>
          <p:cNvPr id="59" name="Text 51"/>
          <p:cNvSpPr txBox="1"/>
          <p:nvPr/>
        </p:nvSpPr>
        <p:spPr>
          <a:xfrm>
            <a:off x="9529877" y="6515100"/>
            <a:ext cx="249448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Equipo: Narciso, Caleb, Rodrigo, Natanael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571500" y="1228954"/>
            <a:ext cx="11048695" cy="28346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 txBox="1"/>
          <p:nvPr/>
        </p:nvSpPr>
        <p:spPr>
          <a:xfrm>
            <a:off x="571500" y="381305"/>
            <a:ext cx="93323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Alertas en CloudWatch para Respuesta Rápida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886054"/>
            <a:ext cx="74295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Monitoreo continuo y respuesta automatizada ante incidentes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l="30750" r="30750"/>
          <a:stretch/>
        </p:blipFill>
        <p:spPr>
          <a:xfrm>
            <a:off x="9993478" y="448056"/>
            <a:ext cx="571500" cy="5715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660075" y="448056"/>
            <a:ext cx="96286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Tecmilenio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71500" y="1543507"/>
            <a:ext cx="5381244" cy="5210251"/>
          </a:xfrm>
          <a:prstGeom prst="roundRect">
            <a:avLst>
              <a:gd name="adj" fmla="val 642"/>
            </a:avLst>
          </a:prstGeom>
          <a:solidFill>
            <a:srgbClr val="F8F9FA"/>
          </a:solidFill>
          <a:ln w="254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7"/>
          <p:cNvSpPr txBox="1"/>
          <p:nvPr/>
        </p:nvSpPr>
        <p:spPr>
          <a:xfrm>
            <a:off x="875995" y="1848002"/>
            <a:ext cx="477225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Configuración de Alarmas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875995" y="2391156"/>
            <a:ext cx="4772254" cy="1200607"/>
          </a:xfrm>
          <a:prstGeom prst="roundRect">
            <a:avLst>
              <a:gd name="adj" fmla="val 967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Shape 9"/>
          <p:cNvSpPr/>
          <p:nvPr/>
        </p:nvSpPr>
        <p:spPr>
          <a:xfrm>
            <a:off x="875995" y="2391156"/>
            <a:ext cx="38405" cy="1200607"/>
          </a:xfrm>
          <a:prstGeom prst="roundRect">
            <a:avLst>
              <a:gd name="adj" fmla="val 302342"/>
            </a:avLst>
          </a:prstGeom>
          <a:solidFill>
            <a:srgbClr val="FFC107"/>
          </a:solidFill>
          <a:ln w="12700">
            <a:solidFill>
              <a:srgbClr val="FFC10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Shape 10"/>
          <p:cNvSpPr/>
          <p:nvPr/>
        </p:nvSpPr>
        <p:spPr>
          <a:xfrm>
            <a:off x="1104595" y="2581351"/>
            <a:ext cx="267005" cy="267005"/>
          </a:xfrm>
          <a:prstGeom prst="ellipse">
            <a:avLst/>
          </a:prstGeom>
          <a:solidFill>
            <a:srgbClr val="FFC10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1"/>
          <p:cNvSpPr/>
          <p:nvPr/>
        </p:nvSpPr>
        <p:spPr>
          <a:xfrm>
            <a:off x="1104595" y="2581351"/>
            <a:ext cx="267005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🔥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1466698" y="2614270"/>
            <a:ext cx="132679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Alarmas de CPU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1104595" y="2943454"/>
            <a:ext cx="50392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Detección cuando CPU &gt; 80% en instancias EC2 con notificación SNS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104595" y="3281782"/>
            <a:ext cx="75895" cy="75895"/>
          </a:xfrm>
          <a:prstGeom prst="ellipse">
            <a:avLst/>
          </a:prstGeom>
          <a:solidFill>
            <a:srgbClr val="FFC10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5"/>
          <p:cNvSpPr txBox="1"/>
          <p:nvPr/>
        </p:nvSpPr>
        <p:spPr>
          <a:xfrm>
            <a:off x="1257300" y="3238805"/>
            <a:ext cx="189372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Umbral: 80% | Período: 5 min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875995" y="3819449"/>
            <a:ext cx="4772254" cy="1200607"/>
          </a:xfrm>
          <a:prstGeom prst="roundRect">
            <a:avLst>
              <a:gd name="adj" fmla="val 967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0" name="Shape 17"/>
          <p:cNvSpPr/>
          <p:nvPr/>
        </p:nvSpPr>
        <p:spPr>
          <a:xfrm>
            <a:off x="875995" y="3819449"/>
            <a:ext cx="38405" cy="1200607"/>
          </a:xfrm>
          <a:prstGeom prst="roundRect">
            <a:avLst>
              <a:gd name="adj" fmla="val 302342"/>
            </a:avLst>
          </a:prstGeom>
          <a:solidFill>
            <a:srgbClr val="FFC107"/>
          </a:solidFill>
          <a:ln w="12700">
            <a:solidFill>
              <a:srgbClr val="FFC10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Shape 18"/>
          <p:cNvSpPr/>
          <p:nvPr/>
        </p:nvSpPr>
        <p:spPr>
          <a:xfrm>
            <a:off x="1104595" y="4009644"/>
            <a:ext cx="267005" cy="267005"/>
          </a:xfrm>
          <a:prstGeom prst="ellipse">
            <a:avLst/>
          </a:prstGeom>
          <a:solidFill>
            <a:srgbClr val="FFC10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19"/>
          <p:cNvSpPr/>
          <p:nvPr/>
        </p:nvSpPr>
        <p:spPr>
          <a:xfrm>
            <a:off x="1104595" y="4009644"/>
            <a:ext cx="267005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466698" y="4043477"/>
            <a:ext cx="155356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Alarmas de Errores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1104595" y="4371746"/>
            <a:ext cx="45153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Detección de errores 5xx en API Gateway y Load Balancer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1104595" y="4710074"/>
            <a:ext cx="75895" cy="75895"/>
          </a:xfrm>
          <a:prstGeom prst="ellipse">
            <a:avLst/>
          </a:prstGeom>
          <a:solidFill>
            <a:srgbClr val="F443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Text 23"/>
          <p:cNvSpPr txBox="1"/>
          <p:nvPr/>
        </p:nvSpPr>
        <p:spPr>
          <a:xfrm>
            <a:off x="1257300" y="4667098"/>
            <a:ext cx="165506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Umbral: &gt; 10 errores/min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875995" y="5248656"/>
            <a:ext cx="4772254" cy="1200607"/>
          </a:xfrm>
          <a:prstGeom prst="roundRect">
            <a:avLst>
              <a:gd name="adj" fmla="val 967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8" name="Shape 25"/>
          <p:cNvSpPr/>
          <p:nvPr/>
        </p:nvSpPr>
        <p:spPr>
          <a:xfrm>
            <a:off x="875995" y="5248656"/>
            <a:ext cx="38405" cy="1200607"/>
          </a:xfrm>
          <a:prstGeom prst="roundRect">
            <a:avLst>
              <a:gd name="adj" fmla="val 302342"/>
            </a:avLst>
          </a:prstGeom>
          <a:solidFill>
            <a:srgbClr val="FFC107"/>
          </a:solidFill>
          <a:ln w="12700">
            <a:solidFill>
              <a:srgbClr val="FFC10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Shape 26"/>
          <p:cNvSpPr/>
          <p:nvPr/>
        </p:nvSpPr>
        <p:spPr>
          <a:xfrm>
            <a:off x="1104595" y="5438851"/>
            <a:ext cx="267005" cy="267005"/>
          </a:xfrm>
          <a:prstGeom prst="ellipse">
            <a:avLst/>
          </a:prstGeom>
          <a:solidFill>
            <a:srgbClr val="FFC10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Text 27"/>
          <p:cNvSpPr/>
          <p:nvPr/>
        </p:nvSpPr>
        <p:spPr>
          <a:xfrm>
            <a:off x="1104595" y="5438851"/>
            <a:ext cx="267005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1466698" y="5471770"/>
            <a:ext cx="163311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Alarmas de Lambda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1104595" y="5800954"/>
            <a:ext cx="43534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Errores y duración excesiva en funciones serverless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1104595" y="6139282"/>
            <a:ext cx="75895" cy="75895"/>
          </a:xfrm>
          <a:prstGeom prst="ellipse">
            <a:avLst/>
          </a:prstGeom>
          <a:solidFill>
            <a:srgbClr val="4CAF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4" name="Text 31"/>
          <p:cNvSpPr txBox="1"/>
          <p:nvPr/>
        </p:nvSpPr>
        <p:spPr>
          <a:xfrm>
            <a:off x="1257300" y="6096305"/>
            <a:ext cx="200710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Duración: &gt; 30s | Errores: &gt; 5%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6238951" y="1591056"/>
            <a:ext cx="5381244" cy="137160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6" name="Shape 33"/>
          <p:cNvSpPr/>
          <p:nvPr/>
        </p:nvSpPr>
        <p:spPr>
          <a:xfrm>
            <a:off x="6486754" y="1837944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7" name="Text 34"/>
          <p:cNvSpPr txBox="1"/>
          <p:nvPr/>
        </p:nvSpPr>
        <p:spPr>
          <a:xfrm>
            <a:off x="6486754" y="1837944"/>
            <a:ext cx="305410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🤖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6905549" y="1886407"/>
            <a:ext cx="225582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Runbooks Automatizados</a:t>
            </a:r>
            <a:endParaRPr lang="en-US" sz="1200" dirty="0"/>
          </a:p>
        </p:txBody>
      </p:sp>
      <p:sp>
        <p:nvSpPr>
          <p:cNvPr id="39" name="Text 36"/>
          <p:cNvSpPr txBox="1"/>
          <p:nvPr/>
        </p:nvSpPr>
        <p:spPr>
          <a:xfrm>
            <a:off x="6486754" y="2257654"/>
            <a:ext cx="515538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SSM Automation para respuesta rápida ante incidentes detectados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6486754" y="2595982"/>
            <a:ext cx="75895" cy="75895"/>
          </a:xfrm>
          <a:prstGeom prst="ellipse">
            <a:avLst/>
          </a:prstGeom>
          <a:solidFill>
            <a:srgbClr val="4CAF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1" name="Text 38"/>
          <p:cNvSpPr txBox="1"/>
          <p:nvPr/>
        </p:nvSpPr>
        <p:spPr>
          <a:xfrm>
            <a:off x="6638544" y="2553005"/>
            <a:ext cx="144018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Automatización activa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6238951" y="3191256"/>
            <a:ext cx="5381244" cy="137160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3" name="Shape 40"/>
          <p:cNvSpPr/>
          <p:nvPr/>
        </p:nvSpPr>
        <p:spPr>
          <a:xfrm>
            <a:off x="6486754" y="3438144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4" name="Text 41"/>
          <p:cNvSpPr txBox="1"/>
          <p:nvPr/>
        </p:nvSpPr>
        <p:spPr>
          <a:xfrm>
            <a:off x="6486754" y="3438144"/>
            <a:ext cx="305410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🔄</a:t>
            </a:r>
            <a:endParaRPr lang="en-US" sz="1200" dirty="0"/>
          </a:p>
        </p:txBody>
      </p:sp>
      <p:sp>
        <p:nvSpPr>
          <p:cNvPr id="45" name="Text 42"/>
          <p:cNvSpPr txBox="1"/>
          <p:nvPr/>
        </p:nvSpPr>
        <p:spPr>
          <a:xfrm>
            <a:off x="6905549" y="3486607"/>
            <a:ext cx="265267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Escalado/Rollback Automático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6486754" y="3857854"/>
            <a:ext cx="488655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Acciones según umbrales predefinidos para recuperación rápida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6486754" y="4196182"/>
            <a:ext cx="75895" cy="75895"/>
          </a:xfrm>
          <a:prstGeom prst="ellipse">
            <a:avLst/>
          </a:prstGeom>
          <a:solidFill>
            <a:srgbClr val="4CAF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8" name="Text 45"/>
          <p:cNvSpPr txBox="1"/>
          <p:nvPr/>
        </p:nvSpPr>
        <p:spPr>
          <a:xfrm>
            <a:off x="6638544" y="4153205"/>
            <a:ext cx="157642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Auto-scaling: Habilitado</a:t>
            </a:r>
            <a:endParaRPr lang="en-US" sz="900" dirty="0"/>
          </a:p>
        </p:txBody>
      </p:sp>
      <p:sp>
        <p:nvSpPr>
          <p:cNvPr id="49" name="Shape 46"/>
          <p:cNvSpPr/>
          <p:nvPr/>
        </p:nvSpPr>
        <p:spPr>
          <a:xfrm>
            <a:off x="6238951" y="4791456"/>
            <a:ext cx="5381244" cy="137160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0" name="Shape 47"/>
          <p:cNvSpPr/>
          <p:nvPr/>
        </p:nvSpPr>
        <p:spPr>
          <a:xfrm>
            <a:off x="6486754" y="5038344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1" name="Text 48"/>
          <p:cNvSpPr txBox="1"/>
          <p:nvPr/>
        </p:nvSpPr>
        <p:spPr>
          <a:xfrm>
            <a:off x="6486754" y="5038344"/>
            <a:ext cx="305410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</a:t>
            </a:r>
            <a:endParaRPr lang="en-US" sz="1200" dirty="0"/>
          </a:p>
        </p:txBody>
      </p:sp>
      <p:sp>
        <p:nvSpPr>
          <p:cNvPr id="52" name="Text 49"/>
          <p:cNvSpPr txBox="1"/>
          <p:nvPr/>
        </p:nvSpPr>
        <p:spPr>
          <a:xfrm>
            <a:off x="6905549" y="5086807"/>
            <a:ext cx="188183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Métricas Compuestas</a:t>
            </a:r>
            <a:endParaRPr lang="en-US" sz="1200" dirty="0"/>
          </a:p>
        </p:txBody>
      </p:sp>
      <p:sp>
        <p:nvSpPr>
          <p:cNvPr id="53" name="Text 50"/>
          <p:cNvSpPr txBox="1"/>
          <p:nvPr/>
        </p:nvSpPr>
        <p:spPr>
          <a:xfrm>
            <a:off x="6486754" y="5458054"/>
            <a:ext cx="488655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Detección inteligente de anomalías y desviaciones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6486754" y="5796382"/>
            <a:ext cx="75895" cy="75895"/>
          </a:xfrm>
          <a:prstGeom prst="ellipse">
            <a:avLst/>
          </a:prstGeom>
          <a:solidFill>
            <a:srgbClr val="4CAF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5" name="Text 52"/>
          <p:cNvSpPr txBox="1"/>
          <p:nvPr/>
        </p:nvSpPr>
        <p:spPr>
          <a:xfrm>
            <a:off x="6638544" y="5753405"/>
            <a:ext cx="150784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Análisis: En tiempo real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571500" y="6500470"/>
            <a:ext cx="75895" cy="75895"/>
          </a:xfrm>
          <a:prstGeom prst="ellipse">
            <a:avLst/>
          </a:prstGeom>
          <a:solidFill>
            <a:srgbClr val="4CAF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7" name="Text 54"/>
          <p:cNvSpPr txBox="1"/>
          <p:nvPr/>
        </p:nvSpPr>
        <p:spPr>
          <a:xfrm>
            <a:off x="743407" y="6458407"/>
            <a:ext cx="213146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DevOps en AWS - Proyecto 2026</a:t>
            </a:r>
            <a:endParaRPr lang="en-US" sz="900" dirty="0"/>
          </a:p>
        </p:txBody>
      </p:sp>
      <p:sp>
        <p:nvSpPr>
          <p:cNvPr id="58" name="Text 55"/>
          <p:cNvSpPr txBox="1"/>
          <p:nvPr/>
        </p:nvSpPr>
        <p:spPr>
          <a:xfrm>
            <a:off x="9355226" y="6458407"/>
            <a:ext cx="269839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Equipo: Narciso, Caleb, Rodrigo, Natanael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571500" y="1228954"/>
            <a:ext cx="11048695" cy="28346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 txBox="1"/>
          <p:nvPr/>
        </p:nvSpPr>
        <p:spPr>
          <a:xfrm>
            <a:off x="571500" y="381305"/>
            <a:ext cx="63559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y Control de Versiones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886054"/>
            <a:ext cx="59920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Gestión de código fuente con protección de ramas y convenciones de commits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l="30750" r="30750"/>
          <a:stretch/>
        </p:blipFill>
        <p:spPr>
          <a:xfrm>
            <a:off x="10280599" y="495605"/>
            <a:ext cx="476402" cy="47640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852099" y="495605"/>
            <a:ext cx="771754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Tecmilenio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71500" y="1495044"/>
            <a:ext cx="5381244" cy="3619195"/>
          </a:xfrm>
          <a:prstGeom prst="roundRect">
            <a:avLst>
              <a:gd name="adj" fmla="val 1330"/>
            </a:avLst>
          </a:prstGeom>
          <a:solidFill>
            <a:srgbClr val="F8F9FA"/>
          </a:solidFill>
          <a:ln w="25400">
            <a:solidFill>
              <a:srgbClr val="1B5E20"/>
            </a:solidFill>
            <a:prstDash val="solid"/>
          </a:ln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0" name="Shape 7"/>
          <p:cNvSpPr/>
          <p:nvPr/>
        </p:nvSpPr>
        <p:spPr>
          <a:xfrm>
            <a:off x="780898" y="1705356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 l="-1648" r="-1648"/>
          <a:stretch/>
        </p:blipFill>
        <p:spPr>
          <a:xfrm>
            <a:off x="886054" y="1800454"/>
            <a:ext cx="171907" cy="19019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276502" y="1705356"/>
            <a:ext cx="18251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Repositorio Privado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1276502" y="1933956"/>
            <a:ext cx="182514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Protección de ramas activada</a:t>
            </a:r>
            <a:endParaRPr lang="en-US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780898" y="2238451"/>
            <a:ext cx="166420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Ramas principales: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780898" y="2537460"/>
            <a:ext cx="409651" cy="267005"/>
          </a:xfrm>
          <a:prstGeom prst="roundRect">
            <a:avLst>
              <a:gd name="adj" fmla="val 97847"/>
            </a:avLst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2"/>
          <p:cNvSpPr txBox="1"/>
          <p:nvPr/>
        </p:nvSpPr>
        <p:spPr>
          <a:xfrm>
            <a:off x="780898" y="2537460"/>
            <a:ext cx="409651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main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1277417" y="2537460"/>
            <a:ext cx="562356" cy="267005"/>
          </a:xfrm>
          <a:prstGeom prst="roundRect">
            <a:avLst>
              <a:gd name="adj" fmla="val 97847"/>
            </a:avLst>
          </a:prstGeom>
          <a:solidFill>
            <a:srgbClr val="FFC10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4"/>
          <p:cNvSpPr txBox="1"/>
          <p:nvPr/>
        </p:nvSpPr>
        <p:spPr>
          <a:xfrm>
            <a:off x="1277417" y="2537460"/>
            <a:ext cx="562356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780898" y="2939796"/>
            <a:ext cx="4962449" cy="146669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0" name="Shape 16"/>
          <p:cNvSpPr/>
          <p:nvPr/>
        </p:nvSpPr>
        <p:spPr>
          <a:xfrm>
            <a:off x="780898" y="2939796"/>
            <a:ext cx="38405" cy="1466698"/>
          </a:xfrm>
          <a:prstGeom prst="roundRect">
            <a:avLst>
              <a:gd name="adj" fmla="val 247370"/>
            </a:avLst>
          </a:prstGeom>
          <a:solidFill>
            <a:srgbClr val="FFC107"/>
          </a:solidFill>
          <a:ln w="12700">
            <a:solidFill>
              <a:srgbClr val="FFC10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7"/>
          <p:cNvSpPr txBox="1"/>
          <p:nvPr/>
        </p:nvSpPr>
        <p:spPr>
          <a:xfrm>
            <a:off x="961949" y="3082442"/>
            <a:ext cx="463875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Branch Protection Rules</a:t>
            </a:r>
            <a:endParaRPr lang="en-US" sz="10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61949" y="3440887"/>
            <a:ext cx="114300" cy="11430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1152144" y="3390595"/>
            <a:ext cx="25731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Reviews obligatorios antes de merge</a:t>
            </a:r>
            <a:endParaRPr lang="en-US" sz="100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61949" y="3729838"/>
            <a:ext cx="114300" cy="11430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152144" y="3680460"/>
            <a:ext cx="17346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 checks requeridos</a:t>
            </a:r>
            <a:endParaRPr lang="en-US" sz="100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61949" y="4019702"/>
            <a:ext cx="114300" cy="11430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152144" y="3970325"/>
            <a:ext cx="20976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Revisión por pares obligatoria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571500" y="5305349"/>
            <a:ext cx="5381244" cy="1505102"/>
          </a:xfrm>
          <a:prstGeom prst="roundRect">
            <a:avLst>
              <a:gd name="adj" fmla="val 769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Shape 22"/>
          <p:cNvSpPr/>
          <p:nvPr/>
        </p:nvSpPr>
        <p:spPr>
          <a:xfrm>
            <a:off x="771754" y="5505602"/>
            <a:ext cx="304495" cy="304495"/>
          </a:xfrm>
          <a:prstGeom prst="roundRect">
            <a:avLst>
              <a:gd name="adj" fmla="val 112613"/>
            </a:avLst>
          </a:prstGeom>
          <a:solidFill>
            <a:srgbClr val="FFC10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57707" y="5591556"/>
            <a:ext cx="133502" cy="133502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1171346" y="5557723"/>
            <a:ext cx="16102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Seguridad y Acceso</a:t>
            </a:r>
            <a:endParaRPr lang="en-US" sz="1200" dirty="0"/>
          </a:p>
        </p:txBody>
      </p:sp>
      <p:sp>
        <p:nvSpPr>
          <p:cNvPr id="32" name="Text 24"/>
          <p:cNvSpPr txBox="1"/>
          <p:nvPr/>
        </p:nvSpPr>
        <p:spPr>
          <a:xfrm>
            <a:off x="771754" y="5952744"/>
            <a:ext cx="498165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Configuración de credenciales SSH para acceso seguro</a:t>
            </a:r>
            <a:endParaRPr lang="en-US" sz="1000" dirty="0"/>
          </a:p>
        </p:txBody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7"/>
          <a:srcRect l="-128" r="-128"/>
          <a:stretch/>
        </p:blipFill>
        <p:spPr>
          <a:xfrm>
            <a:off x="771754" y="6229807"/>
            <a:ext cx="809244" cy="304495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1041502" y="6229807"/>
            <a:ext cx="5404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SSH Keys </a:t>
            </a:r>
            <a:endParaRPr lang="en-US" sz="900" dirty="0"/>
          </a:p>
        </p:txBody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47649" y="6329477"/>
            <a:ext cx="114300" cy="114300"/>
          </a:xfrm>
          <a:prstGeom prst="rect">
            <a:avLst/>
          </a:prstGeom>
        </p:spPr>
      </p:pic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9"/>
          <a:srcRect l="-436" r="-436"/>
          <a:stretch/>
        </p:blipFill>
        <p:spPr>
          <a:xfrm>
            <a:off x="1675181" y="6229807"/>
            <a:ext cx="961949" cy="304495"/>
          </a:xfrm>
          <a:prstGeom prst="rect">
            <a:avLst/>
          </a:prstGeom>
        </p:spPr>
      </p:pic>
      <p:sp>
        <p:nvSpPr>
          <p:cNvPr id="37" name="Text 26"/>
          <p:cNvSpPr txBox="1"/>
          <p:nvPr/>
        </p:nvSpPr>
        <p:spPr>
          <a:xfrm>
            <a:off x="1934870" y="6229807"/>
            <a:ext cx="70317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2FA Enabled </a:t>
            </a:r>
            <a:endParaRPr lang="en-US" sz="900" dirty="0"/>
          </a:p>
        </p:txBody>
      </p:sp>
      <p:pic>
        <p:nvPicPr>
          <p:cNvPr id="38" name="Image 9" descr="preencoded.png"/>
          <p:cNvPicPr>
            <a:picLocks noChangeAspect="1"/>
          </p:cNvPicPr>
          <p:nvPr/>
        </p:nvPicPr>
        <p:blipFill>
          <a:blip r:embed="rId10"/>
          <a:srcRect l="-2571" r="-2571"/>
          <a:stretch/>
        </p:blipFill>
        <p:spPr>
          <a:xfrm>
            <a:off x="1751076" y="6329477"/>
            <a:ext cx="105156" cy="114300"/>
          </a:xfrm>
          <a:prstGeom prst="rect">
            <a:avLst/>
          </a:prstGeom>
        </p:spPr>
      </p:pic>
      <p:sp>
        <p:nvSpPr>
          <p:cNvPr id="39" name="Shape 27"/>
          <p:cNvSpPr/>
          <p:nvPr/>
        </p:nvSpPr>
        <p:spPr>
          <a:xfrm>
            <a:off x="6238951" y="1495044"/>
            <a:ext cx="5381244" cy="1762049"/>
          </a:xfrm>
          <a:prstGeom prst="roundRect">
            <a:avLst>
              <a:gd name="adj" fmla="val 561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0" name="Shape 28"/>
          <p:cNvSpPr/>
          <p:nvPr/>
        </p:nvSpPr>
        <p:spPr>
          <a:xfrm>
            <a:off x="6439205" y="1695298"/>
            <a:ext cx="304495" cy="304495"/>
          </a:xfrm>
          <a:prstGeom prst="roundRect">
            <a:avLst>
              <a:gd name="adj" fmla="val 112613"/>
            </a:avLst>
          </a:prstGeom>
          <a:solidFill>
            <a:srgbClr val="FFC10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41" name="Image 10" descr="preencoded.png"/>
          <p:cNvPicPr>
            <a:picLocks noChangeAspect="1"/>
          </p:cNvPicPr>
          <p:nvPr/>
        </p:nvPicPr>
        <p:blipFill>
          <a:blip r:embed="rId11"/>
          <a:srcRect l="-1507" r="-1507"/>
          <a:stretch/>
        </p:blipFill>
        <p:spPr>
          <a:xfrm>
            <a:off x="6505956" y="1781251"/>
            <a:ext cx="171907" cy="133502"/>
          </a:xfrm>
          <a:prstGeom prst="rect">
            <a:avLst/>
          </a:prstGeom>
        </p:spPr>
      </p:pic>
      <p:sp>
        <p:nvSpPr>
          <p:cNvPr id="42" name="Text 29"/>
          <p:cNvSpPr txBox="1"/>
          <p:nvPr/>
        </p:nvSpPr>
        <p:spPr>
          <a:xfrm>
            <a:off x="6838798" y="1747418"/>
            <a:ext cx="218815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Convenciones de Commits</a:t>
            </a:r>
            <a:endParaRPr lang="en-US" sz="1200" dirty="0"/>
          </a:p>
        </p:txBody>
      </p:sp>
      <p:sp>
        <p:nvSpPr>
          <p:cNvPr id="43" name="Shape 30"/>
          <p:cNvSpPr/>
          <p:nvPr/>
        </p:nvSpPr>
        <p:spPr>
          <a:xfrm>
            <a:off x="6439205" y="2143354"/>
            <a:ext cx="2447849" cy="409651"/>
          </a:xfrm>
          <a:prstGeom prst="roundRect">
            <a:avLst>
              <a:gd name="adj" fmla="val 62292"/>
            </a:avLst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4" name="Text 31"/>
          <p:cNvSpPr txBox="1"/>
          <p:nvPr/>
        </p:nvSpPr>
        <p:spPr>
          <a:xfrm>
            <a:off x="6553505" y="2257654"/>
            <a:ext cx="45537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feat:</a:t>
            </a:r>
            <a:endParaRPr lang="en-US" sz="1000" dirty="0"/>
          </a:p>
        </p:txBody>
      </p:sp>
      <p:sp>
        <p:nvSpPr>
          <p:cNvPr id="45" name="Text 32"/>
          <p:cNvSpPr txBox="1"/>
          <p:nvPr/>
        </p:nvSpPr>
        <p:spPr>
          <a:xfrm>
            <a:off x="6896405" y="2266798"/>
            <a:ext cx="154167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Nuevas funcionalidades</a:t>
            </a:r>
            <a:endParaRPr lang="en-US" sz="900" dirty="0"/>
          </a:p>
        </p:txBody>
      </p:sp>
      <p:sp>
        <p:nvSpPr>
          <p:cNvPr id="46" name="Shape 33"/>
          <p:cNvSpPr/>
          <p:nvPr/>
        </p:nvSpPr>
        <p:spPr>
          <a:xfrm>
            <a:off x="8977579" y="2143354"/>
            <a:ext cx="2447849" cy="409651"/>
          </a:xfrm>
          <a:prstGeom prst="roundRect">
            <a:avLst>
              <a:gd name="adj" fmla="val 62292"/>
            </a:avLst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7" name="Text 34"/>
          <p:cNvSpPr txBox="1"/>
          <p:nvPr/>
        </p:nvSpPr>
        <p:spPr>
          <a:xfrm>
            <a:off x="9091879" y="2257654"/>
            <a:ext cx="29900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fix:</a:t>
            </a:r>
            <a:endParaRPr lang="en-US" sz="1000" dirty="0"/>
          </a:p>
        </p:txBody>
      </p:sp>
      <p:sp>
        <p:nvSpPr>
          <p:cNvPr id="48" name="Text 35"/>
          <p:cNvSpPr txBox="1"/>
          <p:nvPr/>
        </p:nvSpPr>
        <p:spPr>
          <a:xfrm>
            <a:off x="9347911" y="2266798"/>
            <a:ext cx="140634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Corrección de errores</a:t>
            </a:r>
            <a:endParaRPr lang="en-US" sz="900" dirty="0"/>
          </a:p>
        </p:txBody>
      </p:sp>
      <p:sp>
        <p:nvSpPr>
          <p:cNvPr id="49" name="Shape 36"/>
          <p:cNvSpPr/>
          <p:nvPr/>
        </p:nvSpPr>
        <p:spPr>
          <a:xfrm>
            <a:off x="6439205" y="2648102"/>
            <a:ext cx="2447849" cy="409651"/>
          </a:xfrm>
          <a:prstGeom prst="roundRect">
            <a:avLst>
              <a:gd name="adj" fmla="val 62292"/>
            </a:avLst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0" name="Text 37"/>
          <p:cNvSpPr txBox="1"/>
          <p:nvPr/>
        </p:nvSpPr>
        <p:spPr>
          <a:xfrm>
            <a:off x="6553505" y="2762402"/>
            <a:ext cx="46085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docs:</a:t>
            </a:r>
            <a:endParaRPr lang="en-US" sz="1000" dirty="0"/>
          </a:p>
        </p:txBody>
      </p:sp>
      <p:sp>
        <p:nvSpPr>
          <p:cNvPr id="51" name="Text 38"/>
          <p:cNvSpPr txBox="1"/>
          <p:nvPr/>
        </p:nvSpPr>
        <p:spPr>
          <a:xfrm>
            <a:off x="6942125" y="2771546"/>
            <a:ext cx="109636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Documentación</a:t>
            </a:r>
            <a:endParaRPr lang="en-US" sz="900" dirty="0"/>
          </a:p>
        </p:txBody>
      </p:sp>
      <p:sp>
        <p:nvSpPr>
          <p:cNvPr id="52" name="Shape 39"/>
          <p:cNvSpPr/>
          <p:nvPr/>
        </p:nvSpPr>
        <p:spPr>
          <a:xfrm>
            <a:off x="8977579" y="2648102"/>
            <a:ext cx="2447849" cy="409651"/>
          </a:xfrm>
          <a:prstGeom prst="roundRect">
            <a:avLst>
              <a:gd name="adj" fmla="val 62292"/>
            </a:avLst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3" name="Text 40"/>
          <p:cNvSpPr txBox="1"/>
          <p:nvPr/>
        </p:nvSpPr>
        <p:spPr>
          <a:xfrm>
            <a:off x="9091879" y="2762402"/>
            <a:ext cx="55229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chore:</a:t>
            </a:r>
            <a:endParaRPr lang="en-US" sz="1000" dirty="0"/>
          </a:p>
        </p:txBody>
      </p:sp>
      <p:sp>
        <p:nvSpPr>
          <p:cNvPr id="54" name="Text 41"/>
          <p:cNvSpPr txBox="1"/>
          <p:nvPr/>
        </p:nvSpPr>
        <p:spPr>
          <a:xfrm>
            <a:off x="9539021" y="2771546"/>
            <a:ext cx="164409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Tareas de mantenimiento</a:t>
            </a:r>
            <a:endParaRPr lang="en-US" sz="900" dirty="0"/>
          </a:p>
        </p:txBody>
      </p:sp>
      <p:sp>
        <p:nvSpPr>
          <p:cNvPr id="55" name="Shape 42"/>
          <p:cNvSpPr/>
          <p:nvPr/>
        </p:nvSpPr>
        <p:spPr>
          <a:xfrm>
            <a:off x="6238951" y="3448202"/>
            <a:ext cx="5381244" cy="1933956"/>
          </a:xfrm>
          <a:prstGeom prst="roundRect">
            <a:avLst>
              <a:gd name="adj" fmla="val 4658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6" name="Shape 43"/>
          <p:cNvSpPr/>
          <p:nvPr/>
        </p:nvSpPr>
        <p:spPr>
          <a:xfrm>
            <a:off x="6439205" y="3648456"/>
            <a:ext cx="304495" cy="304495"/>
          </a:xfrm>
          <a:prstGeom prst="roundRect">
            <a:avLst>
              <a:gd name="adj" fmla="val 112613"/>
            </a:avLst>
          </a:prstGeom>
          <a:solidFill>
            <a:srgbClr val="FFC10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57" name="Image 11" descr="preencoded.png"/>
          <p:cNvPicPr>
            <a:picLocks noChangeAspect="1"/>
          </p:cNvPicPr>
          <p:nvPr/>
        </p:nvPicPr>
        <p:blipFill>
          <a:blip r:embed="rId12"/>
          <a:srcRect t="-1100" b="-1100"/>
          <a:stretch/>
        </p:blipFill>
        <p:spPr>
          <a:xfrm>
            <a:off x="6534302" y="3733495"/>
            <a:ext cx="114300" cy="133502"/>
          </a:xfrm>
          <a:prstGeom prst="rect">
            <a:avLst/>
          </a:prstGeom>
        </p:spPr>
      </p:pic>
      <p:sp>
        <p:nvSpPr>
          <p:cNvPr id="58" name="Text 44"/>
          <p:cNvSpPr txBox="1"/>
          <p:nvPr/>
        </p:nvSpPr>
        <p:spPr>
          <a:xfrm>
            <a:off x="6838798" y="3700577"/>
            <a:ext cx="110002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Pull Requests</a:t>
            </a:r>
            <a:endParaRPr lang="en-US" sz="1200" dirty="0"/>
          </a:p>
        </p:txBody>
      </p:sp>
      <p:sp>
        <p:nvSpPr>
          <p:cNvPr id="59" name="Shape 45"/>
          <p:cNvSpPr/>
          <p:nvPr/>
        </p:nvSpPr>
        <p:spPr>
          <a:xfrm>
            <a:off x="6439205" y="4095598"/>
            <a:ext cx="4981651" cy="1086307"/>
          </a:xfrm>
          <a:prstGeom prst="roundRect">
            <a:avLst>
              <a:gd name="adj" fmla="val 11814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60" name="Image 12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6581851" y="4257446"/>
            <a:ext cx="152705" cy="152705"/>
          </a:xfrm>
          <a:prstGeom prst="rect">
            <a:avLst/>
          </a:prstGeom>
        </p:spPr>
      </p:pic>
      <p:sp>
        <p:nvSpPr>
          <p:cNvPr id="61" name="Text 46"/>
          <p:cNvSpPr txBox="1"/>
          <p:nvPr/>
        </p:nvSpPr>
        <p:spPr>
          <a:xfrm>
            <a:off x="6829654" y="4238244"/>
            <a:ext cx="224485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Revisión por pares obligatoria</a:t>
            </a:r>
            <a:endParaRPr lang="en-US" sz="1100" dirty="0"/>
          </a:p>
        </p:txBody>
      </p:sp>
      <p:pic>
        <p:nvPicPr>
          <p:cNvPr id="62" name="Image 13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6581851" y="4524451"/>
            <a:ext cx="152705" cy="152705"/>
          </a:xfrm>
          <a:prstGeom prst="rect">
            <a:avLst/>
          </a:prstGeom>
        </p:spPr>
      </p:pic>
      <p:sp>
        <p:nvSpPr>
          <p:cNvPr id="63" name="Text 47"/>
          <p:cNvSpPr txBox="1"/>
          <p:nvPr/>
        </p:nvSpPr>
        <p:spPr>
          <a:xfrm>
            <a:off x="6829654" y="4505249"/>
            <a:ext cx="240304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Checks de CI/CD automatizados</a:t>
            </a:r>
            <a:endParaRPr lang="en-US" sz="1100" dirty="0"/>
          </a:p>
        </p:txBody>
      </p:sp>
      <p:pic>
        <p:nvPicPr>
          <p:cNvPr id="64" name="Image 14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6581851" y="4791456"/>
            <a:ext cx="152705" cy="152705"/>
          </a:xfrm>
          <a:prstGeom prst="rect">
            <a:avLst/>
          </a:prstGeom>
        </p:spPr>
      </p:pic>
      <p:sp>
        <p:nvSpPr>
          <p:cNvPr id="65" name="Text 48"/>
          <p:cNvSpPr txBox="1"/>
          <p:nvPr/>
        </p:nvSpPr>
        <p:spPr>
          <a:xfrm>
            <a:off x="6829654" y="4772254"/>
            <a:ext cx="278892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Validación de código con SonarQube</a:t>
            </a:r>
            <a:endParaRPr lang="en-US" sz="1100" dirty="0"/>
          </a:p>
        </p:txBody>
      </p:sp>
      <p:sp>
        <p:nvSpPr>
          <p:cNvPr id="66" name="Shape 49"/>
          <p:cNvSpPr/>
          <p:nvPr/>
        </p:nvSpPr>
        <p:spPr>
          <a:xfrm>
            <a:off x="6238951" y="5572354"/>
            <a:ext cx="5381244" cy="1238098"/>
          </a:xfrm>
          <a:prstGeom prst="roundRect">
            <a:avLst>
              <a:gd name="adj" fmla="val 11362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7" name="Shape 50"/>
          <p:cNvSpPr/>
          <p:nvPr/>
        </p:nvSpPr>
        <p:spPr>
          <a:xfrm>
            <a:off x="6439205" y="5772607"/>
            <a:ext cx="304495" cy="304495"/>
          </a:xfrm>
          <a:prstGeom prst="roundRect">
            <a:avLst>
              <a:gd name="adj" fmla="val 112613"/>
            </a:avLst>
          </a:prstGeom>
          <a:solidFill>
            <a:srgbClr val="FFC10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68" name="Image 15" descr="preencoded.png"/>
          <p:cNvPicPr>
            <a:picLocks noChangeAspect="1"/>
          </p:cNvPicPr>
          <p:nvPr/>
        </p:nvPicPr>
        <p:blipFill>
          <a:blip r:embed="rId14"/>
          <a:srcRect l="-2512" r="-2512"/>
          <a:stretch/>
        </p:blipFill>
        <p:spPr>
          <a:xfrm>
            <a:off x="6538874" y="5857646"/>
            <a:ext cx="105156" cy="133502"/>
          </a:xfrm>
          <a:prstGeom prst="rect">
            <a:avLst/>
          </a:prstGeom>
        </p:spPr>
      </p:pic>
      <p:sp>
        <p:nvSpPr>
          <p:cNvPr id="69" name="Text 51"/>
          <p:cNvSpPr txBox="1"/>
          <p:nvPr/>
        </p:nvSpPr>
        <p:spPr>
          <a:xfrm>
            <a:off x="6838798" y="5824728"/>
            <a:ext cx="12015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Archivos Clave</a:t>
            </a:r>
            <a:endParaRPr lang="en-US" sz="1200" dirty="0"/>
          </a:p>
        </p:txBody>
      </p:sp>
      <p:sp>
        <p:nvSpPr>
          <p:cNvPr id="70" name="Text 52"/>
          <p:cNvSpPr txBox="1"/>
          <p:nvPr/>
        </p:nvSpPr>
        <p:spPr>
          <a:xfrm>
            <a:off x="6439205" y="6219749"/>
            <a:ext cx="9198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.gitignore</a:t>
            </a:r>
            <a:endParaRPr lang="en-US" sz="1000" dirty="0"/>
          </a:p>
        </p:txBody>
      </p:sp>
      <p:sp>
        <p:nvSpPr>
          <p:cNvPr id="71" name="Text 53"/>
          <p:cNvSpPr txBox="1"/>
          <p:nvPr/>
        </p:nvSpPr>
        <p:spPr>
          <a:xfrm>
            <a:off x="6439205" y="6448349"/>
            <a:ext cx="24195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Archivos ignorados</a:t>
            </a:r>
            <a:endParaRPr lang="en-US" sz="900" dirty="0"/>
          </a:p>
        </p:txBody>
      </p:sp>
      <p:sp>
        <p:nvSpPr>
          <p:cNvPr id="72" name="Text 54"/>
          <p:cNvSpPr txBox="1"/>
          <p:nvPr/>
        </p:nvSpPr>
        <p:spPr>
          <a:xfrm>
            <a:off x="9001354" y="6219749"/>
            <a:ext cx="8001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README.md</a:t>
            </a:r>
            <a:endParaRPr lang="en-US" sz="1000" dirty="0"/>
          </a:p>
        </p:txBody>
      </p:sp>
      <p:sp>
        <p:nvSpPr>
          <p:cNvPr id="73" name="Text 55"/>
          <p:cNvSpPr txBox="1"/>
          <p:nvPr/>
        </p:nvSpPr>
        <p:spPr>
          <a:xfrm>
            <a:off x="9001354" y="6448349"/>
            <a:ext cx="24195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Documentación</a:t>
            </a:r>
            <a:endParaRPr lang="en-US" sz="900" dirty="0"/>
          </a:p>
        </p:txBody>
      </p:sp>
      <p:sp>
        <p:nvSpPr>
          <p:cNvPr id="74" name="Shape 56"/>
          <p:cNvSpPr/>
          <p:nvPr/>
        </p:nvSpPr>
        <p:spPr>
          <a:xfrm>
            <a:off x="571500" y="6553505"/>
            <a:ext cx="75895" cy="75895"/>
          </a:xfrm>
          <a:prstGeom prst="ellipse">
            <a:avLst/>
          </a:prstGeom>
          <a:solidFill>
            <a:srgbClr val="4CAF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5" name="Text 57"/>
          <p:cNvSpPr txBox="1"/>
          <p:nvPr/>
        </p:nvSpPr>
        <p:spPr>
          <a:xfrm>
            <a:off x="743407" y="6515100"/>
            <a:ext cx="196138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DevOps en AWS - Proyecto 2026</a:t>
            </a:r>
            <a:endParaRPr lang="en-US" sz="900" dirty="0"/>
          </a:p>
        </p:txBody>
      </p:sp>
      <p:sp>
        <p:nvSpPr>
          <p:cNvPr id="76" name="Text 58"/>
          <p:cNvSpPr txBox="1"/>
          <p:nvPr/>
        </p:nvSpPr>
        <p:spPr>
          <a:xfrm>
            <a:off x="9529877" y="6515100"/>
            <a:ext cx="249448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Equipo: Narciso, Caleb, Rodrigo, Natanael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571500" y="1105510"/>
            <a:ext cx="11048695" cy="1920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 txBox="1"/>
          <p:nvPr/>
        </p:nvSpPr>
        <p:spPr>
          <a:xfrm>
            <a:off x="571500" y="381305"/>
            <a:ext cx="6258154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Entorno AWS Cloud9 y Automatización Bash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780898"/>
            <a:ext cx="55723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Configuración de entorno de desarrollo y scripts de automatización</a:t>
            </a:r>
            <a:endParaRPr lang="en-US" sz="10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l="30750" r="30750"/>
          <a:stretch/>
        </p:blipFill>
        <p:spPr>
          <a:xfrm>
            <a:off x="10280599" y="433426"/>
            <a:ext cx="476402" cy="47640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852099" y="433426"/>
            <a:ext cx="771754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CAF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Tecmilenio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80898" y="1314907"/>
            <a:ext cx="517276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CAF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Paquetes Instalados </a:t>
            </a:r>
            <a:endParaRPr lang="en-US" sz="12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 t="-1100" b="-1100"/>
          <a:stretch/>
        </p:blipFill>
        <p:spPr>
          <a:xfrm>
            <a:off x="571500" y="1347826"/>
            <a:ext cx="114300" cy="13350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71500" y="1752905"/>
            <a:ext cx="5381244" cy="1591056"/>
          </a:xfrm>
          <a:prstGeom prst="roundRect">
            <a:avLst>
              <a:gd name="adj" fmla="val 5506"/>
            </a:avLst>
          </a:prstGeom>
          <a:solidFill>
            <a:srgbClr val="2D2D2D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Shape 8"/>
          <p:cNvSpPr/>
          <p:nvPr/>
        </p:nvSpPr>
        <p:spPr>
          <a:xfrm>
            <a:off x="724205" y="2171700"/>
            <a:ext cx="5076749" cy="9144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Shape 9"/>
          <p:cNvSpPr/>
          <p:nvPr/>
        </p:nvSpPr>
        <p:spPr>
          <a:xfrm>
            <a:off x="724205" y="1904695"/>
            <a:ext cx="190195" cy="190195"/>
          </a:xfrm>
          <a:prstGeom prst="roundRect">
            <a:avLst>
              <a:gd name="adj" fmla="val 192308"/>
            </a:avLst>
          </a:prstGeom>
          <a:solidFill>
            <a:srgbClr val="4CAF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rcRect t="-870" b="-870"/>
          <a:stretch/>
        </p:blipFill>
        <p:spPr>
          <a:xfrm>
            <a:off x="767182" y="1952244"/>
            <a:ext cx="105156" cy="9509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990295" y="1919326"/>
            <a:ext cx="162671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Paquetes Esenciales</a:t>
            </a:r>
            <a:endParaRPr lang="en-US" sz="900" dirty="0"/>
          </a:p>
        </p:txBody>
      </p:sp>
      <p:sp>
        <p:nvSpPr>
          <p:cNvPr id="16" name="Text 11"/>
          <p:cNvSpPr txBox="1"/>
          <p:nvPr/>
        </p:nvSpPr>
        <p:spPr>
          <a:xfrm>
            <a:off x="724205" y="2264054"/>
            <a:ext cx="19111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17" name="Text 12"/>
          <p:cNvSpPr txBox="1"/>
          <p:nvPr/>
        </p:nvSpPr>
        <p:spPr>
          <a:xfrm>
            <a:off x="990295" y="2257654"/>
            <a:ext cx="30861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</a:t>
            </a: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yum </a:t>
            </a:r>
            <a:r>
              <a:rPr lang="en-US" sz="8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</a:t>
            </a: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-y git vim docker python3 awscli</a:t>
            </a:r>
            <a:endParaRPr lang="en-US" sz="800" dirty="0"/>
          </a:p>
        </p:txBody>
      </p:sp>
      <p:sp>
        <p:nvSpPr>
          <p:cNvPr id="18" name="Text 13"/>
          <p:cNvSpPr txBox="1"/>
          <p:nvPr/>
        </p:nvSpPr>
        <p:spPr>
          <a:xfrm>
            <a:off x="724205" y="2448763"/>
            <a:ext cx="19111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00" dirty="0"/>
          </a:p>
        </p:txBody>
      </p:sp>
      <p:sp>
        <p:nvSpPr>
          <p:cNvPr id="19" name="Text 14"/>
          <p:cNvSpPr txBox="1"/>
          <p:nvPr/>
        </p:nvSpPr>
        <p:spPr>
          <a:xfrm>
            <a:off x="990295" y="2451506"/>
            <a:ext cx="28392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Instalación de dependencias para desarrollo</a:t>
            </a:r>
            <a:endParaRPr lang="en-US" sz="800" dirty="0"/>
          </a:p>
        </p:txBody>
      </p:sp>
      <p:sp>
        <p:nvSpPr>
          <p:cNvPr id="20" name="Text 15"/>
          <p:cNvSpPr txBox="1"/>
          <p:nvPr/>
        </p:nvSpPr>
        <p:spPr>
          <a:xfrm>
            <a:off x="724205" y="2633472"/>
            <a:ext cx="19111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800" dirty="0"/>
          </a:p>
        </p:txBody>
      </p:sp>
      <p:sp>
        <p:nvSpPr>
          <p:cNvPr id="21" name="Text 16"/>
          <p:cNvSpPr txBox="1"/>
          <p:nvPr/>
        </p:nvSpPr>
        <p:spPr>
          <a:xfrm>
            <a:off x="990295" y="2627071"/>
            <a:ext cx="20199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</a:t>
            </a: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pip3 </a:t>
            </a:r>
            <a:r>
              <a:rPr lang="en-US" sz="8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</a:t>
            </a: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boto3 botocore</a:t>
            </a:r>
            <a:endParaRPr lang="en-US" sz="800" dirty="0"/>
          </a:p>
        </p:txBody>
      </p:sp>
      <p:sp>
        <p:nvSpPr>
          <p:cNvPr id="22" name="Text 17"/>
          <p:cNvSpPr txBox="1"/>
          <p:nvPr/>
        </p:nvSpPr>
        <p:spPr>
          <a:xfrm>
            <a:off x="724205" y="2819095"/>
            <a:ext cx="19111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800" dirty="0"/>
          </a:p>
        </p:txBody>
      </p:sp>
      <p:sp>
        <p:nvSpPr>
          <p:cNvPr id="23" name="Text 18"/>
          <p:cNvSpPr txBox="1"/>
          <p:nvPr/>
        </p:nvSpPr>
        <p:spPr>
          <a:xfrm>
            <a:off x="990295" y="2821838"/>
            <a:ext cx="163860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Configuración de AWS CLI</a:t>
            </a:r>
            <a:endParaRPr lang="en-US" sz="800" dirty="0"/>
          </a:p>
        </p:txBody>
      </p:sp>
      <p:sp>
        <p:nvSpPr>
          <p:cNvPr id="24" name="Text 19"/>
          <p:cNvSpPr txBox="1"/>
          <p:nvPr/>
        </p:nvSpPr>
        <p:spPr>
          <a:xfrm>
            <a:off x="724205" y="3003804"/>
            <a:ext cx="19111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800" dirty="0"/>
          </a:p>
        </p:txBody>
      </p:sp>
      <p:sp>
        <p:nvSpPr>
          <p:cNvPr id="25" name="Text 20"/>
          <p:cNvSpPr txBox="1"/>
          <p:nvPr/>
        </p:nvSpPr>
        <p:spPr>
          <a:xfrm>
            <a:off x="990295" y="2996489"/>
            <a:ext cx="20199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</a:t>
            </a:r>
            <a:r>
              <a:rPr lang="en-US" sz="8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configure</a:t>
            </a: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--profile lab-role</a:t>
            </a:r>
            <a:endParaRPr lang="en-US" sz="800" dirty="0"/>
          </a:p>
        </p:txBody>
      </p:sp>
      <p:sp>
        <p:nvSpPr>
          <p:cNvPr id="26" name="Text 21"/>
          <p:cNvSpPr txBox="1"/>
          <p:nvPr/>
        </p:nvSpPr>
        <p:spPr>
          <a:xfrm>
            <a:off x="771754" y="3572561"/>
            <a:ext cx="51819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CAF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Scripts Bash </a:t>
            </a:r>
            <a:endParaRPr lang="en-US" sz="120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rcRect l="-2512" r="-2512"/>
          <a:stretch/>
        </p:blipFill>
        <p:spPr>
          <a:xfrm>
            <a:off x="571500" y="3605479"/>
            <a:ext cx="105156" cy="133502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571500" y="4010558"/>
            <a:ext cx="5381244" cy="295351"/>
          </a:xfrm>
          <a:prstGeom prst="roundRect">
            <a:avLst>
              <a:gd name="adj" fmla="val 79896"/>
            </a:avLst>
          </a:prstGeom>
          <a:solidFill>
            <a:srgbClr val="3D3D3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Text 23"/>
          <p:cNvSpPr txBox="1"/>
          <p:nvPr/>
        </p:nvSpPr>
        <p:spPr>
          <a:xfrm>
            <a:off x="758952" y="4086454"/>
            <a:ext cx="12701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D4D4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setup_dependencies.sh</a:t>
            </a:r>
            <a:endParaRPr lang="en-US" sz="800" dirty="0"/>
          </a:p>
        </p:txBody>
      </p:sp>
      <p:sp>
        <p:nvSpPr>
          <p:cNvPr id="30" name="Text 24"/>
          <p:cNvSpPr txBox="1"/>
          <p:nvPr/>
        </p:nvSpPr>
        <p:spPr>
          <a:xfrm>
            <a:off x="4858207" y="4086454"/>
            <a:ext cx="1236269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CAF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Instalación automática</a:t>
            </a:r>
            <a:endParaRPr lang="en-US" sz="800" dirty="0"/>
          </a:p>
        </p:txBody>
      </p:sp>
      <p:sp>
        <p:nvSpPr>
          <p:cNvPr id="31" name="Shape 25"/>
          <p:cNvSpPr/>
          <p:nvPr/>
        </p:nvSpPr>
        <p:spPr>
          <a:xfrm>
            <a:off x="571500" y="4362602"/>
            <a:ext cx="5381244" cy="295351"/>
          </a:xfrm>
          <a:prstGeom prst="roundRect">
            <a:avLst>
              <a:gd name="adj" fmla="val 79896"/>
            </a:avLst>
          </a:prstGeom>
          <a:solidFill>
            <a:srgbClr val="3D3D3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2" name="Text 26"/>
          <p:cNvSpPr txBox="1"/>
          <p:nvPr/>
        </p:nvSpPr>
        <p:spPr>
          <a:xfrm>
            <a:off x="758952" y="4438498"/>
            <a:ext cx="106161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D4D4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manage_users.sh</a:t>
            </a:r>
            <a:endParaRPr lang="en-US" sz="800" dirty="0"/>
          </a:p>
        </p:txBody>
      </p:sp>
      <p:sp>
        <p:nvSpPr>
          <p:cNvPr id="33" name="Text 27"/>
          <p:cNvSpPr txBox="1"/>
          <p:nvPr/>
        </p:nvSpPr>
        <p:spPr>
          <a:xfrm>
            <a:off x="4950562" y="4438498"/>
            <a:ext cx="133776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CAF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Gestión de permisos</a:t>
            </a:r>
            <a:endParaRPr lang="en-US" sz="800" dirty="0"/>
          </a:p>
        </p:txBody>
      </p:sp>
      <p:sp>
        <p:nvSpPr>
          <p:cNvPr id="34" name="Shape 28"/>
          <p:cNvSpPr/>
          <p:nvPr/>
        </p:nvSpPr>
        <p:spPr>
          <a:xfrm>
            <a:off x="571500" y="4715561"/>
            <a:ext cx="5381244" cy="295351"/>
          </a:xfrm>
          <a:prstGeom prst="roundRect">
            <a:avLst>
              <a:gd name="adj" fmla="val 79896"/>
            </a:avLst>
          </a:prstGeom>
          <a:solidFill>
            <a:srgbClr val="3D3D3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5" name="Text 29"/>
          <p:cNvSpPr txBox="1"/>
          <p:nvPr/>
        </p:nvSpPr>
        <p:spPr>
          <a:xfrm>
            <a:off x="758952" y="4791456"/>
            <a:ext cx="1053389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D4D4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cleanup_logs.sh</a:t>
            </a:r>
            <a:endParaRPr lang="en-US" sz="800" dirty="0"/>
          </a:p>
        </p:txBody>
      </p:sp>
      <p:sp>
        <p:nvSpPr>
          <p:cNvPr id="36" name="Text 30"/>
          <p:cNvSpPr txBox="1"/>
          <p:nvPr/>
        </p:nvSpPr>
        <p:spPr>
          <a:xfrm>
            <a:off x="4890211" y="4791456"/>
            <a:ext cx="134599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CAF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Limpieza programada</a:t>
            </a:r>
            <a:endParaRPr lang="en-US" sz="800" dirty="0"/>
          </a:p>
        </p:txBody>
      </p:sp>
      <p:sp>
        <p:nvSpPr>
          <p:cNvPr id="37" name="Shape 31"/>
          <p:cNvSpPr/>
          <p:nvPr/>
        </p:nvSpPr>
        <p:spPr>
          <a:xfrm>
            <a:off x="6238951" y="1314907"/>
            <a:ext cx="5381244" cy="2229307"/>
          </a:xfrm>
          <a:prstGeom prst="roundRect">
            <a:avLst>
              <a:gd name="adj" fmla="val 2805"/>
            </a:avLst>
          </a:prstGeom>
          <a:solidFill>
            <a:srgbClr val="2D2D2D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8" name="Shape 32"/>
          <p:cNvSpPr/>
          <p:nvPr/>
        </p:nvSpPr>
        <p:spPr>
          <a:xfrm>
            <a:off x="6391656" y="1466698"/>
            <a:ext cx="228600" cy="228600"/>
          </a:xfrm>
          <a:prstGeom prst="roundRect">
            <a:avLst>
              <a:gd name="adj" fmla="val 133333"/>
            </a:avLst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7"/>
          <a:srcRect t="-80" b="-80"/>
          <a:stretch/>
        </p:blipFill>
        <p:spPr>
          <a:xfrm>
            <a:off x="6433718" y="1524305"/>
            <a:ext cx="142646" cy="114300"/>
          </a:xfrm>
          <a:prstGeom prst="rect">
            <a:avLst/>
          </a:prstGeom>
        </p:spPr>
      </p:pic>
      <p:sp>
        <p:nvSpPr>
          <p:cNvPr id="40" name="Text 33"/>
          <p:cNvSpPr txBox="1"/>
          <p:nvPr/>
        </p:nvSpPr>
        <p:spPr>
          <a:xfrm>
            <a:off x="6715354" y="1490472"/>
            <a:ext cx="18480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Automatización de Tareas</a:t>
            </a:r>
            <a:endParaRPr lang="en-US" sz="1000" dirty="0"/>
          </a:p>
        </p:txBody>
      </p:sp>
      <p:sp>
        <p:nvSpPr>
          <p:cNvPr id="41" name="Text 34"/>
          <p:cNvSpPr txBox="1"/>
          <p:nvPr/>
        </p:nvSpPr>
        <p:spPr>
          <a:xfrm>
            <a:off x="6391656" y="1828800"/>
            <a:ext cx="57634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Scripts para automatizar la instalación de dependencias, gestión de usuarios y limpieza de logs.</a:t>
            </a:r>
            <a:endParaRPr lang="en-US" sz="900" dirty="0"/>
          </a:p>
        </p:txBody>
      </p:sp>
      <p:sp>
        <p:nvSpPr>
          <p:cNvPr id="42" name="Shape 35"/>
          <p:cNvSpPr/>
          <p:nvPr/>
        </p:nvSpPr>
        <p:spPr>
          <a:xfrm>
            <a:off x="6391656" y="2129638"/>
            <a:ext cx="5076749" cy="809244"/>
          </a:xfrm>
          <a:prstGeom prst="roundRect">
            <a:avLst>
              <a:gd name="adj" fmla="val 10635"/>
            </a:avLst>
          </a:prstGeom>
          <a:solidFill>
            <a:srgbClr val="0D0D0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3" name="Text 36"/>
          <p:cNvSpPr txBox="1"/>
          <p:nvPr/>
        </p:nvSpPr>
        <p:spPr>
          <a:xfrm>
            <a:off x="6467551" y="2205533"/>
            <a:ext cx="4924958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0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endParaRPr lang="en-US" sz="800" dirty="0"/>
          </a:p>
        </p:txBody>
      </p:sp>
      <p:sp>
        <p:nvSpPr>
          <p:cNvPr id="44" name="Text 37"/>
          <p:cNvSpPr txBox="1"/>
          <p:nvPr/>
        </p:nvSpPr>
        <p:spPr>
          <a:xfrm>
            <a:off x="6467551" y="2310689"/>
            <a:ext cx="4924958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./setup_dependencies.sh</a:t>
            </a:r>
            <a:endParaRPr lang="en-US" sz="800" dirty="0"/>
          </a:p>
        </p:txBody>
      </p:sp>
      <p:sp>
        <p:nvSpPr>
          <p:cNvPr id="45" name="Text 38"/>
          <p:cNvSpPr txBox="1"/>
          <p:nvPr/>
        </p:nvSpPr>
        <p:spPr>
          <a:xfrm>
            <a:off x="6467551" y="2415845"/>
            <a:ext cx="4924958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Instalando paquetes...</a:t>
            </a:r>
            <a:endParaRPr lang="en-US" sz="800" dirty="0"/>
          </a:p>
        </p:txBody>
      </p:sp>
      <p:sp>
        <p:nvSpPr>
          <p:cNvPr id="46" name="Text 39"/>
          <p:cNvSpPr txBox="1"/>
          <p:nvPr/>
        </p:nvSpPr>
        <p:spPr>
          <a:xfrm>
            <a:off x="6467551" y="2520086"/>
            <a:ext cx="492495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git instalado</a:t>
            </a:r>
            <a:endParaRPr lang="en-US" sz="800" dirty="0"/>
          </a:p>
        </p:txBody>
      </p:sp>
      <p:sp>
        <p:nvSpPr>
          <p:cNvPr id="47" name="Text 40"/>
          <p:cNvSpPr txBox="1"/>
          <p:nvPr/>
        </p:nvSpPr>
        <p:spPr>
          <a:xfrm>
            <a:off x="6467551" y="2634386"/>
            <a:ext cx="492495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docker instalado</a:t>
            </a:r>
            <a:endParaRPr lang="en-US" sz="800" dirty="0"/>
          </a:p>
        </p:txBody>
      </p:sp>
      <p:sp>
        <p:nvSpPr>
          <p:cNvPr id="48" name="Text 41"/>
          <p:cNvSpPr txBox="1"/>
          <p:nvPr/>
        </p:nvSpPr>
        <p:spPr>
          <a:xfrm>
            <a:off x="6467551" y="2748686"/>
            <a:ext cx="492495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python3 instalado</a:t>
            </a:r>
            <a:endParaRPr lang="en-US" sz="800" dirty="0"/>
          </a:p>
        </p:txBody>
      </p:sp>
      <p:sp>
        <p:nvSpPr>
          <p:cNvPr id="49" name="Shape 42"/>
          <p:cNvSpPr/>
          <p:nvPr/>
        </p:nvSpPr>
        <p:spPr>
          <a:xfrm>
            <a:off x="6391656" y="3091586"/>
            <a:ext cx="5076749" cy="295351"/>
          </a:xfrm>
          <a:prstGeom prst="roundRect">
            <a:avLst>
              <a:gd name="adj" fmla="val 79896"/>
            </a:avLst>
          </a:prstGeom>
          <a:solidFill>
            <a:srgbClr val="3D3D3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0" name="Shape 43"/>
          <p:cNvSpPr/>
          <p:nvPr/>
        </p:nvSpPr>
        <p:spPr>
          <a:xfrm>
            <a:off x="6467551" y="3201314"/>
            <a:ext cx="75895" cy="75895"/>
          </a:xfrm>
          <a:prstGeom prst="ellipse">
            <a:avLst/>
          </a:prstGeom>
          <a:solidFill>
            <a:srgbClr val="4CAF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1" name="Text 44"/>
          <p:cNvSpPr txBox="1"/>
          <p:nvPr/>
        </p:nvSpPr>
        <p:spPr>
          <a:xfrm>
            <a:off x="6590995" y="3168396"/>
            <a:ext cx="779069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AWS CLI: OK</a:t>
            </a:r>
            <a:endParaRPr lang="en-US" sz="800" dirty="0"/>
          </a:p>
        </p:txBody>
      </p:sp>
      <p:sp>
        <p:nvSpPr>
          <p:cNvPr id="52" name="Shape 45"/>
          <p:cNvSpPr/>
          <p:nvPr/>
        </p:nvSpPr>
        <p:spPr>
          <a:xfrm>
            <a:off x="7309714" y="3201314"/>
            <a:ext cx="75895" cy="75895"/>
          </a:xfrm>
          <a:prstGeom prst="ellipse">
            <a:avLst/>
          </a:prstGeom>
          <a:solidFill>
            <a:srgbClr val="4CAF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3" name="Text 46"/>
          <p:cNvSpPr txBox="1"/>
          <p:nvPr/>
        </p:nvSpPr>
        <p:spPr>
          <a:xfrm>
            <a:off x="7434072" y="3168396"/>
            <a:ext cx="105887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Docker: Running</a:t>
            </a:r>
            <a:endParaRPr lang="en-US" sz="800" dirty="0"/>
          </a:p>
        </p:txBody>
      </p:sp>
      <p:sp>
        <p:nvSpPr>
          <p:cNvPr id="54" name="Shape 47"/>
          <p:cNvSpPr/>
          <p:nvPr/>
        </p:nvSpPr>
        <p:spPr>
          <a:xfrm>
            <a:off x="8342071" y="3201314"/>
            <a:ext cx="75895" cy="75895"/>
          </a:xfrm>
          <a:prstGeom prst="ellipse">
            <a:avLst/>
          </a:prstGeom>
          <a:solidFill>
            <a:srgbClr val="4CAF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5" name="Text 48"/>
          <p:cNvSpPr txBox="1"/>
          <p:nvPr/>
        </p:nvSpPr>
        <p:spPr>
          <a:xfrm>
            <a:off x="8465515" y="3168396"/>
            <a:ext cx="7690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Python: 3.9</a:t>
            </a:r>
            <a:endParaRPr lang="en-US" sz="800" dirty="0"/>
          </a:p>
        </p:txBody>
      </p:sp>
      <p:sp>
        <p:nvSpPr>
          <p:cNvPr id="56" name="Shape 49"/>
          <p:cNvSpPr/>
          <p:nvPr/>
        </p:nvSpPr>
        <p:spPr>
          <a:xfrm>
            <a:off x="6238951" y="3682289"/>
            <a:ext cx="5381244" cy="2018995"/>
          </a:xfrm>
          <a:prstGeom prst="roundRect">
            <a:avLst>
              <a:gd name="adj" fmla="val 3418"/>
            </a:avLst>
          </a:prstGeom>
          <a:solidFill>
            <a:srgbClr val="2D2D2D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7" name="Shape 50"/>
          <p:cNvSpPr/>
          <p:nvPr/>
        </p:nvSpPr>
        <p:spPr>
          <a:xfrm>
            <a:off x="6391656" y="3834994"/>
            <a:ext cx="228600" cy="228600"/>
          </a:xfrm>
          <a:prstGeom prst="roundRect">
            <a:avLst>
              <a:gd name="adj" fmla="val 133333"/>
            </a:avLst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58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448349" y="3891686"/>
            <a:ext cx="114300" cy="114300"/>
          </a:xfrm>
          <a:prstGeom prst="rect">
            <a:avLst/>
          </a:prstGeom>
        </p:spPr>
      </p:pic>
      <p:sp>
        <p:nvSpPr>
          <p:cNvPr id="59" name="Text 51"/>
          <p:cNvSpPr txBox="1"/>
          <p:nvPr/>
        </p:nvSpPr>
        <p:spPr>
          <a:xfrm>
            <a:off x="6715354" y="3858768"/>
            <a:ext cx="184434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Validación de Acceso</a:t>
            </a:r>
            <a:endParaRPr lang="en-US" sz="1000" dirty="0"/>
          </a:p>
        </p:txBody>
      </p:sp>
      <p:sp>
        <p:nvSpPr>
          <p:cNvPr id="60" name="Text 52"/>
          <p:cNvSpPr txBox="1"/>
          <p:nvPr/>
        </p:nvSpPr>
        <p:spPr>
          <a:xfrm>
            <a:off x="6391656" y="4197096"/>
            <a:ext cx="50776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Uso de AWS Policy Simulator para verificar permisos y acceso a servicios.</a:t>
            </a:r>
            <a:endParaRPr lang="en-US" sz="900" dirty="0"/>
          </a:p>
        </p:txBody>
      </p:sp>
      <p:sp>
        <p:nvSpPr>
          <p:cNvPr id="61" name="Shape 53"/>
          <p:cNvSpPr/>
          <p:nvPr/>
        </p:nvSpPr>
        <p:spPr>
          <a:xfrm>
            <a:off x="6391656" y="4497934"/>
            <a:ext cx="5076749" cy="1047902"/>
          </a:xfrm>
          <a:prstGeom prst="roundRect">
            <a:avLst>
              <a:gd name="adj" fmla="val 12692"/>
            </a:avLst>
          </a:prstGeom>
          <a:solidFill>
            <a:srgbClr val="2D2D2D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2" name="Text 54"/>
          <p:cNvSpPr txBox="1"/>
          <p:nvPr/>
        </p:nvSpPr>
        <p:spPr>
          <a:xfrm>
            <a:off x="6543446" y="4657039"/>
            <a:ext cx="19111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63" name="Text 55"/>
          <p:cNvSpPr txBox="1"/>
          <p:nvPr/>
        </p:nvSpPr>
        <p:spPr>
          <a:xfrm>
            <a:off x="6810451" y="4659782"/>
            <a:ext cx="214335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Verificar acceso a servicios AWS</a:t>
            </a:r>
            <a:endParaRPr lang="en-US" sz="800" dirty="0"/>
          </a:p>
        </p:txBody>
      </p:sp>
      <p:sp>
        <p:nvSpPr>
          <p:cNvPr id="64" name="Text 56"/>
          <p:cNvSpPr txBox="1"/>
          <p:nvPr/>
        </p:nvSpPr>
        <p:spPr>
          <a:xfrm>
            <a:off x="6543446" y="4841748"/>
            <a:ext cx="19111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00" dirty="0"/>
          </a:p>
        </p:txBody>
      </p:sp>
      <p:sp>
        <p:nvSpPr>
          <p:cNvPr id="65" name="Text 57"/>
          <p:cNvSpPr txBox="1"/>
          <p:nvPr/>
        </p:nvSpPr>
        <p:spPr>
          <a:xfrm>
            <a:off x="6810451" y="4834433"/>
            <a:ext cx="22101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</a:t>
            </a:r>
            <a:r>
              <a:rPr lang="en-US" sz="8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iam</a:t>
            </a: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simulate-principal-policy \</a:t>
            </a:r>
            <a:endParaRPr lang="en-US" sz="800" dirty="0"/>
          </a:p>
        </p:txBody>
      </p:sp>
      <p:sp>
        <p:nvSpPr>
          <p:cNvPr id="66" name="Text 58"/>
          <p:cNvSpPr txBox="1"/>
          <p:nvPr/>
        </p:nvSpPr>
        <p:spPr>
          <a:xfrm>
            <a:off x="6543446" y="5026457"/>
            <a:ext cx="19111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800" dirty="0"/>
          </a:p>
        </p:txBody>
      </p:sp>
      <p:sp>
        <p:nvSpPr>
          <p:cNvPr id="67" name="Text 59"/>
          <p:cNvSpPr txBox="1"/>
          <p:nvPr/>
        </p:nvSpPr>
        <p:spPr>
          <a:xfrm>
            <a:off x="6810451" y="5020056"/>
            <a:ext cx="37152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--policy-source-arn arn:aws:iam::123456789012:user/user1 \</a:t>
            </a:r>
            <a:endParaRPr lang="en-US" sz="800" dirty="0"/>
          </a:p>
        </p:txBody>
      </p:sp>
      <p:sp>
        <p:nvSpPr>
          <p:cNvPr id="68" name="Text 60"/>
          <p:cNvSpPr txBox="1"/>
          <p:nvPr/>
        </p:nvSpPr>
        <p:spPr>
          <a:xfrm>
            <a:off x="6543446" y="5211166"/>
            <a:ext cx="19111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800" dirty="0"/>
          </a:p>
        </p:txBody>
      </p:sp>
      <p:sp>
        <p:nvSpPr>
          <p:cNvPr id="69" name="Text 61"/>
          <p:cNvSpPr txBox="1"/>
          <p:nvPr/>
        </p:nvSpPr>
        <p:spPr>
          <a:xfrm>
            <a:off x="6810451" y="5204765"/>
            <a:ext cx="31528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--action-names s3:GetObject ec2:DescribeInstances</a:t>
            </a:r>
            <a:endParaRPr lang="en-US" sz="800" dirty="0"/>
          </a:p>
        </p:txBody>
      </p:sp>
      <p:sp>
        <p:nvSpPr>
          <p:cNvPr id="70" name="Text 62"/>
          <p:cNvSpPr txBox="1"/>
          <p:nvPr/>
        </p:nvSpPr>
        <p:spPr>
          <a:xfrm>
            <a:off x="571500" y="6515100"/>
            <a:ext cx="196138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DevOps en AWS - Proyecto 2026</a:t>
            </a:r>
            <a:endParaRPr lang="en-US" sz="900" dirty="0"/>
          </a:p>
        </p:txBody>
      </p:sp>
      <p:sp>
        <p:nvSpPr>
          <p:cNvPr id="71" name="Text 63"/>
          <p:cNvSpPr txBox="1"/>
          <p:nvPr/>
        </p:nvSpPr>
        <p:spPr>
          <a:xfrm>
            <a:off x="9529877" y="6515100"/>
            <a:ext cx="249448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Equipo: Narciso, Caleb, Rodrigo, Natanael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571500" y="1228954"/>
            <a:ext cx="11048695" cy="28346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 txBox="1"/>
          <p:nvPr/>
        </p:nvSpPr>
        <p:spPr>
          <a:xfrm>
            <a:off x="571500" y="381305"/>
            <a:ext cx="72063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Automatización con Python y boto3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886054"/>
            <a:ext cx="58110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Scripts de automatización para gestión de recursos AWS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l="30750" r="30750"/>
          <a:stretch/>
        </p:blipFill>
        <p:spPr>
          <a:xfrm>
            <a:off x="10185502" y="448056"/>
            <a:ext cx="571500" cy="5715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852099" y="448056"/>
            <a:ext cx="77175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Tecmilenio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71500" y="1495044"/>
            <a:ext cx="5381244" cy="4819802"/>
          </a:xfrm>
          <a:prstGeom prst="roundRect">
            <a:avLst>
              <a:gd name="adj" fmla="val 750"/>
            </a:avLst>
          </a:prstGeom>
          <a:solidFill>
            <a:srgbClr val="F8F9FA"/>
          </a:solidFill>
          <a:ln w="254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Shape 7"/>
          <p:cNvSpPr/>
          <p:nvPr/>
        </p:nvSpPr>
        <p:spPr>
          <a:xfrm>
            <a:off x="743407" y="1666951"/>
            <a:ext cx="304495" cy="304495"/>
          </a:xfrm>
          <a:prstGeom prst="roundRect">
            <a:avLst>
              <a:gd name="adj" fmla="val 112613"/>
            </a:avLst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8"/>
          <p:cNvSpPr txBox="1"/>
          <p:nvPr/>
        </p:nvSpPr>
        <p:spPr>
          <a:xfrm>
            <a:off x="743407" y="1666951"/>
            <a:ext cx="305410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🐍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1143000" y="1705356"/>
            <a:ext cx="3230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Funciones de Automatización AWS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43407" y="2085746"/>
            <a:ext cx="5038344" cy="552298"/>
          </a:xfrm>
          <a:prstGeom prst="roundRect">
            <a:avLst>
              <a:gd name="adj" fmla="val 3425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4" name="Shape 11"/>
          <p:cNvSpPr/>
          <p:nvPr/>
        </p:nvSpPr>
        <p:spPr>
          <a:xfrm>
            <a:off x="743407" y="2085746"/>
            <a:ext cx="28346" cy="552298"/>
          </a:xfrm>
          <a:prstGeom prst="roundRect">
            <a:avLst>
              <a:gd name="adj" fmla="val 667418"/>
            </a:avLst>
          </a:prstGeom>
          <a:solidFill>
            <a:srgbClr val="1B5E20"/>
          </a:solidFill>
          <a:ln w="12700">
            <a:solidFill>
              <a:srgbClr val="1B5E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Shape 12"/>
          <p:cNvSpPr/>
          <p:nvPr/>
        </p:nvSpPr>
        <p:spPr>
          <a:xfrm>
            <a:off x="866851" y="2200046"/>
            <a:ext cx="190195" cy="190195"/>
          </a:xfrm>
          <a:prstGeom prst="ellipse">
            <a:avLst/>
          </a:prstGeom>
          <a:solidFill>
            <a:srgbClr val="FFC10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3"/>
          <p:cNvSpPr/>
          <p:nvPr/>
        </p:nvSpPr>
        <p:spPr>
          <a:xfrm>
            <a:off x="866851" y="2200046"/>
            <a:ext cx="191110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800" dirty="0"/>
          </a:p>
        </p:txBody>
      </p:sp>
      <p:sp>
        <p:nvSpPr>
          <p:cNvPr id="17" name="Text 14"/>
          <p:cNvSpPr txBox="1"/>
          <p:nvPr/>
        </p:nvSpPr>
        <p:spPr>
          <a:xfrm>
            <a:off x="1152144" y="2180844"/>
            <a:ext cx="45345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Listar Instancias EC2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1152144" y="2381098"/>
            <a:ext cx="52203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Script que muestra id, tipo, estado y zona de disponibilidad de instancias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743407" y="2959913"/>
            <a:ext cx="5038344" cy="552298"/>
          </a:xfrm>
          <a:prstGeom prst="roundRect">
            <a:avLst>
              <a:gd name="adj" fmla="val 3425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0" name="Shape 17"/>
          <p:cNvSpPr/>
          <p:nvPr/>
        </p:nvSpPr>
        <p:spPr>
          <a:xfrm>
            <a:off x="743407" y="2959913"/>
            <a:ext cx="28346" cy="552298"/>
          </a:xfrm>
          <a:prstGeom prst="roundRect">
            <a:avLst>
              <a:gd name="adj" fmla="val 667418"/>
            </a:avLst>
          </a:prstGeom>
          <a:solidFill>
            <a:srgbClr val="1B5E20"/>
          </a:solidFill>
          <a:ln w="12700">
            <a:solidFill>
              <a:srgbClr val="1B5E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Shape 18"/>
          <p:cNvSpPr/>
          <p:nvPr/>
        </p:nvSpPr>
        <p:spPr>
          <a:xfrm>
            <a:off x="866851" y="3074213"/>
            <a:ext cx="190195" cy="190195"/>
          </a:xfrm>
          <a:prstGeom prst="ellipse">
            <a:avLst/>
          </a:prstGeom>
          <a:solidFill>
            <a:srgbClr val="FFC10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19"/>
          <p:cNvSpPr/>
          <p:nvPr/>
        </p:nvSpPr>
        <p:spPr>
          <a:xfrm>
            <a:off x="866851" y="3074213"/>
            <a:ext cx="191110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800" dirty="0"/>
          </a:p>
        </p:txBody>
      </p:sp>
      <p:sp>
        <p:nvSpPr>
          <p:cNvPr id="23" name="Text 20"/>
          <p:cNvSpPr txBox="1"/>
          <p:nvPr/>
        </p:nvSpPr>
        <p:spPr>
          <a:xfrm>
            <a:off x="1152144" y="3055010"/>
            <a:ext cx="45345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Reportes de Uso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1152144" y="3255264"/>
            <a:ext cx="45345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Generación de reportes de recursos en formato CSV/JSON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743407" y="3834994"/>
            <a:ext cx="5038344" cy="552298"/>
          </a:xfrm>
          <a:prstGeom prst="roundRect">
            <a:avLst>
              <a:gd name="adj" fmla="val 3425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6" name="Shape 23"/>
          <p:cNvSpPr/>
          <p:nvPr/>
        </p:nvSpPr>
        <p:spPr>
          <a:xfrm>
            <a:off x="743407" y="3834994"/>
            <a:ext cx="28346" cy="552298"/>
          </a:xfrm>
          <a:prstGeom prst="roundRect">
            <a:avLst>
              <a:gd name="adj" fmla="val 667418"/>
            </a:avLst>
          </a:prstGeom>
          <a:solidFill>
            <a:srgbClr val="1B5E20"/>
          </a:solidFill>
          <a:ln w="12700">
            <a:solidFill>
              <a:srgbClr val="1B5E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Shape 24"/>
          <p:cNvSpPr/>
          <p:nvPr/>
        </p:nvSpPr>
        <p:spPr>
          <a:xfrm>
            <a:off x="866851" y="3949294"/>
            <a:ext cx="190195" cy="190195"/>
          </a:xfrm>
          <a:prstGeom prst="ellipse">
            <a:avLst/>
          </a:prstGeom>
          <a:solidFill>
            <a:srgbClr val="FFC10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Text 25"/>
          <p:cNvSpPr/>
          <p:nvPr/>
        </p:nvSpPr>
        <p:spPr>
          <a:xfrm>
            <a:off x="866851" y="3949294"/>
            <a:ext cx="191110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800" dirty="0"/>
          </a:p>
        </p:txBody>
      </p:sp>
      <p:sp>
        <p:nvSpPr>
          <p:cNvPr id="29" name="Text 26"/>
          <p:cNvSpPr txBox="1"/>
          <p:nvPr/>
        </p:nvSpPr>
        <p:spPr>
          <a:xfrm>
            <a:off x="1152144" y="3930091"/>
            <a:ext cx="45345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Métricas de CloudWatch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1152144" y="4129430"/>
            <a:ext cx="45345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Obtención de métricas de CPU, Network y estado de instancias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743407" y="4709160"/>
            <a:ext cx="5038344" cy="552298"/>
          </a:xfrm>
          <a:prstGeom prst="roundRect">
            <a:avLst>
              <a:gd name="adj" fmla="val 3425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2" name="Shape 29"/>
          <p:cNvSpPr/>
          <p:nvPr/>
        </p:nvSpPr>
        <p:spPr>
          <a:xfrm>
            <a:off x="743407" y="4709160"/>
            <a:ext cx="28346" cy="552298"/>
          </a:xfrm>
          <a:prstGeom prst="roundRect">
            <a:avLst>
              <a:gd name="adj" fmla="val 667418"/>
            </a:avLst>
          </a:prstGeom>
          <a:solidFill>
            <a:srgbClr val="1B5E20"/>
          </a:solidFill>
          <a:ln w="12700">
            <a:solidFill>
              <a:srgbClr val="1B5E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3" name="Shape 30"/>
          <p:cNvSpPr/>
          <p:nvPr/>
        </p:nvSpPr>
        <p:spPr>
          <a:xfrm>
            <a:off x="866851" y="4823460"/>
            <a:ext cx="190195" cy="190195"/>
          </a:xfrm>
          <a:prstGeom prst="ellipse">
            <a:avLst/>
          </a:prstGeom>
          <a:solidFill>
            <a:srgbClr val="FFC10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4" name="Text 31"/>
          <p:cNvSpPr/>
          <p:nvPr/>
        </p:nvSpPr>
        <p:spPr>
          <a:xfrm>
            <a:off x="866851" y="4823460"/>
            <a:ext cx="191110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800" dirty="0"/>
          </a:p>
        </p:txBody>
      </p:sp>
      <p:sp>
        <p:nvSpPr>
          <p:cNvPr id="35" name="Text 32"/>
          <p:cNvSpPr txBox="1"/>
          <p:nvPr/>
        </p:nvSpPr>
        <p:spPr>
          <a:xfrm>
            <a:off x="1152144" y="4804258"/>
            <a:ext cx="45345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Gestión S3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1152144" y="5003597"/>
            <a:ext cx="45345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Listar buckets y objetos con boto3, subida automatizada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743407" y="5583326"/>
            <a:ext cx="5038344" cy="552298"/>
          </a:xfrm>
          <a:prstGeom prst="roundRect">
            <a:avLst>
              <a:gd name="adj" fmla="val 3425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8" name="Shape 35"/>
          <p:cNvSpPr/>
          <p:nvPr/>
        </p:nvSpPr>
        <p:spPr>
          <a:xfrm>
            <a:off x="743407" y="5583326"/>
            <a:ext cx="28346" cy="552298"/>
          </a:xfrm>
          <a:prstGeom prst="roundRect">
            <a:avLst>
              <a:gd name="adj" fmla="val 667418"/>
            </a:avLst>
          </a:prstGeom>
          <a:solidFill>
            <a:srgbClr val="1B5E20"/>
          </a:solidFill>
          <a:ln w="12700">
            <a:solidFill>
              <a:srgbClr val="1B5E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9" name="Shape 36"/>
          <p:cNvSpPr/>
          <p:nvPr/>
        </p:nvSpPr>
        <p:spPr>
          <a:xfrm>
            <a:off x="866851" y="5697626"/>
            <a:ext cx="190195" cy="190195"/>
          </a:xfrm>
          <a:prstGeom prst="ellipse">
            <a:avLst/>
          </a:prstGeom>
          <a:solidFill>
            <a:srgbClr val="FFC10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0" name="Text 37"/>
          <p:cNvSpPr/>
          <p:nvPr/>
        </p:nvSpPr>
        <p:spPr>
          <a:xfrm>
            <a:off x="866851" y="5697626"/>
            <a:ext cx="191110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800" dirty="0"/>
          </a:p>
        </p:txBody>
      </p:sp>
      <p:sp>
        <p:nvSpPr>
          <p:cNvPr id="41" name="Text 38"/>
          <p:cNvSpPr txBox="1"/>
          <p:nvPr/>
        </p:nvSpPr>
        <p:spPr>
          <a:xfrm>
            <a:off x="1152144" y="5678424"/>
            <a:ext cx="45345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 Scaling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1152144" y="5878678"/>
            <a:ext cx="45345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Gestión de políticas dentro de los límites del Learner Lab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6238951" y="1495044"/>
            <a:ext cx="5381244" cy="1952244"/>
          </a:xfrm>
          <a:prstGeom prst="roundRect">
            <a:avLst>
              <a:gd name="adj" fmla="val 3656"/>
            </a:avLst>
          </a:prstGeom>
          <a:solidFill>
            <a:srgbClr val="2D2D2D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4" name="Shape 41"/>
          <p:cNvSpPr/>
          <p:nvPr/>
        </p:nvSpPr>
        <p:spPr>
          <a:xfrm>
            <a:off x="6391656" y="1905610"/>
            <a:ext cx="5076749" cy="9144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5" name="Text 42"/>
          <p:cNvSpPr txBox="1"/>
          <p:nvPr/>
        </p:nvSpPr>
        <p:spPr>
          <a:xfrm>
            <a:off x="6391656" y="1671523"/>
            <a:ext cx="9628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ec2_manager.py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10972800" y="1647749"/>
            <a:ext cx="504749" cy="181051"/>
          </a:xfrm>
          <a:prstGeom prst="roundRect">
            <a:avLst>
              <a:gd name="adj" fmla="val 212653"/>
            </a:avLst>
          </a:prstGeom>
          <a:solidFill>
            <a:srgbClr val="3776A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7" name="Text 44"/>
          <p:cNvSpPr txBox="1"/>
          <p:nvPr/>
        </p:nvSpPr>
        <p:spPr>
          <a:xfrm>
            <a:off x="10972800" y="1647749"/>
            <a:ext cx="505663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</a:t>
            </a:r>
            <a:endParaRPr lang="en-US" sz="800" dirty="0"/>
          </a:p>
        </p:txBody>
      </p:sp>
      <p:sp>
        <p:nvSpPr>
          <p:cNvPr id="48" name="Text 45"/>
          <p:cNvSpPr txBox="1"/>
          <p:nvPr/>
        </p:nvSpPr>
        <p:spPr>
          <a:xfrm>
            <a:off x="6391656" y="2009851"/>
            <a:ext cx="5077663" cy="1286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92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90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boto3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F92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r>
              <a:rPr lang="en-US" sz="90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list_ec2_instances</a:t>
            </a:r>
            <a:r>
              <a:rPr lang="en-US" sz="90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():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ec2 = boto3.client(</a:t>
            </a:r>
            <a:r>
              <a:rPr lang="en-US" sz="900" dirty="0">
                <a:solidFill>
                  <a:srgbClr val="A6E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'ec2'</a:t>
            </a:r>
            <a:r>
              <a:rPr lang="en-US" sz="90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response = ec2.describe_instances()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F92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90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reservation </a:t>
            </a:r>
            <a:r>
              <a:rPr lang="en-US" sz="900" dirty="0">
                <a:solidFill>
                  <a:srgbClr val="F92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90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response[</a:t>
            </a:r>
            <a:r>
              <a:rPr lang="en-US" sz="900" dirty="0">
                <a:solidFill>
                  <a:srgbClr val="A6E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'Reservations'</a:t>
            </a:r>
            <a:r>
              <a:rPr lang="en-US" sz="90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]: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F92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90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instance </a:t>
            </a:r>
            <a:r>
              <a:rPr lang="en-US" sz="900" dirty="0">
                <a:solidFill>
                  <a:srgbClr val="F92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90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reservation[</a:t>
            </a:r>
            <a:r>
              <a:rPr lang="en-US" sz="900" dirty="0">
                <a:solidFill>
                  <a:srgbClr val="A6E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'Instances'</a:t>
            </a:r>
            <a:r>
              <a:rPr lang="en-US" sz="90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]: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90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00" dirty="0">
                <a:solidFill>
                  <a:srgbClr val="A6E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f"ID: {instance['InstanceId']}"</a:t>
            </a:r>
            <a:r>
              <a:rPr lang="en-US" sz="90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endParaRPr lang="en-US" sz="900" dirty="0"/>
          </a:p>
        </p:txBody>
      </p:sp>
      <p:sp>
        <p:nvSpPr>
          <p:cNvPr id="49" name="Shape 46"/>
          <p:cNvSpPr/>
          <p:nvPr/>
        </p:nvSpPr>
        <p:spPr>
          <a:xfrm>
            <a:off x="6238951" y="3585362"/>
            <a:ext cx="5381244" cy="2133295"/>
          </a:xfrm>
          <a:prstGeom prst="roundRect">
            <a:avLst>
              <a:gd name="adj" fmla="val 3062"/>
            </a:avLst>
          </a:prstGeom>
          <a:solidFill>
            <a:srgbClr val="2D2D2D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0" name="Shape 47"/>
          <p:cNvSpPr/>
          <p:nvPr/>
        </p:nvSpPr>
        <p:spPr>
          <a:xfrm>
            <a:off x="6391656" y="3995928"/>
            <a:ext cx="5076749" cy="9144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1" name="Text 48"/>
          <p:cNvSpPr txBox="1"/>
          <p:nvPr/>
        </p:nvSpPr>
        <p:spPr>
          <a:xfrm>
            <a:off x="6391656" y="3761842"/>
            <a:ext cx="144841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cloudwatch_metrics.py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11143793" y="3738067"/>
            <a:ext cx="333756" cy="181051"/>
          </a:xfrm>
          <a:prstGeom prst="roundRect">
            <a:avLst>
              <a:gd name="adj" fmla="val 212653"/>
            </a:avLst>
          </a:prstGeom>
          <a:solidFill>
            <a:srgbClr val="FF99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3" name="Text 50"/>
          <p:cNvSpPr txBox="1"/>
          <p:nvPr/>
        </p:nvSpPr>
        <p:spPr>
          <a:xfrm>
            <a:off x="11143793" y="3738067"/>
            <a:ext cx="333756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</a:t>
            </a:r>
            <a:endParaRPr lang="en-US" sz="800" dirty="0"/>
          </a:p>
        </p:txBody>
      </p:sp>
      <p:sp>
        <p:nvSpPr>
          <p:cNvPr id="54" name="Text 51"/>
          <p:cNvSpPr txBox="1"/>
          <p:nvPr/>
        </p:nvSpPr>
        <p:spPr>
          <a:xfrm>
            <a:off x="6391656" y="4100170"/>
            <a:ext cx="5077663" cy="1467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92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r>
              <a:rPr lang="en-US" sz="90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get_cpu_metrics</a:t>
            </a:r>
            <a:r>
              <a:rPr lang="en-US" sz="90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(instance_id):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cloudwatch = boto3.client(</a:t>
            </a:r>
            <a:r>
              <a:rPr lang="en-US" sz="900" dirty="0">
                <a:solidFill>
                  <a:srgbClr val="A6E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'cloudwatch'</a:t>
            </a:r>
            <a:r>
              <a:rPr lang="en-US" sz="90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response = cloudwatch.get_metric_statistics(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Namespace=</a:t>
            </a:r>
            <a:r>
              <a:rPr lang="en-US" sz="900" dirty="0">
                <a:solidFill>
                  <a:srgbClr val="A6E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'AWS/EC2'</a:t>
            </a:r>
            <a:r>
              <a:rPr lang="en-US" sz="90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MetricName=</a:t>
            </a:r>
            <a:r>
              <a:rPr lang="en-US" sz="900" dirty="0">
                <a:solidFill>
                  <a:srgbClr val="A6E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'CPUUtilization'</a:t>
            </a:r>
            <a:r>
              <a:rPr lang="en-US" sz="90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Dimensions=[{</a:t>
            </a:r>
            <a:r>
              <a:rPr lang="en-US" sz="900" dirty="0">
                <a:solidFill>
                  <a:srgbClr val="A6E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'Name'</a:t>
            </a:r>
            <a:r>
              <a:rPr lang="en-US" sz="90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900" dirty="0">
                <a:solidFill>
                  <a:srgbClr val="A6E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'InstanceId'</a:t>
            </a:r>
            <a:r>
              <a:rPr lang="en-US" sz="90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900" dirty="0">
                <a:solidFill>
                  <a:srgbClr val="A6E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'Value'</a:t>
            </a:r>
            <a:r>
              <a:rPr lang="en-US" sz="90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instance_id}]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)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F92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90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response[</a:t>
            </a:r>
            <a:r>
              <a:rPr lang="en-US" sz="900" dirty="0">
                <a:solidFill>
                  <a:srgbClr val="A6E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'Datapoints'</a:t>
            </a:r>
            <a:r>
              <a:rPr lang="en-US" sz="90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</a:t>
            </a:r>
            <a:endParaRPr lang="en-US" sz="900" dirty="0"/>
          </a:p>
        </p:txBody>
      </p:sp>
      <p:sp>
        <p:nvSpPr>
          <p:cNvPr id="55" name="Shape 52"/>
          <p:cNvSpPr/>
          <p:nvPr/>
        </p:nvSpPr>
        <p:spPr>
          <a:xfrm>
            <a:off x="6238951" y="5906110"/>
            <a:ext cx="5381244" cy="400507"/>
          </a:xfrm>
          <a:prstGeom prst="roundRect">
            <a:avLst>
              <a:gd name="adj" fmla="val 65232"/>
            </a:avLst>
          </a:prstGeom>
          <a:solidFill>
            <a:srgbClr val="E8F5E9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6" name="Shape 53"/>
          <p:cNvSpPr/>
          <p:nvPr/>
        </p:nvSpPr>
        <p:spPr>
          <a:xfrm>
            <a:off x="6974129" y="6067958"/>
            <a:ext cx="75895" cy="75895"/>
          </a:xfrm>
          <a:prstGeom prst="ellipse">
            <a:avLst/>
          </a:prstGeom>
          <a:solidFill>
            <a:srgbClr val="4CAF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7" name="Text 54"/>
          <p:cNvSpPr txBox="1"/>
          <p:nvPr/>
        </p:nvSpPr>
        <p:spPr>
          <a:xfrm>
            <a:off x="7098487" y="6029554"/>
            <a:ext cx="142829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EC2: 5 instancias activas</a:t>
            </a:r>
            <a:endParaRPr lang="en-US" sz="900" dirty="0"/>
          </a:p>
        </p:txBody>
      </p:sp>
      <p:sp>
        <p:nvSpPr>
          <p:cNvPr id="58" name="Shape 55"/>
          <p:cNvSpPr/>
          <p:nvPr/>
        </p:nvSpPr>
        <p:spPr>
          <a:xfrm>
            <a:off x="8439912" y="6067958"/>
            <a:ext cx="75895" cy="75895"/>
          </a:xfrm>
          <a:prstGeom prst="ellipse">
            <a:avLst/>
          </a:prstGeom>
          <a:solidFill>
            <a:srgbClr val="4CAF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9" name="Text 56"/>
          <p:cNvSpPr txBox="1"/>
          <p:nvPr/>
        </p:nvSpPr>
        <p:spPr>
          <a:xfrm>
            <a:off x="8564270" y="6029554"/>
            <a:ext cx="99212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S3: 3 buckets</a:t>
            </a:r>
            <a:endParaRPr lang="en-US" sz="900" dirty="0"/>
          </a:p>
        </p:txBody>
      </p:sp>
      <p:sp>
        <p:nvSpPr>
          <p:cNvPr id="60" name="Shape 57"/>
          <p:cNvSpPr/>
          <p:nvPr/>
        </p:nvSpPr>
        <p:spPr>
          <a:xfrm>
            <a:off x="9366199" y="6067958"/>
            <a:ext cx="75895" cy="75895"/>
          </a:xfrm>
          <a:prstGeom prst="ellipse">
            <a:avLst/>
          </a:prstGeom>
          <a:solidFill>
            <a:srgbClr val="4CAF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1" name="Text 58"/>
          <p:cNvSpPr txBox="1"/>
          <p:nvPr/>
        </p:nvSpPr>
        <p:spPr>
          <a:xfrm>
            <a:off x="9490558" y="6029554"/>
            <a:ext cx="16669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CloudWatch: Monitoreando</a:t>
            </a:r>
            <a:endParaRPr lang="en-US" sz="900" dirty="0"/>
          </a:p>
        </p:txBody>
      </p:sp>
      <p:sp>
        <p:nvSpPr>
          <p:cNvPr id="62" name="Shape 59"/>
          <p:cNvSpPr/>
          <p:nvPr/>
        </p:nvSpPr>
        <p:spPr>
          <a:xfrm>
            <a:off x="571500" y="6553505"/>
            <a:ext cx="75895" cy="75895"/>
          </a:xfrm>
          <a:prstGeom prst="ellipse">
            <a:avLst/>
          </a:prstGeom>
          <a:solidFill>
            <a:srgbClr val="4CAF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3" name="Text 60"/>
          <p:cNvSpPr txBox="1"/>
          <p:nvPr/>
        </p:nvSpPr>
        <p:spPr>
          <a:xfrm>
            <a:off x="743407" y="6515100"/>
            <a:ext cx="196138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DevOps en AWS - Proyecto 2026</a:t>
            </a:r>
            <a:endParaRPr lang="en-US" sz="900" dirty="0"/>
          </a:p>
        </p:txBody>
      </p:sp>
      <p:sp>
        <p:nvSpPr>
          <p:cNvPr id="64" name="Text 61"/>
          <p:cNvSpPr txBox="1"/>
          <p:nvPr/>
        </p:nvSpPr>
        <p:spPr>
          <a:xfrm>
            <a:off x="9529877" y="6515100"/>
            <a:ext cx="249448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Equipo: Narciso, Caleb, Rodrigo, Natanael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571500" y="1228954"/>
            <a:ext cx="11048695" cy="28346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 txBox="1"/>
          <p:nvPr/>
        </p:nvSpPr>
        <p:spPr>
          <a:xfrm>
            <a:off x="571500" y="381305"/>
            <a:ext cx="50804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CloudFormation como IaC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886054"/>
            <a:ext cx="42108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Infraestructura como Código para AWS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l="30750" r="30750"/>
          <a:stretch/>
        </p:blipFill>
        <p:spPr>
          <a:xfrm>
            <a:off x="9993478" y="448056"/>
            <a:ext cx="571500" cy="5715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660075" y="448056"/>
            <a:ext cx="96286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Tecmilenio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71500" y="1495044"/>
            <a:ext cx="5381244" cy="1209751"/>
          </a:xfrm>
          <a:prstGeom prst="roundRect">
            <a:avLst>
              <a:gd name="adj" fmla="val 9523"/>
            </a:avLst>
          </a:prstGeom>
          <a:solidFill>
            <a:srgbClr val="F8F9FA"/>
          </a:solidFill>
          <a:ln w="254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Shape 7"/>
          <p:cNvSpPr/>
          <p:nvPr/>
        </p:nvSpPr>
        <p:spPr>
          <a:xfrm>
            <a:off x="838505" y="1762049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8"/>
          <p:cNvSpPr txBox="1"/>
          <p:nvPr/>
        </p:nvSpPr>
        <p:spPr>
          <a:xfrm>
            <a:off x="838505" y="1762049"/>
            <a:ext cx="381305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📝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1362456" y="1762049"/>
            <a:ext cx="43251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Plantillas YAML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1362456" y="2038198"/>
            <a:ext cx="432511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Definición de infraestructura EC2 (t3.micro) y buckets S3 con recursos declarativos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71500" y="2895905"/>
            <a:ext cx="5381244" cy="1209751"/>
          </a:xfrm>
          <a:prstGeom prst="roundRect">
            <a:avLst>
              <a:gd name="adj" fmla="val 9523"/>
            </a:avLst>
          </a:prstGeom>
          <a:solidFill>
            <a:srgbClr val="F8F9FA"/>
          </a:solidFill>
          <a:ln w="254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Shape 12"/>
          <p:cNvSpPr/>
          <p:nvPr/>
        </p:nvSpPr>
        <p:spPr>
          <a:xfrm>
            <a:off x="838505" y="3161995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3"/>
          <p:cNvSpPr txBox="1"/>
          <p:nvPr/>
        </p:nvSpPr>
        <p:spPr>
          <a:xfrm>
            <a:off x="838505" y="3161995"/>
            <a:ext cx="381305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📦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362456" y="3161995"/>
            <a:ext cx="43251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Versionamiento de objetos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1362456" y="3438144"/>
            <a:ext cx="432511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S3 con políticas de versión habilitadas para recuperación de versiones anteriores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71500" y="4295851"/>
            <a:ext cx="5381244" cy="1009498"/>
          </a:xfrm>
          <a:prstGeom prst="roundRect">
            <a:avLst>
              <a:gd name="adj" fmla="val 13672"/>
            </a:avLst>
          </a:prstGeom>
          <a:solidFill>
            <a:srgbClr val="F8F9FA"/>
          </a:solidFill>
          <a:ln w="254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Shape 17"/>
          <p:cNvSpPr/>
          <p:nvPr/>
        </p:nvSpPr>
        <p:spPr>
          <a:xfrm>
            <a:off x="838505" y="4562856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8"/>
          <p:cNvSpPr txBox="1"/>
          <p:nvPr/>
        </p:nvSpPr>
        <p:spPr>
          <a:xfrm>
            <a:off x="838505" y="4562856"/>
            <a:ext cx="381305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🔐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1362456" y="4562856"/>
            <a:ext cx="43251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IAM y Permisos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1362456" y="4839005"/>
            <a:ext cx="50109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Uso exclusivo de LabRole y LabInstanceProfile para permisos de EC2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71500" y="5495544"/>
            <a:ext cx="5381244" cy="1009498"/>
          </a:xfrm>
          <a:prstGeom prst="roundRect">
            <a:avLst>
              <a:gd name="adj" fmla="val 13672"/>
            </a:avLst>
          </a:prstGeom>
          <a:solidFill>
            <a:srgbClr val="F8F9FA"/>
          </a:solidFill>
          <a:ln w="254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Shape 22"/>
          <p:cNvSpPr/>
          <p:nvPr/>
        </p:nvSpPr>
        <p:spPr>
          <a:xfrm>
            <a:off x="838505" y="5762549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Text 23"/>
          <p:cNvSpPr txBox="1"/>
          <p:nvPr/>
        </p:nvSpPr>
        <p:spPr>
          <a:xfrm>
            <a:off x="838505" y="5762549"/>
            <a:ext cx="381305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🌍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1362456" y="5762549"/>
            <a:ext cx="43251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Regiones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1362456" y="6038698"/>
            <a:ext cx="50109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Stacks desplegados en us-east-1 o us-west-2 según disponibilidad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6238951" y="1495044"/>
            <a:ext cx="5381244" cy="5266944"/>
          </a:xfrm>
          <a:prstGeom prst="roundRect">
            <a:avLst>
              <a:gd name="adj" fmla="val 502"/>
            </a:avLst>
          </a:prstGeom>
          <a:solidFill>
            <a:srgbClr val="F8F9FA"/>
          </a:solidFill>
          <a:ln w="254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Text 27"/>
          <p:cNvSpPr txBox="1"/>
          <p:nvPr/>
        </p:nvSpPr>
        <p:spPr>
          <a:xfrm>
            <a:off x="6448349" y="1719072"/>
            <a:ext cx="172364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cloudformation.yaml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10973714" y="1705356"/>
            <a:ext cx="437998" cy="228600"/>
          </a:xfrm>
          <a:prstGeom prst="roundRect">
            <a:avLst>
              <a:gd name="adj" fmla="val 133333"/>
            </a:avLst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2" name="Text 29"/>
          <p:cNvSpPr txBox="1"/>
          <p:nvPr/>
        </p:nvSpPr>
        <p:spPr>
          <a:xfrm>
            <a:off x="10973714" y="1705356"/>
            <a:ext cx="438912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YAML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6448349" y="2076602"/>
            <a:ext cx="4962449" cy="4476902"/>
          </a:xfrm>
          <a:prstGeom prst="roundRect">
            <a:avLst>
              <a:gd name="adj" fmla="val 521"/>
            </a:avLst>
          </a:prstGeom>
          <a:solidFill>
            <a:srgbClr val="26323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4" name="Text 31"/>
          <p:cNvSpPr txBox="1"/>
          <p:nvPr/>
        </p:nvSpPr>
        <p:spPr>
          <a:xfrm>
            <a:off x="6687007" y="2314346"/>
            <a:ext cx="2862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575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6972300" y="2314346"/>
            <a:ext cx="32671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AWSTemplateFormatVersion</a:t>
            </a: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1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'2010-09-09'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6687007" y="2581351"/>
            <a:ext cx="2862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575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972300" y="2581351"/>
            <a:ext cx="33531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</a:t>
            </a: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1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'Infraestructura EC2 y S3'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6687007" y="2848356"/>
            <a:ext cx="2862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575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6972300" y="2848356"/>
            <a:ext cx="9464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Resources</a:t>
            </a: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00" dirty="0"/>
          </a:p>
        </p:txBody>
      </p:sp>
      <p:sp>
        <p:nvSpPr>
          <p:cNvPr id="40" name="Text 37"/>
          <p:cNvSpPr txBox="1"/>
          <p:nvPr/>
        </p:nvSpPr>
        <p:spPr>
          <a:xfrm>
            <a:off x="6687007" y="3114446"/>
            <a:ext cx="2862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575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6972300" y="3114446"/>
            <a:ext cx="9464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WebServer</a:t>
            </a: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687007" y="3381451"/>
            <a:ext cx="2862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575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6972300" y="3381451"/>
            <a:ext cx="22384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1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'AWS::EC2::Instance'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6687007" y="3648456"/>
            <a:ext cx="2862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575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6972300" y="3648456"/>
            <a:ext cx="1033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Properties</a:t>
            </a: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6687007" y="3914546"/>
            <a:ext cx="2862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575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972300" y="3914546"/>
            <a:ext cx="215524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InstanceType</a:t>
            </a: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1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't3.micro'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6687007" y="4181551"/>
            <a:ext cx="2862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575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6972300" y="4181551"/>
            <a:ext cx="27532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ImageId</a:t>
            </a: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1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'ami-0123456789abcdef0'</a:t>
            </a:r>
            <a:endParaRPr lang="en-US" sz="1100" dirty="0"/>
          </a:p>
        </p:txBody>
      </p:sp>
      <p:sp>
        <p:nvSpPr>
          <p:cNvPr id="50" name="Text 47"/>
          <p:cNvSpPr txBox="1"/>
          <p:nvPr/>
        </p:nvSpPr>
        <p:spPr>
          <a:xfrm>
            <a:off x="6687007" y="4448556"/>
            <a:ext cx="2862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575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6972300" y="4448556"/>
            <a:ext cx="137800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SecurityGroups</a:t>
            </a: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6687007" y="4714646"/>
            <a:ext cx="2862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575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6972300" y="4714646"/>
            <a:ext cx="12957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 </a:t>
            </a:r>
            <a:r>
              <a:rPr lang="en-US" sz="11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'sg-12345678'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6687007" y="4981651"/>
            <a:ext cx="2862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575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100" dirty="0"/>
          </a:p>
        </p:txBody>
      </p:sp>
      <p:sp>
        <p:nvSpPr>
          <p:cNvPr id="55" name="Text 52"/>
          <p:cNvSpPr txBox="1"/>
          <p:nvPr/>
        </p:nvSpPr>
        <p:spPr>
          <a:xfrm>
            <a:off x="6972300" y="4981651"/>
            <a:ext cx="860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S3Bucket</a:t>
            </a: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00" dirty="0"/>
          </a:p>
        </p:txBody>
      </p:sp>
      <p:sp>
        <p:nvSpPr>
          <p:cNvPr id="56" name="Text 53"/>
          <p:cNvSpPr txBox="1"/>
          <p:nvPr/>
        </p:nvSpPr>
        <p:spPr>
          <a:xfrm>
            <a:off x="6687007" y="5248656"/>
            <a:ext cx="2862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575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100" dirty="0"/>
          </a:p>
        </p:txBody>
      </p:sp>
      <p:sp>
        <p:nvSpPr>
          <p:cNvPr id="57" name="Text 54"/>
          <p:cNvSpPr txBox="1"/>
          <p:nvPr/>
        </p:nvSpPr>
        <p:spPr>
          <a:xfrm>
            <a:off x="6972300" y="5248656"/>
            <a:ext cx="206837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1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'AWS::S3::Bucket'</a:t>
            </a:r>
            <a:endParaRPr lang="en-US" sz="1100" dirty="0"/>
          </a:p>
        </p:txBody>
      </p:sp>
      <p:sp>
        <p:nvSpPr>
          <p:cNvPr id="58" name="Text 55"/>
          <p:cNvSpPr txBox="1"/>
          <p:nvPr/>
        </p:nvSpPr>
        <p:spPr>
          <a:xfrm>
            <a:off x="6687007" y="5514746"/>
            <a:ext cx="2862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575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100" dirty="0"/>
          </a:p>
        </p:txBody>
      </p:sp>
      <p:sp>
        <p:nvSpPr>
          <p:cNvPr id="59" name="Text 56"/>
          <p:cNvSpPr txBox="1"/>
          <p:nvPr/>
        </p:nvSpPr>
        <p:spPr>
          <a:xfrm>
            <a:off x="6972300" y="5514746"/>
            <a:ext cx="1033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Properties</a:t>
            </a: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00" dirty="0"/>
          </a:p>
        </p:txBody>
      </p:sp>
      <p:sp>
        <p:nvSpPr>
          <p:cNvPr id="60" name="Text 57"/>
          <p:cNvSpPr txBox="1"/>
          <p:nvPr/>
        </p:nvSpPr>
        <p:spPr>
          <a:xfrm>
            <a:off x="6687007" y="5781751"/>
            <a:ext cx="2862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575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100" dirty="0"/>
          </a:p>
        </p:txBody>
      </p:sp>
      <p:sp>
        <p:nvSpPr>
          <p:cNvPr id="61" name="Text 58"/>
          <p:cNvSpPr txBox="1"/>
          <p:nvPr/>
        </p:nvSpPr>
        <p:spPr>
          <a:xfrm>
            <a:off x="6972300" y="5781751"/>
            <a:ext cx="215524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VersioningConfiguration</a:t>
            </a: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00" dirty="0"/>
          </a:p>
        </p:txBody>
      </p:sp>
      <p:sp>
        <p:nvSpPr>
          <p:cNvPr id="62" name="Text 59"/>
          <p:cNvSpPr txBox="1"/>
          <p:nvPr/>
        </p:nvSpPr>
        <p:spPr>
          <a:xfrm>
            <a:off x="6687007" y="6048756"/>
            <a:ext cx="2862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575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100" dirty="0"/>
          </a:p>
        </p:txBody>
      </p:sp>
      <p:sp>
        <p:nvSpPr>
          <p:cNvPr id="63" name="Text 60"/>
          <p:cNvSpPr txBox="1"/>
          <p:nvPr/>
        </p:nvSpPr>
        <p:spPr>
          <a:xfrm>
            <a:off x="6972300" y="6048756"/>
            <a:ext cx="15508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1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'Enabled'</a:t>
            </a:r>
            <a:endParaRPr lang="en-US" sz="1100" dirty="0"/>
          </a:p>
        </p:txBody>
      </p:sp>
      <p:sp>
        <p:nvSpPr>
          <p:cNvPr id="64" name="Shape 61"/>
          <p:cNvSpPr/>
          <p:nvPr/>
        </p:nvSpPr>
        <p:spPr>
          <a:xfrm>
            <a:off x="571500" y="6553505"/>
            <a:ext cx="75895" cy="75895"/>
          </a:xfrm>
          <a:prstGeom prst="ellipse">
            <a:avLst/>
          </a:prstGeom>
          <a:solidFill>
            <a:srgbClr val="4CAF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5" name="Text 62"/>
          <p:cNvSpPr txBox="1"/>
          <p:nvPr/>
        </p:nvSpPr>
        <p:spPr>
          <a:xfrm>
            <a:off x="743407" y="6515100"/>
            <a:ext cx="218815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CloudFormation IaC - Proyecto 2026</a:t>
            </a:r>
            <a:endParaRPr lang="en-US" sz="900" dirty="0"/>
          </a:p>
        </p:txBody>
      </p:sp>
      <p:sp>
        <p:nvSpPr>
          <p:cNvPr id="66" name="Text 63"/>
          <p:cNvSpPr txBox="1"/>
          <p:nvPr/>
        </p:nvSpPr>
        <p:spPr>
          <a:xfrm>
            <a:off x="9529877" y="6515100"/>
            <a:ext cx="249448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Equipo: Narciso, Caleb, Rodrigo, Natanael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571500" y="1181405"/>
            <a:ext cx="11048695" cy="28346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 txBox="1"/>
          <p:nvPr/>
        </p:nvSpPr>
        <p:spPr>
          <a:xfrm>
            <a:off x="571500" y="381305"/>
            <a:ext cx="4810658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Docker: Imagen de App Web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838505"/>
            <a:ext cx="48106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Contenerización y despliegue de aplicaciones web en AWS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l="30750" r="30750"/>
          <a:stretch/>
        </p:blipFill>
        <p:spPr>
          <a:xfrm>
            <a:off x="9993478" y="424282"/>
            <a:ext cx="571500" cy="5715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660075" y="424282"/>
            <a:ext cx="96286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Tecmilenio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71500" y="1447495"/>
            <a:ext cx="5381244" cy="3419856"/>
          </a:xfrm>
          <a:prstGeom prst="roundRect">
            <a:avLst>
              <a:gd name="adj" fmla="val 1490"/>
            </a:avLst>
          </a:prstGeom>
          <a:solidFill>
            <a:srgbClr val="F8F9FA"/>
          </a:solidFill>
          <a:ln w="254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7"/>
          <p:cNvSpPr txBox="1"/>
          <p:nvPr/>
        </p:nvSpPr>
        <p:spPr>
          <a:xfrm>
            <a:off x="819302" y="1695298"/>
            <a:ext cx="23865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🐳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152144" y="1695298"/>
            <a:ext cx="207477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Arquitectura Docker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819302" y="2143354"/>
            <a:ext cx="2352751" cy="11430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3" name="Shape 10"/>
          <p:cNvSpPr/>
          <p:nvPr/>
        </p:nvSpPr>
        <p:spPr>
          <a:xfrm>
            <a:off x="819302" y="2143354"/>
            <a:ext cx="38405" cy="1143000"/>
          </a:xfrm>
          <a:prstGeom prst="roundRect">
            <a:avLst>
              <a:gd name="adj" fmla="val 317459"/>
            </a:avLst>
          </a:prstGeom>
          <a:solidFill>
            <a:srgbClr val="1B5E20"/>
          </a:solidFill>
          <a:ln w="12700">
            <a:solidFill>
              <a:srgbClr val="1B5E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Shape 11"/>
          <p:cNvSpPr/>
          <p:nvPr/>
        </p:nvSpPr>
        <p:spPr>
          <a:xfrm>
            <a:off x="1047902" y="2333549"/>
            <a:ext cx="267005" cy="267005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2"/>
          <p:cNvSpPr/>
          <p:nvPr/>
        </p:nvSpPr>
        <p:spPr>
          <a:xfrm>
            <a:off x="1047902" y="2333549"/>
            <a:ext cx="267005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1410005" y="2367382"/>
            <a:ext cx="83941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Dockerfile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1047902" y="2695651"/>
            <a:ext cx="1933956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Configuración con Nginx o Flask (Gunicorn como WSGI)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357677" y="2143354"/>
            <a:ext cx="2352751" cy="11430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9" name="Shape 16"/>
          <p:cNvSpPr/>
          <p:nvPr/>
        </p:nvSpPr>
        <p:spPr>
          <a:xfrm>
            <a:off x="3357677" y="2143354"/>
            <a:ext cx="38405" cy="1143000"/>
          </a:xfrm>
          <a:prstGeom prst="roundRect">
            <a:avLst>
              <a:gd name="adj" fmla="val 317459"/>
            </a:avLst>
          </a:prstGeom>
          <a:solidFill>
            <a:srgbClr val="1B5E20"/>
          </a:solidFill>
          <a:ln w="12700">
            <a:solidFill>
              <a:srgbClr val="1B5E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Shape 17"/>
          <p:cNvSpPr/>
          <p:nvPr/>
        </p:nvSpPr>
        <p:spPr>
          <a:xfrm>
            <a:off x="3586277" y="2333549"/>
            <a:ext cx="267005" cy="267005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8"/>
          <p:cNvSpPr/>
          <p:nvPr/>
        </p:nvSpPr>
        <p:spPr>
          <a:xfrm>
            <a:off x="3586277" y="2333549"/>
            <a:ext cx="267005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3948379" y="2367382"/>
            <a:ext cx="150784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Multi-stage builds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3586277" y="2695651"/>
            <a:ext cx="1933956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Imágenes optimizadas y ligeras para producción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819302" y="3476549"/>
            <a:ext cx="2352751" cy="11430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5" name="Shape 22"/>
          <p:cNvSpPr/>
          <p:nvPr/>
        </p:nvSpPr>
        <p:spPr>
          <a:xfrm>
            <a:off x="819302" y="3476549"/>
            <a:ext cx="38405" cy="1143000"/>
          </a:xfrm>
          <a:prstGeom prst="roundRect">
            <a:avLst>
              <a:gd name="adj" fmla="val 317459"/>
            </a:avLst>
          </a:prstGeom>
          <a:solidFill>
            <a:srgbClr val="1B5E20"/>
          </a:solidFill>
          <a:ln w="12700">
            <a:solidFill>
              <a:srgbClr val="1B5E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Shape 23"/>
          <p:cNvSpPr/>
          <p:nvPr/>
        </p:nvSpPr>
        <p:spPr>
          <a:xfrm>
            <a:off x="1047902" y="3666744"/>
            <a:ext cx="267005" cy="267005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Text 24"/>
          <p:cNvSpPr/>
          <p:nvPr/>
        </p:nvSpPr>
        <p:spPr>
          <a:xfrm>
            <a:off x="1047902" y="3666744"/>
            <a:ext cx="267005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1410005" y="3700577"/>
            <a:ext cx="171175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docker-compose.yml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1047902" y="4028846"/>
            <a:ext cx="1933956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Definición de múltiples servicios (app, db, proxy)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3357677" y="3476549"/>
            <a:ext cx="2352751" cy="11430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1" name="Shape 28"/>
          <p:cNvSpPr/>
          <p:nvPr/>
        </p:nvSpPr>
        <p:spPr>
          <a:xfrm>
            <a:off x="3357677" y="3476549"/>
            <a:ext cx="38405" cy="1143000"/>
          </a:xfrm>
          <a:prstGeom prst="roundRect">
            <a:avLst>
              <a:gd name="adj" fmla="val 317459"/>
            </a:avLst>
          </a:prstGeom>
          <a:solidFill>
            <a:srgbClr val="1B5E20"/>
          </a:solidFill>
          <a:ln w="12700">
            <a:solidFill>
              <a:srgbClr val="1B5E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2" name="Shape 29"/>
          <p:cNvSpPr/>
          <p:nvPr/>
        </p:nvSpPr>
        <p:spPr>
          <a:xfrm>
            <a:off x="3586277" y="3666744"/>
            <a:ext cx="267005" cy="267005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3" name="Text 30"/>
          <p:cNvSpPr/>
          <p:nvPr/>
        </p:nvSpPr>
        <p:spPr>
          <a:xfrm>
            <a:off x="3586277" y="3666744"/>
            <a:ext cx="267005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3948379" y="3700577"/>
            <a:ext cx="8814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Volúmenes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3586277" y="4028846"/>
            <a:ext cx="1933956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Persistencia de código y logs entre contenedores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571500" y="5057546"/>
            <a:ext cx="5381244" cy="2000707"/>
          </a:xfrm>
          <a:prstGeom prst="roundRect">
            <a:avLst>
              <a:gd name="adj" fmla="val 4353"/>
            </a:avLst>
          </a:prstGeom>
          <a:solidFill>
            <a:srgbClr val="F8F9FA"/>
          </a:solidFill>
          <a:ln w="254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7" name="Text 34"/>
          <p:cNvSpPr txBox="1"/>
          <p:nvPr/>
        </p:nvSpPr>
        <p:spPr>
          <a:xfrm>
            <a:off x="819302" y="5305349"/>
            <a:ext cx="23865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🌐</a:t>
            </a:r>
            <a:endParaRPr lang="en-US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1152144" y="5305349"/>
            <a:ext cx="2188159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Redes Personalizadas</a:t>
            </a:r>
            <a:endParaRPr lang="en-US" sz="1500" dirty="0"/>
          </a:p>
        </p:txBody>
      </p:sp>
      <p:sp>
        <p:nvSpPr>
          <p:cNvPr id="39" name="Shape 36"/>
          <p:cNvSpPr/>
          <p:nvPr/>
        </p:nvSpPr>
        <p:spPr>
          <a:xfrm>
            <a:off x="819302" y="5753405"/>
            <a:ext cx="2352751" cy="1057046"/>
          </a:xfrm>
          <a:prstGeom prst="roundRect">
            <a:avLst>
              <a:gd name="adj" fmla="val 9352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0" name="Text 37"/>
          <p:cNvSpPr txBox="1"/>
          <p:nvPr/>
        </p:nvSpPr>
        <p:spPr>
          <a:xfrm>
            <a:off x="1019556" y="5952744"/>
            <a:ext cx="19531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Aislamiento</a:t>
            </a:r>
            <a:endParaRPr lang="en-US" sz="1200" dirty="0"/>
          </a:p>
        </p:txBody>
      </p:sp>
      <p:sp>
        <p:nvSpPr>
          <p:cNvPr id="41" name="Text 38"/>
          <p:cNvSpPr txBox="1"/>
          <p:nvPr/>
        </p:nvSpPr>
        <p:spPr>
          <a:xfrm>
            <a:off x="1019556" y="6229807"/>
            <a:ext cx="195315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Servicios aislados y comunicación interna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3357677" y="5753405"/>
            <a:ext cx="2352751" cy="1057046"/>
          </a:xfrm>
          <a:prstGeom prst="roundRect">
            <a:avLst>
              <a:gd name="adj" fmla="val 9352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3" name="Text 40"/>
          <p:cNvSpPr txBox="1"/>
          <p:nvPr/>
        </p:nvSpPr>
        <p:spPr>
          <a:xfrm>
            <a:off x="3557930" y="5952744"/>
            <a:ext cx="19531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Cloud9</a:t>
            </a:r>
            <a:endParaRPr lang="en-US" sz="1200" dirty="0"/>
          </a:p>
        </p:txBody>
      </p:sp>
      <p:sp>
        <p:nvSpPr>
          <p:cNvPr id="44" name="Text 41"/>
          <p:cNvSpPr txBox="1"/>
          <p:nvPr/>
        </p:nvSpPr>
        <p:spPr>
          <a:xfrm>
            <a:off x="3557930" y="6229807"/>
            <a:ext cx="19531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Evitar puertos públicos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6238951" y="1447495"/>
            <a:ext cx="5381244" cy="3209544"/>
          </a:xfrm>
          <a:prstGeom prst="roundRect">
            <a:avLst>
              <a:gd name="adj" fmla="val 1691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6" name="Shape 43"/>
          <p:cNvSpPr/>
          <p:nvPr/>
        </p:nvSpPr>
        <p:spPr>
          <a:xfrm>
            <a:off x="6476695" y="1686154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FFC10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7" name="Text 44"/>
          <p:cNvSpPr txBox="1"/>
          <p:nvPr/>
        </p:nvSpPr>
        <p:spPr>
          <a:xfrm>
            <a:off x="6476695" y="1686154"/>
            <a:ext cx="305410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📋</a:t>
            </a:r>
            <a:endParaRPr lang="en-US" sz="1200" dirty="0"/>
          </a:p>
        </p:txBody>
      </p:sp>
      <p:sp>
        <p:nvSpPr>
          <p:cNvPr id="48" name="Text 45"/>
          <p:cNvSpPr txBox="1"/>
          <p:nvPr/>
        </p:nvSpPr>
        <p:spPr>
          <a:xfrm>
            <a:off x="6896405" y="1723644"/>
            <a:ext cx="20180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Configuración Docker</a:t>
            </a:r>
            <a:endParaRPr lang="en-US" sz="1300" dirty="0"/>
          </a:p>
        </p:txBody>
      </p:sp>
      <p:sp>
        <p:nvSpPr>
          <p:cNvPr id="49" name="Shape 46"/>
          <p:cNvSpPr/>
          <p:nvPr/>
        </p:nvSpPr>
        <p:spPr>
          <a:xfrm>
            <a:off x="6476695" y="2229307"/>
            <a:ext cx="4905756" cy="2190902"/>
          </a:xfrm>
          <a:prstGeom prst="roundRect">
            <a:avLst>
              <a:gd name="adj" fmla="val 2178"/>
            </a:avLst>
          </a:prstGeom>
          <a:solidFill>
            <a:srgbClr val="2D2D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0" name="Text 47"/>
          <p:cNvSpPr txBox="1"/>
          <p:nvPr/>
        </p:nvSpPr>
        <p:spPr>
          <a:xfrm>
            <a:off x="6667805" y="2476195"/>
            <a:ext cx="23244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571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Dockerfile para Flask app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6667805" y="2728570"/>
            <a:ext cx="3529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7010705" y="2728570"/>
            <a:ext cx="12957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6E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python:3.9-slim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6667805" y="2962656"/>
            <a:ext cx="452445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WORKDIR</a:t>
            </a:r>
            <a:r>
              <a:rPr lang="en-US" sz="110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/app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6667805" y="3215030"/>
            <a:ext cx="452445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</a:t>
            </a:r>
            <a:r>
              <a:rPr lang="en-US" sz="110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requirements.txt .</a:t>
            </a:r>
            <a:endParaRPr lang="en-US" sz="1100" dirty="0"/>
          </a:p>
        </p:txBody>
      </p:sp>
      <p:sp>
        <p:nvSpPr>
          <p:cNvPr id="55" name="Text 52"/>
          <p:cNvSpPr txBox="1"/>
          <p:nvPr/>
        </p:nvSpPr>
        <p:spPr>
          <a:xfrm>
            <a:off x="6667805" y="3467405"/>
            <a:ext cx="452445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</a:t>
            </a:r>
            <a:r>
              <a:rPr lang="en-US" sz="110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pip install -r requirements.txt</a:t>
            </a:r>
            <a:endParaRPr lang="en-US" sz="1100" dirty="0"/>
          </a:p>
        </p:txBody>
      </p:sp>
      <p:sp>
        <p:nvSpPr>
          <p:cNvPr id="56" name="Text 53"/>
          <p:cNvSpPr txBox="1"/>
          <p:nvPr/>
        </p:nvSpPr>
        <p:spPr>
          <a:xfrm>
            <a:off x="6667805" y="3719779"/>
            <a:ext cx="452445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</a:t>
            </a:r>
            <a:r>
              <a:rPr lang="en-US" sz="110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. .</a:t>
            </a:r>
            <a:endParaRPr lang="en-US" sz="1100" dirty="0"/>
          </a:p>
        </p:txBody>
      </p:sp>
      <p:sp>
        <p:nvSpPr>
          <p:cNvPr id="57" name="Text 54"/>
          <p:cNvSpPr txBox="1"/>
          <p:nvPr/>
        </p:nvSpPr>
        <p:spPr>
          <a:xfrm>
            <a:off x="6667805" y="3972154"/>
            <a:ext cx="452445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</a:t>
            </a:r>
            <a:r>
              <a:rPr lang="en-US" sz="110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</a:t>
            </a:r>
            <a:r>
              <a:rPr lang="en-US" sz="1100" dirty="0">
                <a:solidFill>
                  <a:srgbClr val="A6E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"gunicorn"</a:t>
            </a:r>
            <a:r>
              <a:rPr lang="en-US" sz="110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100" dirty="0">
                <a:solidFill>
                  <a:srgbClr val="A6E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"-b"</a:t>
            </a:r>
            <a:r>
              <a:rPr lang="en-US" sz="110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100" dirty="0">
                <a:solidFill>
                  <a:srgbClr val="A6E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"0.0.0.0:5000"</a:t>
            </a:r>
            <a:r>
              <a:rPr lang="en-US" sz="110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100" dirty="0">
                <a:solidFill>
                  <a:srgbClr val="A6E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"app:app"</a:t>
            </a:r>
            <a:r>
              <a:rPr lang="en-US" sz="110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100" dirty="0"/>
          </a:p>
        </p:txBody>
      </p:sp>
      <p:sp>
        <p:nvSpPr>
          <p:cNvPr id="58" name="Shape 55"/>
          <p:cNvSpPr/>
          <p:nvPr/>
        </p:nvSpPr>
        <p:spPr>
          <a:xfrm>
            <a:off x="6238951" y="4843577"/>
            <a:ext cx="5381244" cy="2115007"/>
          </a:xfrm>
          <a:prstGeom prst="roundRect">
            <a:avLst>
              <a:gd name="adj" fmla="val 3895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9" name="Shape 56"/>
          <p:cNvSpPr/>
          <p:nvPr/>
        </p:nvSpPr>
        <p:spPr>
          <a:xfrm>
            <a:off x="6476695" y="5081321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FFC10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0" name="Text 57"/>
          <p:cNvSpPr txBox="1"/>
          <p:nvPr/>
        </p:nvSpPr>
        <p:spPr>
          <a:xfrm>
            <a:off x="6476695" y="5081321"/>
            <a:ext cx="305410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🔧</a:t>
            </a:r>
            <a:endParaRPr lang="en-US" sz="1200" dirty="0"/>
          </a:p>
        </p:txBody>
      </p:sp>
      <p:sp>
        <p:nvSpPr>
          <p:cNvPr id="61" name="Text 58"/>
          <p:cNvSpPr txBox="1"/>
          <p:nvPr/>
        </p:nvSpPr>
        <p:spPr>
          <a:xfrm>
            <a:off x="6896405" y="5119726"/>
            <a:ext cx="162123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Mejores Prácticas</a:t>
            </a:r>
            <a:endParaRPr lang="en-US" sz="1300" dirty="0"/>
          </a:p>
        </p:txBody>
      </p:sp>
      <p:sp>
        <p:nvSpPr>
          <p:cNvPr id="62" name="Shape 59"/>
          <p:cNvSpPr/>
          <p:nvPr/>
        </p:nvSpPr>
        <p:spPr>
          <a:xfrm>
            <a:off x="6476695" y="5633618"/>
            <a:ext cx="75895" cy="75895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3" name="Text 60"/>
          <p:cNvSpPr txBox="1"/>
          <p:nvPr/>
        </p:nvSpPr>
        <p:spPr>
          <a:xfrm>
            <a:off x="6648602" y="5576926"/>
            <a:ext cx="53821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Multi-stage builds:</a:t>
            </a:r>
            <a:r>
              <a:rPr lang="en-US" sz="11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Separar build y runtime para imágenes más pequeñas</a:t>
            </a:r>
            <a:endParaRPr lang="en-US" sz="1100" dirty="0"/>
          </a:p>
        </p:txBody>
      </p:sp>
      <p:sp>
        <p:nvSpPr>
          <p:cNvPr id="64" name="Shape 61"/>
          <p:cNvSpPr/>
          <p:nvPr/>
        </p:nvSpPr>
        <p:spPr>
          <a:xfrm>
            <a:off x="6476695" y="5948172"/>
            <a:ext cx="75895" cy="75895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5" name="Text 62"/>
          <p:cNvSpPr txBox="1"/>
          <p:nvPr/>
        </p:nvSpPr>
        <p:spPr>
          <a:xfrm>
            <a:off x="6648602" y="5891479"/>
            <a:ext cx="45720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Volúmenes:</a:t>
            </a:r>
            <a:r>
              <a:rPr lang="en-US" sz="11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Montar código fuente para desarrollo sin rebuild</a:t>
            </a:r>
            <a:endParaRPr lang="en-US" sz="1100" dirty="0"/>
          </a:p>
        </p:txBody>
      </p:sp>
      <p:sp>
        <p:nvSpPr>
          <p:cNvPr id="66" name="Shape 63"/>
          <p:cNvSpPr/>
          <p:nvPr/>
        </p:nvSpPr>
        <p:spPr>
          <a:xfrm>
            <a:off x="6476695" y="6262726"/>
            <a:ext cx="75895" cy="75895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7" name="Text 64"/>
          <p:cNvSpPr txBox="1"/>
          <p:nvPr/>
        </p:nvSpPr>
        <p:spPr>
          <a:xfrm>
            <a:off x="6648602" y="6205118"/>
            <a:ext cx="494416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Redes:</a:t>
            </a:r>
            <a:r>
              <a:rPr lang="en-US" sz="11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Usar redes Docker para comunicación segura entre servicios</a:t>
            </a:r>
            <a:endParaRPr lang="en-US" sz="1100" dirty="0"/>
          </a:p>
        </p:txBody>
      </p:sp>
      <p:sp>
        <p:nvSpPr>
          <p:cNvPr id="68" name="Shape 65"/>
          <p:cNvSpPr/>
          <p:nvPr/>
        </p:nvSpPr>
        <p:spPr>
          <a:xfrm>
            <a:off x="6476695" y="6577279"/>
            <a:ext cx="75895" cy="75895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9" name="Text 66"/>
          <p:cNvSpPr txBox="1"/>
          <p:nvPr/>
        </p:nvSpPr>
        <p:spPr>
          <a:xfrm>
            <a:off x="6648602" y="6519672"/>
            <a:ext cx="48582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Cloud9:</a:t>
            </a:r>
            <a:r>
              <a:rPr lang="en-US" sz="11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Configurar para evitar exposición de puertos innecesarios</a:t>
            </a:r>
            <a:endParaRPr lang="en-US" sz="1100" dirty="0"/>
          </a:p>
        </p:txBody>
      </p:sp>
      <p:sp>
        <p:nvSpPr>
          <p:cNvPr id="70" name="Shape 67"/>
          <p:cNvSpPr/>
          <p:nvPr/>
        </p:nvSpPr>
        <p:spPr>
          <a:xfrm>
            <a:off x="571500" y="6433718"/>
            <a:ext cx="95098" cy="95098"/>
          </a:xfrm>
          <a:prstGeom prst="ellipse">
            <a:avLst/>
          </a:prstGeom>
          <a:solidFill>
            <a:srgbClr val="4CAF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1" name="Text 68"/>
          <p:cNvSpPr txBox="1"/>
          <p:nvPr/>
        </p:nvSpPr>
        <p:spPr>
          <a:xfrm>
            <a:off x="761695" y="6391656"/>
            <a:ext cx="223296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 en AWS - Proyecto 2026</a:t>
            </a:r>
            <a:endParaRPr lang="en-US" sz="1000" dirty="0"/>
          </a:p>
        </p:txBody>
      </p:sp>
      <p:sp>
        <p:nvSpPr>
          <p:cNvPr id="72" name="Text 69"/>
          <p:cNvSpPr txBox="1"/>
          <p:nvPr/>
        </p:nvSpPr>
        <p:spPr>
          <a:xfrm>
            <a:off x="9181490" y="6391656"/>
            <a:ext cx="291327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Equipo: Narciso, Caleb, Rodrigo, Natanael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0" y="761695"/>
            <a:ext cx="12191695" cy="5524805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 txBox="1"/>
          <p:nvPr/>
        </p:nvSpPr>
        <p:spPr>
          <a:xfrm>
            <a:off x="4223614" y="905256"/>
            <a:ext cx="7587691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Pipeline de Despliegue Completo </a:t>
            </a:r>
            <a:endParaRPr lang="en-US" sz="2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881" r="-881"/>
          <a:stretch/>
        </p:blipFill>
        <p:spPr>
          <a:xfrm>
            <a:off x="3816706" y="957377"/>
            <a:ext cx="237744" cy="26700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81305" y="1352398"/>
            <a:ext cx="11430000" cy="2933395"/>
          </a:xfrm>
          <a:prstGeom prst="roundRect">
            <a:avLst>
              <a:gd name="adj" fmla="val 2429"/>
            </a:avLst>
          </a:prstGeom>
          <a:solidFill>
            <a:srgbClr val="FFFFFF"/>
          </a:solidFill>
          <a:ln w="25400">
            <a:solidFill>
              <a:srgbClr val="E0E0E0"/>
            </a:solidFill>
            <a:prstDash val="solid"/>
          </a:ln>
          <a:effectLst>
            <a:outerShdw blurRad="1397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8" name="Shape 5"/>
          <p:cNvSpPr/>
          <p:nvPr/>
        </p:nvSpPr>
        <p:spPr>
          <a:xfrm>
            <a:off x="543154" y="1514246"/>
            <a:ext cx="1561795" cy="2190902"/>
          </a:xfrm>
          <a:prstGeom prst="roundRect">
            <a:avLst>
              <a:gd name="adj" fmla="val 5712"/>
            </a:avLst>
          </a:prstGeom>
          <a:solidFill>
            <a:srgbClr val="F8F9FA"/>
          </a:solidFill>
          <a:ln w="254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Shape 6"/>
          <p:cNvSpPr/>
          <p:nvPr/>
        </p:nvSpPr>
        <p:spPr>
          <a:xfrm>
            <a:off x="1206094" y="1438351"/>
            <a:ext cx="228600" cy="22860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7"/>
          <p:cNvSpPr/>
          <p:nvPr/>
        </p:nvSpPr>
        <p:spPr>
          <a:xfrm>
            <a:off x="1206094" y="1438351"/>
            <a:ext cx="2286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1130198" y="1647749"/>
            <a:ext cx="381305" cy="381305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 l="-1064" r="-1064"/>
          <a:stretch/>
        </p:blipFill>
        <p:spPr>
          <a:xfrm>
            <a:off x="1210666" y="1752905"/>
            <a:ext cx="219456" cy="17190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09905" y="2124151"/>
            <a:ext cx="14292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</a:t>
            </a:r>
            <a:endParaRPr lang="en-US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609905" y="2333549"/>
            <a:ext cx="1429207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CodeCommit/GitHub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Branch protection rules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Webhooks configurados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GitWebhooks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1112825" y="3381451"/>
            <a:ext cx="418795" cy="190195"/>
          </a:xfrm>
          <a:prstGeom prst="roundRect">
            <a:avLst>
              <a:gd name="adj" fmla="val 480770"/>
            </a:avLst>
          </a:prstGeom>
          <a:solidFill>
            <a:srgbClr val="E8F5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2"/>
          <p:cNvSpPr/>
          <p:nvPr/>
        </p:nvSpPr>
        <p:spPr>
          <a:xfrm>
            <a:off x="1112825" y="3381451"/>
            <a:ext cx="419710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Activo</a:t>
            </a:r>
            <a:endParaRPr lang="en-US" sz="800" dirty="0"/>
          </a:p>
        </p:txBody>
      </p:sp>
      <p:sp>
        <p:nvSpPr>
          <p:cNvPr id="17" name="Text 13"/>
          <p:cNvSpPr txBox="1"/>
          <p:nvPr/>
        </p:nvSpPr>
        <p:spPr>
          <a:xfrm>
            <a:off x="2193646" y="2719426"/>
            <a:ext cx="1719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2453335" y="1514246"/>
            <a:ext cx="1561795" cy="2190902"/>
          </a:xfrm>
          <a:prstGeom prst="roundRect">
            <a:avLst>
              <a:gd name="adj" fmla="val 5712"/>
            </a:avLst>
          </a:prstGeom>
          <a:solidFill>
            <a:srgbClr val="F8F9FA"/>
          </a:solidFill>
          <a:ln w="254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Shape 15"/>
          <p:cNvSpPr/>
          <p:nvPr/>
        </p:nvSpPr>
        <p:spPr>
          <a:xfrm>
            <a:off x="3116275" y="1438351"/>
            <a:ext cx="228600" cy="22860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6"/>
          <p:cNvSpPr/>
          <p:nvPr/>
        </p:nvSpPr>
        <p:spPr>
          <a:xfrm>
            <a:off x="3116275" y="1438351"/>
            <a:ext cx="2286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3040380" y="1647749"/>
            <a:ext cx="381305" cy="381305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rcRect t="-842" b="-842"/>
          <a:stretch/>
        </p:blipFill>
        <p:spPr>
          <a:xfrm>
            <a:off x="3135478" y="1752905"/>
            <a:ext cx="190195" cy="171907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2520086" y="2124151"/>
            <a:ext cx="14292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</a:t>
            </a:r>
            <a:endParaRPr lang="en-US" sz="900" dirty="0"/>
          </a:p>
        </p:txBody>
      </p:sp>
      <p:sp>
        <p:nvSpPr>
          <p:cNvPr id="24" name="Text 19"/>
          <p:cNvSpPr txBox="1"/>
          <p:nvPr/>
        </p:nvSpPr>
        <p:spPr>
          <a:xfrm>
            <a:off x="2520086" y="2333549"/>
            <a:ext cx="1429207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CodeBuild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Tests, lint, SonarQube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Análisis estático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TestsLint</a:t>
            </a:r>
            <a:endParaRPr lang="en-US" sz="800" dirty="0"/>
          </a:p>
        </p:txBody>
      </p:sp>
      <p:sp>
        <p:nvSpPr>
          <p:cNvPr id="25" name="Shape 20"/>
          <p:cNvSpPr/>
          <p:nvPr/>
        </p:nvSpPr>
        <p:spPr>
          <a:xfrm>
            <a:off x="2894990" y="3381451"/>
            <a:ext cx="676656" cy="190195"/>
          </a:xfrm>
          <a:prstGeom prst="roundRect">
            <a:avLst>
              <a:gd name="adj" fmla="val 480770"/>
            </a:avLst>
          </a:prstGeom>
          <a:solidFill>
            <a:srgbClr val="E8F5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Text 21"/>
          <p:cNvSpPr/>
          <p:nvPr/>
        </p:nvSpPr>
        <p:spPr>
          <a:xfrm>
            <a:off x="2894990" y="3381451"/>
            <a:ext cx="676656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Completado</a:t>
            </a:r>
            <a:endParaRPr lang="en-US" sz="800" dirty="0"/>
          </a:p>
        </p:txBody>
      </p:sp>
      <p:sp>
        <p:nvSpPr>
          <p:cNvPr id="27" name="Text 22"/>
          <p:cNvSpPr txBox="1"/>
          <p:nvPr/>
        </p:nvSpPr>
        <p:spPr>
          <a:xfrm>
            <a:off x="4103827" y="2719426"/>
            <a:ext cx="1719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500" dirty="0"/>
          </a:p>
        </p:txBody>
      </p:sp>
      <p:sp>
        <p:nvSpPr>
          <p:cNvPr id="28" name="Shape 23"/>
          <p:cNvSpPr/>
          <p:nvPr/>
        </p:nvSpPr>
        <p:spPr>
          <a:xfrm>
            <a:off x="4363517" y="1514246"/>
            <a:ext cx="1561795" cy="2190902"/>
          </a:xfrm>
          <a:prstGeom prst="roundRect">
            <a:avLst>
              <a:gd name="adj" fmla="val 5712"/>
            </a:avLst>
          </a:prstGeom>
          <a:solidFill>
            <a:srgbClr val="F8F9FA"/>
          </a:solidFill>
          <a:ln w="254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Shape 24"/>
          <p:cNvSpPr/>
          <p:nvPr/>
        </p:nvSpPr>
        <p:spPr>
          <a:xfrm>
            <a:off x="5026457" y="1438351"/>
            <a:ext cx="228600" cy="22860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Text 25"/>
          <p:cNvSpPr/>
          <p:nvPr/>
        </p:nvSpPr>
        <p:spPr>
          <a:xfrm>
            <a:off x="5026457" y="1438351"/>
            <a:ext cx="2286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00" dirty="0"/>
          </a:p>
        </p:txBody>
      </p:sp>
      <p:sp>
        <p:nvSpPr>
          <p:cNvPr id="31" name="Shape 26"/>
          <p:cNvSpPr/>
          <p:nvPr/>
        </p:nvSpPr>
        <p:spPr>
          <a:xfrm>
            <a:off x="4950562" y="1647749"/>
            <a:ext cx="381305" cy="381305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rcRect l="-760" r="-760"/>
          <a:stretch/>
        </p:blipFill>
        <p:spPr>
          <a:xfrm>
            <a:off x="5064862" y="1752905"/>
            <a:ext cx="152705" cy="171907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4430268" y="2124151"/>
            <a:ext cx="14292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</a:t>
            </a:r>
            <a:endParaRPr lang="en-US" sz="900" dirty="0"/>
          </a:p>
        </p:txBody>
      </p:sp>
      <p:sp>
        <p:nvSpPr>
          <p:cNvPr id="34" name="Text 28"/>
          <p:cNvSpPr txBox="1"/>
          <p:nvPr/>
        </p:nvSpPr>
        <p:spPr>
          <a:xfrm>
            <a:off x="4430268" y="2333549"/>
            <a:ext cx="1429207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Pruebas de integración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Contract tests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Validación de APIs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IntegrationContract</a:t>
            </a:r>
            <a:endParaRPr lang="en-US" sz="800" dirty="0"/>
          </a:p>
        </p:txBody>
      </p:sp>
      <p:sp>
        <p:nvSpPr>
          <p:cNvPr id="35" name="Shape 29"/>
          <p:cNvSpPr/>
          <p:nvPr/>
        </p:nvSpPr>
        <p:spPr>
          <a:xfrm>
            <a:off x="4966106" y="3381451"/>
            <a:ext cx="352044" cy="190195"/>
          </a:xfrm>
          <a:prstGeom prst="roundRect">
            <a:avLst>
              <a:gd name="adj" fmla="val 480770"/>
            </a:avLst>
          </a:prstGeom>
          <a:solidFill>
            <a:srgbClr val="E8F5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6" name="Text 30"/>
          <p:cNvSpPr/>
          <p:nvPr/>
        </p:nvSpPr>
        <p:spPr>
          <a:xfrm>
            <a:off x="4966106" y="3381451"/>
            <a:ext cx="352958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Listo</a:t>
            </a:r>
            <a:endParaRPr lang="en-US" sz="800" dirty="0"/>
          </a:p>
        </p:txBody>
      </p:sp>
      <p:sp>
        <p:nvSpPr>
          <p:cNvPr id="37" name="Text 31"/>
          <p:cNvSpPr txBox="1"/>
          <p:nvPr/>
        </p:nvSpPr>
        <p:spPr>
          <a:xfrm>
            <a:off x="6014009" y="2719426"/>
            <a:ext cx="1719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500" dirty="0"/>
          </a:p>
        </p:txBody>
      </p:sp>
      <p:sp>
        <p:nvSpPr>
          <p:cNvPr id="38" name="Shape 32"/>
          <p:cNvSpPr/>
          <p:nvPr/>
        </p:nvSpPr>
        <p:spPr>
          <a:xfrm>
            <a:off x="6273698" y="1514246"/>
            <a:ext cx="1561795" cy="2190902"/>
          </a:xfrm>
          <a:prstGeom prst="roundRect">
            <a:avLst>
              <a:gd name="adj" fmla="val 5712"/>
            </a:avLst>
          </a:prstGeom>
          <a:solidFill>
            <a:srgbClr val="F8F9FA"/>
          </a:solidFill>
          <a:ln w="254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9" name="Shape 33"/>
          <p:cNvSpPr/>
          <p:nvPr/>
        </p:nvSpPr>
        <p:spPr>
          <a:xfrm>
            <a:off x="6936638" y="1438351"/>
            <a:ext cx="228600" cy="22860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0" name="Text 34"/>
          <p:cNvSpPr/>
          <p:nvPr/>
        </p:nvSpPr>
        <p:spPr>
          <a:xfrm>
            <a:off x="6936638" y="1438351"/>
            <a:ext cx="2286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900" dirty="0"/>
          </a:p>
        </p:txBody>
      </p:sp>
      <p:sp>
        <p:nvSpPr>
          <p:cNvPr id="41" name="Shape 35"/>
          <p:cNvSpPr/>
          <p:nvPr/>
        </p:nvSpPr>
        <p:spPr>
          <a:xfrm>
            <a:off x="6860743" y="1647749"/>
            <a:ext cx="381305" cy="381305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42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964985" y="1752905"/>
            <a:ext cx="171907" cy="171907"/>
          </a:xfrm>
          <a:prstGeom prst="rect">
            <a:avLst/>
          </a:prstGeom>
        </p:spPr>
      </p:pic>
      <p:sp>
        <p:nvSpPr>
          <p:cNvPr id="43" name="Text 36"/>
          <p:cNvSpPr txBox="1"/>
          <p:nvPr/>
        </p:nvSpPr>
        <p:spPr>
          <a:xfrm>
            <a:off x="6340450" y="2124151"/>
            <a:ext cx="14292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</a:t>
            </a:r>
            <a:endParaRPr lang="en-US" sz="900" dirty="0"/>
          </a:p>
        </p:txBody>
      </p:sp>
      <p:sp>
        <p:nvSpPr>
          <p:cNvPr id="44" name="Text 37"/>
          <p:cNvSpPr txBox="1"/>
          <p:nvPr/>
        </p:nvSpPr>
        <p:spPr>
          <a:xfrm>
            <a:off x="6340450" y="2333549"/>
            <a:ext cx="1429207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SSM RunCommand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EC2 (sin SSH)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CloudFormation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SSMCFN</a:t>
            </a:r>
            <a:endParaRPr lang="en-US" sz="800" dirty="0"/>
          </a:p>
        </p:txBody>
      </p:sp>
      <p:sp>
        <p:nvSpPr>
          <p:cNvPr id="45" name="Shape 38"/>
          <p:cNvSpPr/>
          <p:nvPr/>
        </p:nvSpPr>
        <p:spPr>
          <a:xfrm>
            <a:off x="6843370" y="3381451"/>
            <a:ext cx="418795" cy="190195"/>
          </a:xfrm>
          <a:prstGeom prst="roundRect">
            <a:avLst>
              <a:gd name="adj" fmla="val 480770"/>
            </a:avLst>
          </a:prstGeom>
          <a:solidFill>
            <a:srgbClr val="E8F5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6" name="Text 39"/>
          <p:cNvSpPr/>
          <p:nvPr/>
        </p:nvSpPr>
        <p:spPr>
          <a:xfrm>
            <a:off x="6843370" y="3381451"/>
            <a:ext cx="419710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Activo</a:t>
            </a:r>
            <a:endParaRPr lang="en-US" sz="800" dirty="0"/>
          </a:p>
        </p:txBody>
      </p:sp>
      <p:sp>
        <p:nvSpPr>
          <p:cNvPr id="47" name="Text 40"/>
          <p:cNvSpPr txBox="1"/>
          <p:nvPr/>
        </p:nvSpPr>
        <p:spPr>
          <a:xfrm>
            <a:off x="7924190" y="2719426"/>
            <a:ext cx="1719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500" dirty="0"/>
          </a:p>
        </p:txBody>
      </p:sp>
      <p:sp>
        <p:nvSpPr>
          <p:cNvPr id="48" name="Shape 41"/>
          <p:cNvSpPr/>
          <p:nvPr/>
        </p:nvSpPr>
        <p:spPr>
          <a:xfrm>
            <a:off x="8183880" y="1514246"/>
            <a:ext cx="1561795" cy="2190902"/>
          </a:xfrm>
          <a:prstGeom prst="roundRect">
            <a:avLst>
              <a:gd name="adj" fmla="val 5712"/>
            </a:avLst>
          </a:prstGeom>
          <a:solidFill>
            <a:srgbClr val="F8F9FA"/>
          </a:solidFill>
          <a:ln w="254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9" name="Shape 42"/>
          <p:cNvSpPr/>
          <p:nvPr/>
        </p:nvSpPr>
        <p:spPr>
          <a:xfrm>
            <a:off x="8846820" y="1438351"/>
            <a:ext cx="228600" cy="22860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0" name="Text 43"/>
          <p:cNvSpPr/>
          <p:nvPr/>
        </p:nvSpPr>
        <p:spPr>
          <a:xfrm>
            <a:off x="8846820" y="1438351"/>
            <a:ext cx="2286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900" dirty="0"/>
          </a:p>
        </p:txBody>
      </p:sp>
      <p:sp>
        <p:nvSpPr>
          <p:cNvPr id="51" name="Shape 44"/>
          <p:cNvSpPr/>
          <p:nvPr/>
        </p:nvSpPr>
        <p:spPr>
          <a:xfrm>
            <a:off x="8770925" y="1647749"/>
            <a:ext cx="381305" cy="381305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52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875166" y="1752905"/>
            <a:ext cx="171907" cy="171907"/>
          </a:xfrm>
          <a:prstGeom prst="rect">
            <a:avLst/>
          </a:prstGeom>
        </p:spPr>
      </p:pic>
      <p:sp>
        <p:nvSpPr>
          <p:cNvPr id="53" name="Text 45"/>
          <p:cNvSpPr txBox="1"/>
          <p:nvPr/>
        </p:nvSpPr>
        <p:spPr>
          <a:xfrm>
            <a:off x="8250631" y="2124151"/>
            <a:ext cx="14292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</a:t>
            </a:r>
            <a:endParaRPr lang="en-US" sz="900" dirty="0"/>
          </a:p>
        </p:txBody>
      </p:sp>
      <p:sp>
        <p:nvSpPr>
          <p:cNvPr id="54" name="Text 46"/>
          <p:cNvSpPr txBox="1"/>
          <p:nvPr/>
        </p:nvSpPr>
        <p:spPr>
          <a:xfrm>
            <a:off x="8250631" y="2333549"/>
            <a:ext cx="1429207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CloudWatch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Verificación pre-prod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Métricas de rendimiento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Monitoring</a:t>
            </a:r>
            <a:endParaRPr lang="en-US" sz="800" dirty="0"/>
          </a:p>
        </p:txBody>
      </p:sp>
      <p:sp>
        <p:nvSpPr>
          <p:cNvPr id="55" name="Shape 47"/>
          <p:cNvSpPr/>
          <p:nvPr/>
        </p:nvSpPr>
        <p:spPr>
          <a:xfrm>
            <a:off x="8703259" y="3381451"/>
            <a:ext cx="523951" cy="190195"/>
          </a:xfrm>
          <a:prstGeom prst="roundRect">
            <a:avLst>
              <a:gd name="adj" fmla="val 480770"/>
            </a:avLst>
          </a:prstGeom>
          <a:solidFill>
            <a:srgbClr val="E8F5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6" name="Text 48"/>
          <p:cNvSpPr/>
          <p:nvPr/>
        </p:nvSpPr>
        <p:spPr>
          <a:xfrm>
            <a:off x="8703259" y="3381451"/>
            <a:ext cx="523951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Validado</a:t>
            </a:r>
            <a:endParaRPr lang="en-US" sz="800" dirty="0"/>
          </a:p>
        </p:txBody>
      </p:sp>
      <p:sp>
        <p:nvSpPr>
          <p:cNvPr id="57" name="Text 49"/>
          <p:cNvSpPr txBox="1"/>
          <p:nvPr/>
        </p:nvSpPr>
        <p:spPr>
          <a:xfrm>
            <a:off x="9834372" y="2719426"/>
            <a:ext cx="1719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500" dirty="0"/>
          </a:p>
        </p:txBody>
      </p:sp>
      <p:sp>
        <p:nvSpPr>
          <p:cNvPr id="58" name="Shape 50"/>
          <p:cNvSpPr/>
          <p:nvPr/>
        </p:nvSpPr>
        <p:spPr>
          <a:xfrm>
            <a:off x="10094062" y="1514246"/>
            <a:ext cx="1561795" cy="2190902"/>
          </a:xfrm>
          <a:prstGeom prst="roundRect">
            <a:avLst>
              <a:gd name="adj" fmla="val 5712"/>
            </a:avLst>
          </a:prstGeom>
          <a:solidFill>
            <a:srgbClr val="F8F9FA"/>
          </a:solidFill>
          <a:ln w="254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9" name="Shape 51"/>
          <p:cNvSpPr/>
          <p:nvPr/>
        </p:nvSpPr>
        <p:spPr>
          <a:xfrm>
            <a:off x="10757002" y="1438351"/>
            <a:ext cx="228600" cy="22860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0" name="Text 52"/>
          <p:cNvSpPr/>
          <p:nvPr/>
        </p:nvSpPr>
        <p:spPr>
          <a:xfrm>
            <a:off x="10757002" y="1438351"/>
            <a:ext cx="2286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900" dirty="0"/>
          </a:p>
        </p:txBody>
      </p:sp>
      <p:sp>
        <p:nvSpPr>
          <p:cNvPr id="61" name="Shape 53"/>
          <p:cNvSpPr/>
          <p:nvPr/>
        </p:nvSpPr>
        <p:spPr>
          <a:xfrm>
            <a:off x="10681106" y="1647749"/>
            <a:ext cx="381305" cy="381305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62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0785348" y="1752905"/>
            <a:ext cx="171907" cy="171907"/>
          </a:xfrm>
          <a:prstGeom prst="rect">
            <a:avLst/>
          </a:prstGeom>
        </p:spPr>
      </p:pic>
      <p:sp>
        <p:nvSpPr>
          <p:cNvPr id="63" name="Text 54"/>
          <p:cNvSpPr txBox="1"/>
          <p:nvPr/>
        </p:nvSpPr>
        <p:spPr>
          <a:xfrm>
            <a:off x="10160813" y="2124151"/>
            <a:ext cx="14292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ROLLBACK</a:t>
            </a:r>
            <a:endParaRPr lang="en-US" sz="900" dirty="0"/>
          </a:p>
        </p:txBody>
      </p:sp>
      <p:sp>
        <p:nvSpPr>
          <p:cNvPr id="64" name="Text 55"/>
          <p:cNvSpPr txBox="1"/>
          <p:nvPr/>
        </p:nvSpPr>
        <p:spPr>
          <a:xfrm>
            <a:off x="10160813" y="2333549"/>
            <a:ext cx="1429207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Lambda (≤10 concurrencias)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Rollback automático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LambdaAuto</a:t>
            </a:r>
            <a:endParaRPr lang="en-US" sz="800" dirty="0"/>
          </a:p>
        </p:txBody>
      </p:sp>
      <p:sp>
        <p:nvSpPr>
          <p:cNvPr id="65" name="Shape 56"/>
          <p:cNvSpPr/>
          <p:nvPr/>
        </p:nvSpPr>
        <p:spPr>
          <a:xfrm>
            <a:off x="10625328" y="3381451"/>
            <a:ext cx="495605" cy="190195"/>
          </a:xfrm>
          <a:prstGeom prst="roundRect">
            <a:avLst>
              <a:gd name="adj" fmla="val 480770"/>
            </a:avLst>
          </a:prstGeom>
          <a:solidFill>
            <a:srgbClr val="FFF3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6" name="Text 57"/>
          <p:cNvSpPr/>
          <p:nvPr/>
        </p:nvSpPr>
        <p:spPr>
          <a:xfrm>
            <a:off x="10625328" y="3381451"/>
            <a:ext cx="495605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57C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Standby</a:t>
            </a:r>
            <a:endParaRPr lang="en-US" sz="800" dirty="0"/>
          </a:p>
        </p:txBody>
      </p:sp>
      <p:pic>
        <p:nvPicPr>
          <p:cNvPr id="67" name="Image 7" descr="preencoded.png"/>
          <p:cNvPicPr>
            <a:picLocks noChangeAspect="1"/>
          </p:cNvPicPr>
          <p:nvPr/>
        </p:nvPicPr>
        <p:blipFill>
          <a:blip r:embed="rId10"/>
          <a:srcRect t="-399" b="-399"/>
          <a:stretch/>
        </p:blipFill>
        <p:spPr>
          <a:xfrm>
            <a:off x="543154" y="3847795"/>
            <a:ext cx="11106302" cy="57607"/>
          </a:xfrm>
          <a:prstGeom prst="rect">
            <a:avLst/>
          </a:prstGeom>
        </p:spPr>
      </p:pic>
      <p:pic>
        <p:nvPicPr>
          <p:cNvPr id="68" name="Image 8" descr="preencoded.png"/>
          <p:cNvPicPr>
            <a:picLocks noChangeAspect="1"/>
          </p:cNvPicPr>
          <p:nvPr/>
        </p:nvPicPr>
        <p:blipFill>
          <a:blip r:embed="rId11"/>
          <a:srcRect t="-401" b="-401"/>
          <a:stretch/>
        </p:blipFill>
        <p:spPr>
          <a:xfrm>
            <a:off x="543154" y="3847795"/>
            <a:ext cx="9995306" cy="57607"/>
          </a:xfrm>
          <a:prstGeom prst="rect">
            <a:avLst/>
          </a:prstGeom>
        </p:spPr>
      </p:pic>
      <p:sp>
        <p:nvSpPr>
          <p:cNvPr id="69" name="Text 58"/>
          <p:cNvSpPr txBox="1"/>
          <p:nvPr/>
        </p:nvSpPr>
        <p:spPr>
          <a:xfrm>
            <a:off x="543154" y="3981298"/>
            <a:ext cx="111063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Progreso del pipeline: 90% completado</a:t>
            </a:r>
            <a:endParaRPr lang="en-US" sz="800" dirty="0"/>
          </a:p>
        </p:txBody>
      </p:sp>
      <p:sp>
        <p:nvSpPr>
          <p:cNvPr id="70" name="Shape 59"/>
          <p:cNvSpPr/>
          <p:nvPr/>
        </p:nvSpPr>
        <p:spPr>
          <a:xfrm>
            <a:off x="381305" y="4429354"/>
            <a:ext cx="5648249" cy="828446"/>
          </a:xfrm>
          <a:prstGeom prst="roundRect">
            <a:avLst>
              <a:gd name="adj" fmla="val 20299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1" name="Shape 60"/>
          <p:cNvSpPr/>
          <p:nvPr/>
        </p:nvSpPr>
        <p:spPr>
          <a:xfrm>
            <a:off x="533095" y="4581144"/>
            <a:ext cx="267005" cy="267005"/>
          </a:xfrm>
          <a:prstGeom prst="roundRect">
            <a:avLst>
              <a:gd name="adj" fmla="val 146771"/>
            </a:avLst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72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609905" y="4657954"/>
            <a:ext cx="114300" cy="114300"/>
          </a:xfrm>
          <a:prstGeom prst="rect">
            <a:avLst/>
          </a:prstGeom>
        </p:spPr>
      </p:pic>
      <p:sp>
        <p:nvSpPr>
          <p:cNvPr id="73" name="Text 61"/>
          <p:cNvSpPr txBox="1"/>
          <p:nvPr/>
        </p:nvSpPr>
        <p:spPr>
          <a:xfrm>
            <a:off x="895198" y="4624121"/>
            <a:ext cx="147309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Artefactos en S3</a:t>
            </a:r>
            <a:endParaRPr lang="en-US" sz="1000" dirty="0"/>
          </a:p>
        </p:txBody>
      </p:sp>
      <p:sp>
        <p:nvSpPr>
          <p:cNvPr id="74" name="Text 62"/>
          <p:cNvSpPr txBox="1"/>
          <p:nvPr/>
        </p:nvSpPr>
        <p:spPr>
          <a:xfrm>
            <a:off x="533095" y="4943246"/>
            <a:ext cx="60295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Almacenamiento de artefactos de build, versionamiento de infraestructura, evidencia de despliegues.</a:t>
            </a:r>
            <a:endParaRPr lang="en-US" sz="900" dirty="0"/>
          </a:p>
        </p:txBody>
      </p:sp>
      <p:sp>
        <p:nvSpPr>
          <p:cNvPr id="75" name="Shape 63"/>
          <p:cNvSpPr/>
          <p:nvPr/>
        </p:nvSpPr>
        <p:spPr>
          <a:xfrm>
            <a:off x="6167628" y="4429354"/>
            <a:ext cx="5648249" cy="828446"/>
          </a:xfrm>
          <a:prstGeom prst="roundRect">
            <a:avLst>
              <a:gd name="adj" fmla="val 20299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6" name="Shape 64"/>
          <p:cNvSpPr/>
          <p:nvPr/>
        </p:nvSpPr>
        <p:spPr>
          <a:xfrm>
            <a:off x="6319418" y="4581144"/>
            <a:ext cx="267005" cy="267005"/>
          </a:xfrm>
          <a:prstGeom prst="roundRect">
            <a:avLst>
              <a:gd name="adj" fmla="val 146771"/>
            </a:avLst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77" name="Image 10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6396228" y="4657954"/>
            <a:ext cx="114300" cy="114300"/>
          </a:xfrm>
          <a:prstGeom prst="rect">
            <a:avLst/>
          </a:prstGeom>
        </p:spPr>
      </p:pic>
      <p:sp>
        <p:nvSpPr>
          <p:cNvPr id="78" name="Text 65"/>
          <p:cNvSpPr txBox="1"/>
          <p:nvPr/>
        </p:nvSpPr>
        <p:spPr>
          <a:xfrm>
            <a:off x="6681521" y="4624121"/>
            <a:ext cx="83759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Seguridad</a:t>
            </a:r>
            <a:endParaRPr lang="en-US" sz="1000" dirty="0"/>
          </a:p>
        </p:txBody>
      </p:sp>
      <p:sp>
        <p:nvSpPr>
          <p:cNvPr id="79" name="Text 66"/>
          <p:cNvSpPr txBox="1"/>
          <p:nvPr/>
        </p:nvSpPr>
        <p:spPr>
          <a:xfrm>
            <a:off x="6319418" y="4943246"/>
            <a:ext cx="53437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Rollback automático ante fallos, validación de seguridad, monitoreo continuo.</a:t>
            </a:r>
            <a:endParaRPr lang="en-US" sz="900" dirty="0"/>
          </a:p>
        </p:txBody>
      </p:sp>
      <p:pic>
        <p:nvPicPr>
          <p:cNvPr id="80" name="Image 11" descr="preencoded.png"/>
          <p:cNvPicPr>
            <a:picLocks noChangeAspect="1"/>
          </p:cNvPicPr>
          <p:nvPr/>
        </p:nvPicPr>
        <p:blipFill>
          <a:blip r:embed="rId14"/>
          <a:srcRect l="-31" r="-31"/>
          <a:stretch/>
        </p:blipFill>
        <p:spPr>
          <a:xfrm>
            <a:off x="381305" y="5398618"/>
            <a:ext cx="11430000" cy="371246"/>
          </a:xfrm>
          <a:prstGeom prst="rect">
            <a:avLst/>
          </a:prstGeom>
        </p:spPr>
      </p:pic>
      <p:sp>
        <p:nvSpPr>
          <p:cNvPr id="81" name="Shape 67"/>
          <p:cNvSpPr/>
          <p:nvPr/>
        </p:nvSpPr>
        <p:spPr>
          <a:xfrm>
            <a:off x="381305" y="5398618"/>
            <a:ext cx="11430000" cy="371246"/>
          </a:xfrm>
          <a:prstGeom prst="roundRect">
            <a:avLst>
              <a:gd name="adj" fmla="val 101048"/>
            </a:avLst>
          </a:prstGeom>
          <a:noFill/>
          <a:ln w="254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2" name="Text 68"/>
          <p:cNvSpPr txBox="1"/>
          <p:nvPr/>
        </p:nvSpPr>
        <p:spPr>
          <a:xfrm>
            <a:off x="600761" y="5398618"/>
            <a:ext cx="11210544" cy="3721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57C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Rollback Automático:</a:t>
            </a:r>
            <a:r>
              <a:rPr lang="en-US" sz="800" dirty="0">
                <a:solidFill>
                  <a:srgbClr val="F57C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Si el despliegue falla, Lambda se activa automáticamente para revertir cambios (máximo 10 ejecuciones concurrentes). </a:t>
            </a:r>
            <a:endParaRPr lang="en-US" sz="800" dirty="0"/>
          </a:p>
        </p:txBody>
      </p:sp>
      <p:pic>
        <p:nvPicPr>
          <p:cNvPr id="83" name="Image 12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495605" y="5535778"/>
            <a:ext cx="105156" cy="105156"/>
          </a:xfrm>
          <a:prstGeom prst="rect">
            <a:avLst/>
          </a:prstGeom>
        </p:spPr>
      </p:pic>
      <p:sp>
        <p:nvSpPr>
          <p:cNvPr id="84" name="Shape 69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85" name="Image 13" descr="preencoded.png"/>
          <p:cNvPicPr>
            <a:picLocks noChangeAspect="1"/>
          </p:cNvPicPr>
          <p:nvPr/>
        </p:nvPicPr>
        <p:blipFill>
          <a:blip r:embed="rId16"/>
          <a:srcRect l="-1507" r="-1507"/>
          <a:stretch/>
        </p:blipFill>
        <p:spPr>
          <a:xfrm>
            <a:off x="571500" y="6507785"/>
            <a:ext cx="171907" cy="133502"/>
          </a:xfrm>
          <a:prstGeom prst="rect">
            <a:avLst/>
          </a:prstGeom>
        </p:spPr>
      </p:pic>
      <p:sp>
        <p:nvSpPr>
          <p:cNvPr id="86" name="Text 70"/>
          <p:cNvSpPr txBox="1"/>
          <p:nvPr/>
        </p:nvSpPr>
        <p:spPr>
          <a:xfrm>
            <a:off x="743407" y="6482182"/>
            <a:ext cx="298185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Equipo: </a:t>
            </a:r>
            <a:r>
              <a:rPr lang="en-US" sz="1000" b="1" dirty="0">
                <a:solidFill>
                  <a:srgbClr val="FFC10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Narciso, Caleb, Rodrigo, Natanael</a:t>
            </a:r>
            <a:endParaRPr lang="en-US" sz="1000" dirty="0"/>
          </a:p>
        </p:txBody>
      </p:sp>
      <p:sp>
        <p:nvSpPr>
          <p:cNvPr id="87" name="Text 71"/>
          <p:cNvSpPr txBox="1"/>
          <p:nvPr/>
        </p:nvSpPr>
        <p:spPr>
          <a:xfrm>
            <a:off x="10852099" y="6482182"/>
            <a:ext cx="8193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Mayo 2026</a:t>
            </a:r>
            <a:endParaRPr lang="en-US" sz="1000" dirty="0"/>
          </a:p>
        </p:txBody>
      </p:sp>
      <p:pic>
        <p:nvPicPr>
          <p:cNvPr id="88" name="Image 14" descr="preencoded.png"/>
          <p:cNvPicPr>
            <a:picLocks noChangeAspect="1"/>
          </p:cNvPicPr>
          <p:nvPr/>
        </p:nvPicPr>
        <p:blipFill>
          <a:blip r:embed="rId17"/>
          <a:srcRect t="-1100" b="-1100"/>
          <a:stretch/>
        </p:blipFill>
        <p:spPr>
          <a:xfrm>
            <a:off x="11505895" y="6507785"/>
            <a:ext cx="114300" cy="133502"/>
          </a:xfrm>
          <a:prstGeom prst="rect">
            <a:avLst/>
          </a:prstGeom>
        </p:spPr>
      </p:pic>
      <p:pic>
        <p:nvPicPr>
          <p:cNvPr id="89" name="Image 15" descr="preencoded.png"/>
          <p:cNvPicPr>
            <a:picLocks noChangeAspect="1"/>
          </p:cNvPicPr>
          <p:nvPr/>
        </p:nvPicPr>
        <p:blipFill>
          <a:blip r:embed="rId18"/>
          <a:srcRect l="-19" r="-19"/>
          <a:stretch/>
        </p:blipFill>
        <p:spPr>
          <a:xfrm>
            <a:off x="0" y="0"/>
            <a:ext cx="12191695" cy="761695"/>
          </a:xfrm>
          <a:prstGeom prst="rect">
            <a:avLst/>
          </a:prstGeom>
        </p:spPr>
      </p:pic>
      <p:sp>
        <p:nvSpPr>
          <p:cNvPr id="90" name="Shape 72"/>
          <p:cNvSpPr/>
          <p:nvPr/>
        </p:nvSpPr>
        <p:spPr>
          <a:xfrm>
            <a:off x="571500" y="142646"/>
            <a:ext cx="476402" cy="476402"/>
          </a:xfrm>
          <a:prstGeom prst="roundRect">
            <a:avLst>
              <a:gd name="adj" fmla="val 6142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1" name="Text 73"/>
          <p:cNvSpPr txBox="1"/>
          <p:nvPr/>
        </p:nvSpPr>
        <p:spPr>
          <a:xfrm>
            <a:off x="571500" y="142646"/>
            <a:ext cx="476402" cy="4764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</a:t>
            </a:r>
            <a:endParaRPr lang="en-US" sz="1800" dirty="0"/>
          </a:p>
        </p:txBody>
      </p:sp>
      <p:sp>
        <p:nvSpPr>
          <p:cNvPr id="92" name="Text 74"/>
          <p:cNvSpPr txBox="1"/>
          <p:nvPr/>
        </p:nvSpPr>
        <p:spPr>
          <a:xfrm>
            <a:off x="1190549" y="228600"/>
            <a:ext cx="277703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Pipeline CI/CD Técnico</a:t>
            </a:r>
            <a:endParaRPr lang="en-US" sz="1800" dirty="0"/>
          </a:p>
        </p:txBody>
      </p:sp>
      <p:sp>
        <p:nvSpPr>
          <p:cNvPr id="93" name="Shape 75"/>
          <p:cNvSpPr/>
          <p:nvPr/>
        </p:nvSpPr>
        <p:spPr>
          <a:xfrm>
            <a:off x="10397642" y="333756"/>
            <a:ext cx="95098" cy="95098"/>
          </a:xfrm>
          <a:prstGeom prst="ellipse">
            <a:avLst/>
          </a:prstGeom>
          <a:solidFill>
            <a:srgbClr val="4CAF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4" name="Text 76"/>
          <p:cNvSpPr txBox="1"/>
          <p:nvPr/>
        </p:nvSpPr>
        <p:spPr>
          <a:xfrm>
            <a:off x="10759745" y="290779"/>
            <a:ext cx="125089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Sistema Activo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571500" y="1162202"/>
            <a:ext cx="11048695" cy="28346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 txBox="1"/>
          <p:nvPr/>
        </p:nvSpPr>
        <p:spPr>
          <a:xfrm>
            <a:off x="571500" y="381305"/>
            <a:ext cx="5925312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Arquitectura de Infraestructura AWS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838505"/>
            <a:ext cx="52395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Diseño de VPC, redes y recursos para la aplicación web</a:t>
            </a:r>
            <a:endParaRPr lang="en-US" sz="10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l="30750" r="30750"/>
          <a:stretch/>
        </p:blipFill>
        <p:spPr>
          <a:xfrm>
            <a:off x="10280599" y="461772"/>
            <a:ext cx="476402" cy="47640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852099" y="461772"/>
            <a:ext cx="771754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Tecmilenio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71500" y="1380744"/>
            <a:ext cx="11048695" cy="3381451"/>
          </a:xfrm>
          <a:prstGeom prst="roundRect">
            <a:avLst>
              <a:gd name="adj" fmla="val 1523"/>
            </a:avLst>
          </a:prstGeom>
          <a:solidFill>
            <a:srgbClr val="F8F9FA"/>
          </a:solidFill>
          <a:ln w="254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7"/>
          <p:cNvSpPr txBox="1"/>
          <p:nvPr/>
        </p:nvSpPr>
        <p:spPr>
          <a:xfrm>
            <a:off x="1067105" y="1591056"/>
            <a:ext cx="29562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Diagrama de Arquitectura AWS </a:t>
            </a:r>
            <a:endParaRPr lang="en-US" sz="13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 t="-842" b="-842"/>
          <a:stretch/>
        </p:blipFill>
        <p:spPr>
          <a:xfrm>
            <a:off x="780898" y="1619402"/>
            <a:ext cx="190195" cy="171907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10723169" y="1591056"/>
            <a:ext cx="694944" cy="228600"/>
          </a:xfrm>
          <a:prstGeom prst="roundRect">
            <a:avLst>
              <a:gd name="adj" fmla="val 133333"/>
            </a:avLst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9"/>
          <p:cNvSpPr txBox="1"/>
          <p:nvPr/>
        </p:nvSpPr>
        <p:spPr>
          <a:xfrm>
            <a:off x="10723169" y="1591056"/>
            <a:ext cx="695858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us-east-1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780898" y="1962302"/>
            <a:ext cx="2562149" cy="2590495"/>
          </a:xfrm>
          <a:prstGeom prst="roundRect">
            <a:avLst>
              <a:gd name="adj" fmla="val 2123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1"/>
          <p:cNvSpPr txBox="1"/>
          <p:nvPr/>
        </p:nvSpPr>
        <p:spPr>
          <a:xfrm>
            <a:off x="1181405" y="2115007"/>
            <a:ext cx="200985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Red </a:t>
            </a:r>
            <a:endParaRPr lang="en-US" sz="10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rcRect l="-1507" r="-1507"/>
          <a:stretch/>
        </p:blipFill>
        <p:spPr>
          <a:xfrm>
            <a:off x="933602" y="2138782"/>
            <a:ext cx="171907" cy="133502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933602" y="2486254"/>
            <a:ext cx="2257654" cy="495605"/>
          </a:xfrm>
          <a:prstGeom prst="roundRect">
            <a:avLst>
              <a:gd name="adj" fmla="val 42577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8" name="Shape 13"/>
          <p:cNvSpPr/>
          <p:nvPr/>
        </p:nvSpPr>
        <p:spPr>
          <a:xfrm>
            <a:off x="933602" y="2486254"/>
            <a:ext cx="28346" cy="495605"/>
          </a:xfrm>
          <a:prstGeom prst="roundRect">
            <a:avLst>
              <a:gd name="adj" fmla="val 744427"/>
            </a:avLst>
          </a:prstGeom>
          <a:solidFill>
            <a:srgbClr val="1B5E20"/>
          </a:solidFill>
          <a:ln w="12700">
            <a:solidFill>
              <a:srgbClr val="1B5E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Shape 14"/>
          <p:cNvSpPr/>
          <p:nvPr/>
        </p:nvSpPr>
        <p:spPr>
          <a:xfrm>
            <a:off x="1057046" y="2581351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143000" y="2667305"/>
            <a:ext cx="133502" cy="13350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476756" y="2590495"/>
            <a:ext cx="16194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VPC</a:t>
            </a:r>
            <a:endParaRPr lang="en-US" sz="900" dirty="0"/>
          </a:p>
        </p:txBody>
      </p:sp>
      <p:sp>
        <p:nvSpPr>
          <p:cNvPr id="22" name="Text 16"/>
          <p:cNvSpPr txBox="1"/>
          <p:nvPr/>
        </p:nvSpPr>
        <p:spPr>
          <a:xfrm>
            <a:off x="1476756" y="2743200"/>
            <a:ext cx="161940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10.0.0.0/16</a:t>
            </a:r>
            <a:endParaRPr lang="en-US" sz="800" dirty="0"/>
          </a:p>
        </p:txBody>
      </p:sp>
      <p:sp>
        <p:nvSpPr>
          <p:cNvPr id="23" name="Shape 17"/>
          <p:cNvSpPr/>
          <p:nvPr/>
        </p:nvSpPr>
        <p:spPr>
          <a:xfrm>
            <a:off x="933602" y="3152851"/>
            <a:ext cx="2257654" cy="495605"/>
          </a:xfrm>
          <a:prstGeom prst="roundRect">
            <a:avLst>
              <a:gd name="adj" fmla="val 42577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4" name="Shape 18"/>
          <p:cNvSpPr/>
          <p:nvPr/>
        </p:nvSpPr>
        <p:spPr>
          <a:xfrm>
            <a:off x="933602" y="3152851"/>
            <a:ext cx="28346" cy="495605"/>
          </a:xfrm>
          <a:prstGeom prst="roundRect">
            <a:avLst>
              <a:gd name="adj" fmla="val 744427"/>
            </a:avLst>
          </a:prstGeom>
          <a:solidFill>
            <a:srgbClr val="1B5E20"/>
          </a:solidFill>
          <a:ln w="12700">
            <a:solidFill>
              <a:srgbClr val="1B5E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Shape 19"/>
          <p:cNvSpPr/>
          <p:nvPr/>
        </p:nvSpPr>
        <p:spPr>
          <a:xfrm>
            <a:off x="1057046" y="3247949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143000" y="3333902"/>
            <a:ext cx="133502" cy="13350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476756" y="3258007"/>
            <a:ext cx="16194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IGW</a:t>
            </a:r>
            <a:endParaRPr lang="en-US" sz="900" dirty="0"/>
          </a:p>
        </p:txBody>
      </p:sp>
      <p:sp>
        <p:nvSpPr>
          <p:cNvPr id="28" name="Text 21"/>
          <p:cNvSpPr txBox="1"/>
          <p:nvPr/>
        </p:nvSpPr>
        <p:spPr>
          <a:xfrm>
            <a:off x="1476756" y="3409798"/>
            <a:ext cx="161940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Internet Gateway</a:t>
            </a:r>
            <a:endParaRPr lang="en-US" sz="800" dirty="0"/>
          </a:p>
        </p:txBody>
      </p:sp>
      <p:sp>
        <p:nvSpPr>
          <p:cNvPr id="29" name="Shape 22"/>
          <p:cNvSpPr/>
          <p:nvPr/>
        </p:nvSpPr>
        <p:spPr>
          <a:xfrm>
            <a:off x="933602" y="3819449"/>
            <a:ext cx="2257654" cy="495605"/>
          </a:xfrm>
          <a:prstGeom prst="roundRect">
            <a:avLst>
              <a:gd name="adj" fmla="val 42577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0" name="Shape 23"/>
          <p:cNvSpPr/>
          <p:nvPr/>
        </p:nvSpPr>
        <p:spPr>
          <a:xfrm>
            <a:off x="933602" y="3819449"/>
            <a:ext cx="28346" cy="495605"/>
          </a:xfrm>
          <a:prstGeom prst="roundRect">
            <a:avLst>
              <a:gd name="adj" fmla="val 744427"/>
            </a:avLst>
          </a:prstGeom>
          <a:solidFill>
            <a:srgbClr val="1B5E20"/>
          </a:solidFill>
          <a:ln w="12700">
            <a:solidFill>
              <a:srgbClr val="1B5E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1" name="Shape 24"/>
          <p:cNvSpPr/>
          <p:nvPr/>
        </p:nvSpPr>
        <p:spPr>
          <a:xfrm>
            <a:off x="1057046" y="3914546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143000" y="4000500"/>
            <a:ext cx="133502" cy="133502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1476756" y="3924605"/>
            <a:ext cx="16194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</a:t>
            </a:r>
            <a:endParaRPr lang="en-US" sz="900" dirty="0"/>
          </a:p>
        </p:txBody>
      </p:sp>
      <p:sp>
        <p:nvSpPr>
          <p:cNvPr id="34" name="Text 26"/>
          <p:cNvSpPr txBox="1"/>
          <p:nvPr/>
        </p:nvSpPr>
        <p:spPr>
          <a:xfrm>
            <a:off x="1476756" y="4076395"/>
            <a:ext cx="161940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 Gateway</a:t>
            </a:r>
            <a:endParaRPr lang="en-US" sz="800" dirty="0"/>
          </a:p>
        </p:txBody>
      </p:sp>
      <p:sp>
        <p:nvSpPr>
          <p:cNvPr id="35" name="Shape 27"/>
          <p:cNvSpPr/>
          <p:nvPr/>
        </p:nvSpPr>
        <p:spPr>
          <a:xfrm>
            <a:off x="3534156" y="1962302"/>
            <a:ext cx="5124298" cy="2590495"/>
          </a:xfrm>
          <a:prstGeom prst="roundRect">
            <a:avLst>
              <a:gd name="adj" fmla="val 2076"/>
            </a:avLst>
          </a:prstGeom>
          <a:solidFill>
            <a:srgbClr val="F0F8F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6" name="Text 28"/>
          <p:cNvSpPr txBox="1"/>
          <p:nvPr/>
        </p:nvSpPr>
        <p:spPr>
          <a:xfrm>
            <a:off x="3914546" y="2115007"/>
            <a:ext cx="45912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Recursos Principales </a:t>
            </a:r>
            <a:endParaRPr lang="en-US" sz="1000" dirty="0"/>
          </a:p>
        </p:txBody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9"/>
          <a:srcRect l="-837" r="-837"/>
          <a:stretch/>
        </p:blipFill>
        <p:spPr>
          <a:xfrm>
            <a:off x="3685946" y="2138782"/>
            <a:ext cx="152705" cy="133502"/>
          </a:xfrm>
          <a:prstGeom prst="rect">
            <a:avLst/>
          </a:prstGeom>
        </p:spPr>
      </p:pic>
      <p:sp>
        <p:nvSpPr>
          <p:cNvPr id="38" name="Shape 29"/>
          <p:cNvSpPr/>
          <p:nvPr/>
        </p:nvSpPr>
        <p:spPr>
          <a:xfrm>
            <a:off x="3685946" y="2486254"/>
            <a:ext cx="2361895" cy="629107"/>
          </a:xfrm>
          <a:prstGeom prst="roundRect">
            <a:avLst>
              <a:gd name="adj" fmla="val 26427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9" name="Text 30"/>
          <p:cNvSpPr txBox="1"/>
          <p:nvPr/>
        </p:nvSpPr>
        <p:spPr>
          <a:xfrm>
            <a:off x="3771900" y="2572207"/>
            <a:ext cx="21909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Subred Pública</a:t>
            </a:r>
            <a:endParaRPr lang="en-US" sz="800" dirty="0"/>
          </a:p>
        </p:txBody>
      </p:sp>
      <p:sp>
        <p:nvSpPr>
          <p:cNvPr id="40" name="Text 31"/>
          <p:cNvSpPr txBox="1"/>
          <p:nvPr/>
        </p:nvSpPr>
        <p:spPr>
          <a:xfrm>
            <a:off x="3771900" y="2714854"/>
            <a:ext cx="219090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10.0.1.0/24</a:t>
            </a:r>
            <a:endParaRPr lang="en-US" sz="800" dirty="0"/>
          </a:p>
        </p:txBody>
      </p:sp>
      <p:sp>
        <p:nvSpPr>
          <p:cNvPr id="41" name="Text 32"/>
          <p:cNvSpPr txBox="1"/>
          <p:nvPr/>
        </p:nvSpPr>
        <p:spPr>
          <a:xfrm>
            <a:off x="3893515" y="2895905"/>
            <a:ext cx="2069287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CAF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EC2, ALB </a:t>
            </a:r>
            <a:endParaRPr lang="en-US" sz="800" dirty="0"/>
          </a:p>
        </p:txBody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3771900" y="2916936"/>
            <a:ext cx="95098" cy="95098"/>
          </a:xfrm>
          <a:prstGeom prst="rect">
            <a:avLst/>
          </a:prstGeom>
        </p:spPr>
      </p:pic>
      <p:sp>
        <p:nvSpPr>
          <p:cNvPr id="43" name="Shape 33"/>
          <p:cNvSpPr/>
          <p:nvPr/>
        </p:nvSpPr>
        <p:spPr>
          <a:xfrm>
            <a:off x="6143854" y="2486254"/>
            <a:ext cx="2361895" cy="629107"/>
          </a:xfrm>
          <a:prstGeom prst="roundRect">
            <a:avLst>
              <a:gd name="adj" fmla="val 26427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4" name="Text 34"/>
          <p:cNvSpPr txBox="1"/>
          <p:nvPr/>
        </p:nvSpPr>
        <p:spPr>
          <a:xfrm>
            <a:off x="6229807" y="2572207"/>
            <a:ext cx="21909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Subred Privada</a:t>
            </a:r>
            <a:endParaRPr lang="en-US" sz="800" dirty="0"/>
          </a:p>
        </p:txBody>
      </p:sp>
      <p:sp>
        <p:nvSpPr>
          <p:cNvPr id="45" name="Text 35"/>
          <p:cNvSpPr txBox="1"/>
          <p:nvPr/>
        </p:nvSpPr>
        <p:spPr>
          <a:xfrm>
            <a:off x="6229807" y="2714854"/>
            <a:ext cx="219090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10.0.2.0/24</a:t>
            </a:r>
            <a:endParaRPr lang="en-US" sz="800" dirty="0"/>
          </a:p>
        </p:txBody>
      </p:sp>
      <p:sp>
        <p:nvSpPr>
          <p:cNvPr id="46" name="Text 36"/>
          <p:cNvSpPr txBox="1"/>
          <p:nvPr/>
        </p:nvSpPr>
        <p:spPr>
          <a:xfrm>
            <a:off x="6351422" y="2895905"/>
            <a:ext cx="2069287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CAF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DB, Cache </a:t>
            </a:r>
            <a:endParaRPr lang="en-US" sz="800" dirty="0"/>
          </a:p>
        </p:txBody>
      </p:sp>
      <p:pic>
        <p:nvPicPr>
          <p:cNvPr id="47" name="Image 8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229807" y="2916936"/>
            <a:ext cx="95098" cy="95098"/>
          </a:xfrm>
          <a:prstGeom prst="rect">
            <a:avLst/>
          </a:prstGeom>
        </p:spPr>
      </p:pic>
      <p:sp>
        <p:nvSpPr>
          <p:cNvPr id="48" name="Shape 37"/>
          <p:cNvSpPr/>
          <p:nvPr/>
        </p:nvSpPr>
        <p:spPr>
          <a:xfrm>
            <a:off x="3685946" y="3305556"/>
            <a:ext cx="4819802" cy="590702"/>
          </a:xfrm>
          <a:prstGeom prst="roundRect">
            <a:avLst>
              <a:gd name="adj" fmla="val 29961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9" name="Text 38"/>
          <p:cNvSpPr txBox="1"/>
          <p:nvPr/>
        </p:nvSpPr>
        <p:spPr>
          <a:xfrm>
            <a:off x="3955694" y="3429000"/>
            <a:ext cx="44266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Security Groups </a:t>
            </a:r>
            <a:endParaRPr lang="en-US" sz="900" dirty="0"/>
          </a:p>
        </p:txBody>
      </p:sp>
      <p:pic>
        <p:nvPicPr>
          <p:cNvPr id="50" name="Image 9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3810305" y="3452774"/>
            <a:ext cx="114300" cy="114300"/>
          </a:xfrm>
          <a:prstGeom prst="rect">
            <a:avLst/>
          </a:prstGeom>
        </p:spPr>
      </p:pic>
      <p:sp>
        <p:nvSpPr>
          <p:cNvPr id="51" name="Text 39"/>
          <p:cNvSpPr txBox="1"/>
          <p:nvPr/>
        </p:nvSpPr>
        <p:spPr>
          <a:xfrm>
            <a:off x="3810305" y="3629254"/>
            <a:ext cx="45720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Reglas restrictivas por IP y puerto</a:t>
            </a:r>
            <a:endParaRPr lang="en-US" sz="800" dirty="0"/>
          </a:p>
        </p:txBody>
      </p:sp>
      <p:sp>
        <p:nvSpPr>
          <p:cNvPr id="52" name="Shape 40"/>
          <p:cNvSpPr/>
          <p:nvPr/>
        </p:nvSpPr>
        <p:spPr>
          <a:xfrm>
            <a:off x="8848649" y="1962302"/>
            <a:ext cx="2562149" cy="2590495"/>
          </a:xfrm>
          <a:prstGeom prst="roundRect">
            <a:avLst>
              <a:gd name="adj" fmla="val 2123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3" name="Text 41"/>
          <p:cNvSpPr txBox="1"/>
          <p:nvPr/>
        </p:nvSpPr>
        <p:spPr>
          <a:xfrm>
            <a:off x="9249156" y="2115007"/>
            <a:ext cx="200985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Servicios </a:t>
            </a:r>
            <a:endParaRPr lang="en-US" sz="1000" dirty="0"/>
          </a:p>
        </p:txBody>
      </p:sp>
      <p:pic>
        <p:nvPicPr>
          <p:cNvPr id="54" name="Image 10" descr="preencoded.png"/>
          <p:cNvPicPr>
            <a:picLocks noChangeAspect="1"/>
          </p:cNvPicPr>
          <p:nvPr/>
        </p:nvPicPr>
        <p:blipFill>
          <a:blip r:embed="rId12"/>
          <a:srcRect l="-1507" r="-1507"/>
          <a:stretch/>
        </p:blipFill>
        <p:spPr>
          <a:xfrm>
            <a:off x="9001354" y="2138782"/>
            <a:ext cx="171907" cy="133502"/>
          </a:xfrm>
          <a:prstGeom prst="rect">
            <a:avLst/>
          </a:prstGeom>
        </p:spPr>
      </p:pic>
      <p:sp>
        <p:nvSpPr>
          <p:cNvPr id="55" name="Shape 42"/>
          <p:cNvSpPr/>
          <p:nvPr/>
        </p:nvSpPr>
        <p:spPr>
          <a:xfrm>
            <a:off x="9001354" y="2486254"/>
            <a:ext cx="2257654" cy="495605"/>
          </a:xfrm>
          <a:prstGeom prst="roundRect">
            <a:avLst>
              <a:gd name="adj" fmla="val 42577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6" name="Shape 43"/>
          <p:cNvSpPr/>
          <p:nvPr/>
        </p:nvSpPr>
        <p:spPr>
          <a:xfrm>
            <a:off x="9001354" y="2486254"/>
            <a:ext cx="28346" cy="495605"/>
          </a:xfrm>
          <a:prstGeom prst="roundRect">
            <a:avLst>
              <a:gd name="adj" fmla="val 744427"/>
            </a:avLst>
          </a:prstGeom>
          <a:solidFill>
            <a:srgbClr val="1B5E20"/>
          </a:solidFill>
          <a:ln w="12700">
            <a:solidFill>
              <a:srgbClr val="1B5E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7" name="Shape 44"/>
          <p:cNvSpPr/>
          <p:nvPr/>
        </p:nvSpPr>
        <p:spPr>
          <a:xfrm>
            <a:off x="9124798" y="2581351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58" name="Image 11" descr="preencoded.png"/>
          <p:cNvPicPr>
            <a:picLocks noChangeAspect="1"/>
          </p:cNvPicPr>
          <p:nvPr/>
        </p:nvPicPr>
        <p:blipFill>
          <a:blip r:embed="rId13"/>
          <a:srcRect t="-1100" b="-1100"/>
          <a:stretch/>
        </p:blipFill>
        <p:spPr>
          <a:xfrm>
            <a:off x="9219895" y="2667305"/>
            <a:ext cx="114300" cy="133502"/>
          </a:xfrm>
          <a:prstGeom prst="rect">
            <a:avLst/>
          </a:prstGeom>
        </p:spPr>
      </p:pic>
      <p:sp>
        <p:nvSpPr>
          <p:cNvPr id="59" name="Text 45"/>
          <p:cNvSpPr txBox="1"/>
          <p:nvPr/>
        </p:nvSpPr>
        <p:spPr>
          <a:xfrm>
            <a:off x="9544507" y="2590495"/>
            <a:ext cx="16194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DynamoDB</a:t>
            </a:r>
            <a:endParaRPr lang="en-US" sz="900" dirty="0"/>
          </a:p>
        </p:txBody>
      </p:sp>
      <p:sp>
        <p:nvSpPr>
          <p:cNvPr id="60" name="Text 46"/>
          <p:cNvSpPr txBox="1"/>
          <p:nvPr/>
        </p:nvSpPr>
        <p:spPr>
          <a:xfrm>
            <a:off x="9544507" y="2743200"/>
            <a:ext cx="161940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NoSQL DB</a:t>
            </a:r>
            <a:endParaRPr lang="en-US" sz="800" dirty="0"/>
          </a:p>
        </p:txBody>
      </p:sp>
      <p:sp>
        <p:nvSpPr>
          <p:cNvPr id="61" name="Shape 47"/>
          <p:cNvSpPr/>
          <p:nvPr/>
        </p:nvSpPr>
        <p:spPr>
          <a:xfrm>
            <a:off x="9001354" y="3152851"/>
            <a:ext cx="2257654" cy="495605"/>
          </a:xfrm>
          <a:prstGeom prst="roundRect">
            <a:avLst>
              <a:gd name="adj" fmla="val 42577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2" name="Shape 48"/>
          <p:cNvSpPr/>
          <p:nvPr/>
        </p:nvSpPr>
        <p:spPr>
          <a:xfrm>
            <a:off x="9001354" y="3152851"/>
            <a:ext cx="28346" cy="495605"/>
          </a:xfrm>
          <a:prstGeom prst="roundRect">
            <a:avLst>
              <a:gd name="adj" fmla="val 744427"/>
            </a:avLst>
          </a:prstGeom>
          <a:solidFill>
            <a:srgbClr val="1B5E20"/>
          </a:solidFill>
          <a:ln w="12700">
            <a:solidFill>
              <a:srgbClr val="1B5E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3" name="Shape 49"/>
          <p:cNvSpPr/>
          <p:nvPr/>
        </p:nvSpPr>
        <p:spPr>
          <a:xfrm>
            <a:off x="9124798" y="3247949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64" name="Image 12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9210751" y="3333902"/>
            <a:ext cx="133502" cy="133502"/>
          </a:xfrm>
          <a:prstGeom prst="rect">
            <a:avLst/>
          </a:prstGeom>
        </p:spPr>
      </p:pic>
      <p:sp>
        <p:nvSpPr>
          <p:cNvPr id="65" name="Text 50"/>
          <p:cNvSpPr txBox="1"/>
          <p:nvPr/>
        </p:nvSpPr>
        <p:spPr>
          <a:xfrm>
            <a:off x="9544507" y="3258007"/>
            <a:ext cx="16194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S3</a:t>
            </a:r>
            <a:endParaRPr lang="en-US" sz="900" dirty="0"/>
          </a:p>
        </p:txBody>
      </p:sp>
      <p:sp>
        <p:nvSpPr>
          <p:cNvPr id="66" name="Text 51"/>
          <p:cNvSpPr txBox="1"/>
          <p:nvPr/>
        </p:nvSpPr>
        <p:spPr>
          <a:xfrm>
            <a:off x="9544507" y="3409798"/>
            <a:ext cx="161940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Almacenamiento</a:t>
            </a:r>
            <a:endParaRPr lang="en-US" sz="800" dirty="0"/>
          </a:p>
        </p:txBody>
      </p:sp>
      <p:sp>
        <p:nvSpPr>
          <p:cNvPr id="67" name="Shape 52"/>
          <p:cNvSpPr/>
          <p:nvPr/>
        </p:nvSpPr>
        <p:spPr>
          <a:xfrm>
            <a:off x="9001354" y="3819449"/>
            <a:ext cx="2257654" cy="495605"/>
          </a:xfrm>
          <a:prstGeom prst="roundRect">
            <a:avLst>
              <a:gd name="adj" fmla="val 42577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8" name="Shape 53"/>
          <p:cNvSpPr/>
          <p:nvPr/>
        </p:nvSpPr>
        <p:spPr>
          <a:xfrm>
            <a:off x="9001354" y="3819449"/>
            <a:ext cx="28346" cy="495605"/>
          </a:xfrm>
          <a:prstGeom prst="roundRect">
            <a:avLst>
              <a:gd name="adj" fmla="val 744427"/>
            </a:avLst>
          </a:prstGeom>
          <a:solidFill>
            <a:srgbClr val="1B5E20"/>
          </a:solidFill>
          <a:ln w="12700">
            <a:solidFill>
              <a:srgbClr val="1B5E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9" name="Shape 54"/>
          <p:cNvSpPr/>
          <p:nvPr/>
        </p:nvSpPr>
        <p:spPr>
          <a:xfrm>
            <a:off x="9124798" y="3914546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70" name="Image 13" descr="preencoded.png"/>
          <p:cNvPicPr>
            <a:picLocks noChangeAspect="1"/>
          </p:cNvPicPr>
          <p:nvPr/>
        </p:nvPicPr>
        <p:blipFill>
          <a:blip r:embed="rId15"/>
          <a:srcRect l="-1507" r="-1507"/>
          <a:stretch/>
        </p:blipFill>
        <p:spPr>
          <a:xfrm>
            <a:off x="9191549" y="4000500"/>
            <a:ext cx="171907" cy="133502"/>
          </a:xfrm>
          <a:prstGeom prst="rect">
            <a:avLst/>
          </a:prstGeom>
        </p:spPr>
      </p:pic>
      <p:sp>
        <p:nvSpPr>
          <p:cNvPr id="71" name="Text 55"/>
          <p:cNvSpPr txBox="1"/>
          <p:nvPr/>
        </p:nvSpPr>
        <p:spPr>
          <a:xfrm>
            <a:off x="9544507" y="3924605"/>
            <a:ext cx="16194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Lambda</a:t>
            </a:r>
            <a:endParaRPr lang="en-US" sz="900" dirty="0"/>
          </a:p>
        </p:txBody>
      </p:sp>
      <p:sp>
        <p:nvSpPr>
          <p:cNvPr id="72" name="Text 56"/>
          <p:cNvSpPr txBox="1"/>
          <p:nvPr/>
        </p:nvSpPr>
        <p:spPr>
          <a:xfrm>
            <a:off x="9544507" y="4076395"/>
            <a:ext cx="161940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Serverless</a:t>
            </a:r>
            <a:endParaRPr lang="en-US" sz="800" dirty="0"/>
          </a:p>
        </p:txBody>
      </p:sp>
      <p:sp>
        <p:nvSpPr>
          <p:cNvPr id="73" name="Shape 57"/>
          <p:cNvSpPr/>
          <p:nvPr/>
        </p:nvSpPr>
        <p:spPr>
          <a:xfrm>
            <a:off x="571500" y="5090465"/>
            <a:ext cx="3590849" cy="1248156"/>
          </a:xfrm>
          <a:prstGeom prst="roundRect">
            <a:avLst>
              <a:gd name="adj" fmla="val 8948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4" name="Shape 58"/>
          <p:cNvSpPr/>
          <p:nvPr/>
        </p:nvSpPr>
        <p:spPr>
          <a:xfrm>
            <a:off x="724205" y="5242255"/>
            <a:ext cx="304495" cy="304495"/>
          </a:xfrm>
          <a:prstGeom prst="roundRect">
            <a:avLst>
              <a:gd name="adj" fmla="val 112613"/>
            </a:avLst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75" name="Image 1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09244" y="5328209"/>
            <a:ext cx="133502" cy="133502"/>
          </a:xfrm>
          <a:prstGeom prst="rect">
            <a:avLst/>
          </a:prstGeom>
        </p:spPr>
      </p:pic>
      <p:sp>
        <p:nvSpPr>
          <p:cNvPr id="76" name="Text 59"/>
          <p:cNvSpPr txBox="1"/>
          <p:nvPr/>
        </p:nvSpPr>
        <p:spPr>
          <a:xfrm>
            <a:off x="1123798" y="5304434"/>
            <a:ext cx="119969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EC2 Instances</a:t>
            </a:r>
            <a:endParaRPr lang="en-US" sz="1000" dirty="0"/>
          </a:p>
        </p:txBody>
      </p:sp>
      <p:sp>
        <p:nvSpPr>
          <p:cNvPr id="77" name="Text 60"/>
          <p:cNvSpPr txBox="1"/>
          <p:nvPr/>
        </p:nvSpPr>
        <p:spPr>
          <a:xfrm>
            <a:off x="724205" y="5642762"/>
            <a:ext cx="3286354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Instancias t3.micro en subred privada con acceso via Systems Manager</a:t>
            </a:r>
            <a:endParaRPr lang="en-US" sz="900" dirty="0"/>
          </a:p>
        </p:txBody>
      </p:sp>
      <p:sp>
        <p:nvSpPr>
          <p:cNvPr id="78" name="Shape 61"/>
          <p:cNvSpPr/>
          <p:nvPr/>
        </p:nvSpPr>
        <p:spPr>
          <a:xfrm>
            <a:off x="724205" y="6072530"/>
            <a:ext cx="75895" cy="75895"/>
          </a:xfrm>
          <a:prstGeom prst="ellipse">
            <a:avLst/>
          </a:prstGeom>
          <a:solidFill>
            <a:srgbClr val="4CAF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9" name="Text 62"/>
          <p:cNvSpPr txBox="1"/>
          <p:nvPr/>
        </p:nvSpPr>
        <p:spPr>
          <a:xfrm>
            <a:off x="847649" y="6038698"/>
            <a:ext cx="138897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instancias activas</a:t>
            </a:r>
            <a:endParaRPr lang="en-US" sz="800" dirty="0"/>
          </a:p>
        </p:txBody>
      </p:sp>
      <p:sp>
        <p:nvSpPr>
          <p:cNvPr id="80" name="Shape 63"/>
          <p:cNvSpPr/>
          <p:nvPr/>
        </p:nvSpPr>
        <p:spPr>
          <a:xfrm>
            <a:off x="4302252" y="5090465"/>
            <a:ext cx="3590849" cy="1248156"/>
          </a:xfrm>
          <a:prstGeom prst="roundRect">
            <a:avLst>
              <a:gd name="adj" fmla="val 8948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1" name="Shape 64"/>
          <p:cNvSpPr/>
          <p:nvPr/>
        </p:nvSpPr>
        <p:spPr>
          <a:xfrm>
            <a:off x="4454042" y="5242255"/>
            <a:ext cx="304495" cy="304495"/>
          </a:xfrm>
          <a:prstGeom prst="roundRect">
            <a:avLst>
              <a:gd name="adj" fmla="val 112613"/>
            </a:avLst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82" name="Image 15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4539996" y="5328209"/>
            <a:ext cx="133502" cy="133502"/>
          </a:xfrm>
          <a:prstGeom prst="rect">
            <a:avLst/>
          </a:prstGeom>
        </p:spPr>
      </p:pic>
      <p:sp>
        <p:nvSpPr>
          <p:cNvPr id="83" name="Text 65"/>
          <p:cNvSpPr txBox="1"/>
          <p:nvPr/>
        </p:nvSpPr>
        <p:spPr>
          <a:xfrm>
            <a:off x="4854550" y="5304434"/>
            <a:ext cx="138531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Groups</a:t>
            </a:r>
            <a:endParaRPr lang="en-US" sz="1000" dirty="0"/>
          </a:p>
        </p:txBody>
      </p:sp>
      <p:sp>
        <p:nvSpPr>
          <p:cNvPr id="84" name="Text 66"/>
          <p:cNvSpPr txBox="1"/>
          <p:nvPr/>
        </p:nvSpPr>
        <p:spPr>
          <a:xfrm>
            <a:off x="4454042" y="5642762"/>
            <a:ext cx="38862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Reglas de firewall restrictivas con acceso basado en IP</a:t>
            </a:r>
            <a:endParaRPr lang="en-US" sz="900" dirty="0"/>
          </a:p>
        </p:txBody>
      </p:sp>
      <p:sp>
        <p:nvSpPr>
          <p:cNvPr id="85" name="Shape 67"/>
          <p:cNvSpPr/>
          <p:nvPr/>
        </p:nvSpPr>
        <p:spPr>
          <a:xfrm>
            <a:off x="4454042" y="5912510"/>
            <a:ext cx="75895" cy="75895"/>
          </a:xfrm>
          <a:prstGeom prst="ellipse">
            <a:avLst/>
          </a:prstGeom>
          <a:solidFill>
            <a:srgbClr val="4CAF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6" name="Text 68"/>
          <p:cNvSpPr txBox="1"/>
          <p:nvPr/>
        </p:nvSpPr>
        <p:spPr>
          <a:xfrm>
            <a:off x="4578401" y="5878678"/>
            <a:ext cx="779069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Configurado</a:t>
            </a:r>
            <a:endParaRPr lang="en-US" sz="800" dirty="0"/>
          </a:p>
        </p:txBody>
      </p:sp>
      <p:sp>
        <p:nvSpPr>
          <p:cNvPr id="87" name="Shape 69"/>
          <p:cNvSpPr/>
          <p:nvPr/>
        </p:nvSpPr>
        <p:spPr>
          <a:xfrm>
            <a:off x="8033004" y="5090465"/>
            <a:ext cx="3590849" cy="1248156"/>
          </a:xfrm>
          <a:prstGeom prst="roundRect">
            <a:avLst>
              <a:gd name="adj" fmla="val 8948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8" name="Shape 70"/>
          <p:cNvSpPr/>
          <p:nvPr/>
        </p:nvSpPr>
        <p:spPr>
          <a:xfrm>
            <a:off x="8184794" y="5242255"/>
            <a:ext cx="304495" cy="304495"/>
          </a:xfrm>
          <a:prstGeom prst="roundRect">
            <a:avLst>
              <a:gd name="adj" fmla="val 112613"/>
            </a:avLst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89" name="Image 16" descr="preencoded.png"/>
          <p:cNvPicPr>
            <a:picLocks noChangeAspect="1"/>
          </p:cNvPicPr>
          <p:nvPr/>
        </p:nvPicPr>
        <p:blipFill>
          <a:blip r:embed="rId17"/>
          <a:srcRect l="-1507" r="-1507"/>
          <a:stretch/>
        </p:blipFill>
        <p:spPr>
          <a:xfrm>
            <a:off x="8251546" y="5328209"/>
            <a:ext cx="171907" cy="133502"/>
          </a:xfrm>
          <a:prstGeom prst="rect">
            <a:avLst/>
          </a:prstGeom>
        </p:spPr>
      </p:pic>
      <p:sp>
        <p:nvSpPr>
          <p:cNvPr id="90" name="Text 71"/>
          <p:cNvSpPr txBox="1"/>
          <p:nvPr/>
        </p:nvSpPr>
        <p:spPr>
          <a:xfrm>
            <a:off x="8585302" y="5304434"/>
            <a:ext cx="92537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S3 Buckets</a:t>
            </a:r>
            <a:endParaRPr lang="en-US" sz="1000" dirty="0"/>
          </a:p>
        </p:txBody>
      </p:sp>
      <p:sp>
        <p:nvSpPr>
          <p:cNvPr id="91" name="Text 72"/>
          <p:cNvSpPr txBox="1"/>
          <p:nvPr/>
        </p:nvSpPr>
        <p:spPr>
          <a:xfrm>
            <a:off x="8184794" y="5642762"/>
            <a:ext cx="3286354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Almacenamiento de artefactos y logs con acceso via endpoint VPC</a:t>
            </a:r>
            <a:endParaRPr lang="en-US" sz="900" dirty="0"/>
          </a:p>
        </p:txBody>
      </p:sp>
      <p:sp>
        <p:nvSpPr>
          <p:cNvPr id="92" name="Shape 73"/>
          <p:cNvSpPr/>
          <p:nvPr/>
        </p:nvSpPr>
        <p:spPr>
          <a:xfrm>
            <a:off x="8184794" y="6072530"/>
            <a:ext cx="75895" cy="75895"/>
          </a:xfrm>
          <a:prstGeom prst="ellipse">
            <a:avLst/>
          </a:prstGeom>
          <a:solidFill>
            <a:srgbClr val="4CAF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3" name="Text 74"/>
          <p:cNvSpPr txBox="1"/>
          <p:nvPr/>
        </p:nvSpPr>
        <p:spPr>
          <a:xfrm>
            <a:off x="8309153" y="6038698"/>
            <a:ext cx="118780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buckets activos</a:t>
            </a:r>
            <a:endParaRPr lang="en-US" sz="800" dirty="0"/>
          </a:p>
        </p:txBody>
      </p:sp>
      <p:sp>
        <p:nvSpPr>
          <p:cNvPr id="94" name="Shape 75"/>
          <p:cNvSpPr/>
          <p:nvPr/>
        </p:nvSpPr>
        <p:spPr>
          <a:xfrm>
            <a:off x="571500" y="6553505"/>
            <a:ext cx="75895" cy="75895"/>
          </a:xfrm>
          <a:prstGeom prst="ellipse">
            <a:avLst/>
          </a:prstGeom>
          <a:solidFill>
            <a:srgbClr val="4CAF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5" name="Text 76"/>
          <p:cNvSpPr txBox="1"/>
          <p:nvPr/>
        </p:nvSpPr>
        <p:spPr>
          <a:xfrm>
            <a:off x="743407" y="6515100"/>
            <a:ext cx="196138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DevOps en AWS - Proyecto 2026</a:t>
            </a:r>
            <a:endParaRPr lang="en-US" sz="900" dirty="0"/>
          </a:p>
        </p:txBody>
      </p:sp>
      <p:sp>
        <p:nvSpPr>
          <p:cNvPr id="96" name="Text 77"/>
          <p:cNvSpPr txBox="1"/>
          <p:nvPr/>
        </p:nvSpPr>
        <p:spPr>
          <a:xfrm>
            <a:off x="9529877" y="6515100"/>
            <a:ext cx="249448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Equipo: Narciso, Caleb, Rodrigo, Natanael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0" y="761695"/>
            <a:ext cx="12191695" cy="5333695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 txBox="1"/>
          <p:nvPr/>
        </p:nvSpPr>
        <p:spPr>
          <a:xfrm>
            <a:off x="228600" y="1047902"/>
            <a:ext cx="11735410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Infraestructura Completa: Almacenamiento, Monitoreo y Microservicios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71500" y="1695298"/>
            <a:ext cx="5333695" cy="4190695"/>
          </a:xfrm>
          <a:prstGeom prst="roundRect">
            <a:avLst>
              <a:gd name="adj" fmla="val 1190"/>
            </a:avLst>
          </a:prstGeom>
          <a:solidFill>
            <a:srgbClr val="FFFFFF"/>
          </a:solidFill>
          <a:ln w="25400">
            <a:solidFill>
              <a:srgbClr val="E0E0E0"/>
            </a:solidFill>
            <a:prstDash val="solid"/>
          </a:ln>
          <a:effectLst>
            <a:outerShdw blurRad="1397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819302" y="2467051"/>
            <a:ext cx="4839005" cy="1920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819302" y="1943100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 t="-6336" b="-6336"/>
          <a:stretch/>
        </p:blipFill>
        <p:spPr>
          <a:xfrm>
            <a:off x="942746" y="2048256"/>
            <a:ext cx="133502" cy="17190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314907" y="1990649"/>
            <a:ext cx="188366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Almacenamiento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19302" y="2676449"/>
            <a:ext cx="4839005" cy="666598"/>
          </a:xfrm>
          <a:prstGeom prst="roundRect">
            <a:avLst>
              <a:gd name="adj" fmla="val 31354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Shape 9"/>
          <p:cNvSpPr/>
          <p:nvPr/>
        </p:nvSpPr>
        <p:spPr>
          <a:xfrm>
            <a:off x="819302" y="2676449"/>
            <a:ext cx="38405" cy="666598"/>
          </a:xfrm>
          <a:prstGeom prst="roundRect">
            <a:avLst>
              <a:gd name="adj" fmla="val 544215"/>
            </a:avLst>
          </a:prstGeom>
          <a:solidFill>
            <a:srgbClr val="FFC107"/>
          </a:solidFill>
          <a:ln w="12700">
            <a:solidFill>
              <a:srgbClr val="FFC10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Shape 10"/>
          <p:cNvSpPr/>
          <p:nvPr/>
        </p:nvSpPr>
        <p:spPr>
          <a:xfrm>
            <a:off x="972007" y="2848356"/>
            <a:ext cx="75895" cy="75895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1"/>
          <p:cNvSpPr txBox="1"/>
          <p:nvPr/>
        </p:nvSpPr>
        <p:spPr>
          <a:xfrm>
            <a:off x="1162202" y="2790749"/>
            <a:ext cx="438180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S3:</a:t>
            </a:r>
            <a:r>
              <a:rPr lang="en-US" sz="11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Versionamiento, cifrado (AES-256), lifecycle rules, permisos vía </a:t>
            </a: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LabRole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19302" y="3450031"/>
            <a:ext cx="4839005" cy="629107"/>
          </a:xfrm>
          <a:prstGeom prst="roundRect">
            <a:avLst>
              <a:gd name="adj" fmla="val 35236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6" name="Shape 13"/>
          <p:cNvSpPr/>
          <p:nvPr/>
        </p:nvSpPr>
        <p:spPr>
          <a:xfrm>
            <a:off x="819302" y="3450031"/>
            <a:ext cx="38405" cy="629107"/>
          </a:xfrm>
          <a:prstGeom prst="roundRect">
            <a:avLst>
              <a:gd name="adj" fmla="val 577198"/>
            </a:avLst>
          </a:prstGeom>
          <a:solidFill>
            <a:srgbClr val="FFC107"/>
          </a:solidFill>
          <a:ln w="12700">
            <a:solidFill>
              <a:srgbClr val="FFC10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Shape 14"/>
          <p:cNvSpPr/>
          <p:nvPr/>
        </p:nvSpPr>
        <p:spPr>
          <a:xfrm>
            <a:off x="972007" y="3621024"/>
            <a:ext cx="75895" cy="75895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5"/>
          <p:cNvSpPr txBox="1"/>
          <p:nvPr/>
        </p:nvSpPr>
        <p:spPr>
          <a:xfrm>
            <a:off x="1162202" y="3564331"/>
            <a:ext cx="43818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DynamoDB:</a:t>
            </a:r>
            <a:r>
              <a:rPr lang="en-US" sz="11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Tabla con clave primaria definida, operaciones CRUD con boto3 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19302" y="4192524"/>
            <a:ext cx="4839005" cy="629107"/>
          </a:xfrm>
          <a:prstGeom prst="roundRect">
            <a:avLst>
              <a:gd name="adj" fmla="val 35236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0" name="Shape 17"/>
          <p:cNvSpPr/>
          <p:nvPr/>
        </p:nvSpPr>
        <p:spPr>
          <a:xfrm>
            <a:off x="819302" y="4192524"/>
            <a:ext cx="38405" cy="629107"/>
          </a:xfrm>
          <a:prstGeom prst="roundRect">
            <a:avLst>
              <a:gd name="adj" fmla="val 577198"/>
            </a:avLst>
          </a:prstGeom>
          <a:solidFill>
            <a:srgbClr val="FFC107"/>
          </a:solidFill>
          <a:ln w="12700">
            <a:solidFill>
              <a:srgbClr val="FFC10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Shape 18"/>
          <p:cNvSpPr/>
          <p:nvPr/>
        </p:nvSpPr>
        <p:spPr>
          <a:xfrm>
            <a:off x="972007" y="4364431"/>
            <a:ext cx="75895" cy="75895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19"/>
          <p:cNvSpPr txBox="1"/>
          <p:nvPr/>
        </p:nvSpPr>
        <p:spPr>
          <a:xfrm>
            <a:off x="1162202" y="4306824"/>
            <a:ext cx="43818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S3 Versioning:</a:t>
            </a:r>
            <a:r>
              <a:rPr lang="en-US" sz="11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Políticas de versión habilitadas para recuperación de objetos 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819302" y="4935931"/>
            <a:ext cx="4839005" cy="428854"/>
          </a:xfrm>
          <a:prstGeom prst="roundRect">
            <a:avLst>
              <a:gd name="adj" fmla="val 75811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4" name="Shape 21"/>
          <p:cNvSpPr/>
          <p:nvPr/>
        </p:nvSpPr>
        <p:spPr>
          <a:xfrm>
            <a:off x="819302" y="4935931"/>
            <a:ext cx="38405" cy="428854"/>
          </a:xfrm>
          <a:prstGeom prst="roundRect">
            <a:avLst>
              <a:gd name="adj" fmla="val 846556"/>
            </a:avLst>
          </a:prstGeom>
          <a:solidFill>
            <a:srgbClr val="FFC107"/>
          </a:solidFill>
          <a:ln w="12700">
            <a:solidFill>
              <a:srgbClr val="FFC10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Shape 22"/>
          <p:cNvSpPr/>
          <p:nvPr/>
        </p:nvSpPr>
        <p:spPr>
          <a:xfrm>
            <a:off x="972007" y="5106924"/>
            <a:ext cx="75895" cy="75895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Text 23"/>
          <p:cNvSpPr txBox="1"/>
          <p:nvPr/>
        </p:nvSpPr>
        <p:spPr>
          <a:xfrm>
            <a:off x="1162202" y="5050231"/>
            <a:ext cx="47439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Acceso:</a:t>
            </a:r>
            <a:r>
              <a:rPr lang="en-US" sz="11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Configuración de permisos con LabRole preconfigurado 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819302" y="5507431"/>
            <a:ext cx="4839005" cy="1028700"/>
          </a:xfrm>
          <a:prstGeom prst="roundRect">
            <a:avLst>
              <a:gd name="adj" fmla="val 13169"/>
            </a:avLst>
          </a:prstGeom>
          <a:solidFill>
            <a:srgbClr val="E8F5E8"/>
          </a:solidFill>
          <a:ln w="254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Text 25"/>
          <p:cNvSpPr txBox="1"/>
          <p:nvPr/>
        </p:nvSpPr>
        <p:spPr>
          <a:xfrm>
            <a:off x="1158545" y="5678424"/>
            <a:ext cx="432785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Configuración Completada </a:t>
            </a:r>
            <a:endParaRPr lang="en-US" sz="1200" dirty="0"/>
          </a:p>
        </p:txBody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4"/>
          <a:srcRect t="-15556" b="-15556"/>
          <a:stretch/>
        </p:blipFill>
        <p:spPr>
          <a:xfrm>
            <a:off x="990295" y="5708599"/>
            <a:ext cx="123444" cy="161849"/>
          </a:xfrm>
          <a:prstGeom prst="rect">
            <a:avLst/>
          </a:prstGeom>
        </p:spPr>
      </p:pic>
      <p:sp>
        <p:nvSpPr>
          <p:cNvPr id="30" name="Text 26"/>
          <p:cNvSpPr txBox="1"/>
          <p:nvPr/>
        </p:nvSpPr>
        <p:spPr>
          <a:xfrm>
            <a:off x="990295" y="5964631"/>
            <a:ext cx="44961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Almacenamiento seguro y escalable implementado con cifrado en reposo.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6286500" y="1695298"/>
            <a:ext cx="5333695" cy="4190695"/>
          </a:xfrm>
          <a:prstGeom prst="roundRect">
            <a:avLst>
              <a:gd name="adj" fmla="val 1190"/>
            </a:avLst>
          </a:prstGeom>
          <a:solidFill>
            <a:srgbClr val="FFFFFF"/>
          </a:solidFill>
          <a:ln w="25400">
            <a:solidFill>
              <a:srgbClr val="E0E0E0"/>
            </a:solidFill>
            <a:prstDash val="solid"/>
          </a:ln>
          <a:effectLst>
            <a:outerShdw blurRad="1397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2" name="Shape 28"/>
          <p:cNvSpPr/>
          <p:nvPr/>
        </p:nvSpPr>
        <p:spPr>
          <a:xfrm>
            <a:off x="6534302" y="2467051"/>
            <a:ext cx="4839005" cy="1920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3" name="Shape 29"/>
          <p:cNvSpPr/>
          <p:nvPr/>
        </p:nvSpPr>
        <p:spPr>
          <a:xfrm>
            <a:off x="6534302" y="1943100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 r:embed="rId5"/>
          <a:srcRect t="-14384" b="-14384"/>
          <a:stretch/>
        </p:blipFill>
        <p:spPr>
          <a:xfrm>
            <a:off x="6657746" y="2048256"/>
            <a:ext cx="133502" cy="171907"/>
          </a:xfrm>
          <a:prstGeom prst="rect">
            <a:avLst/>
          </a:prstGeom>
        </p:spPr>
      </p:pic>
      <p:sp>
        <p:nvSpPr>
          <p:cNvPr id="35" name="Text 30"/>
          <p:cNvSpPr txBox="1"/>
          <p:nvPr/>
        </p:nvSpPr>
        <p:spPr>
          <a:xfrm>
            <a:off x="7029907" y="1990649"/>
            <a:ext cx="309524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Monitoreo y Microservicios</a:t>
            </a:r>
            <a:endParaRPr lang="en-US" sz="1600" dirty="0"/>
          </a:p>
        </p:txBody>
      </p:sp>
      <p:sp>
        <p:nvSpPr>
          <p:cNvPr id="36" name="Shape 31"/>
          <p:cNvSpPr/>
          <p:nvPr/>
        </p:nvSpPr>
        <p:spPr>
          <a:xfrm>
            <a:off x="6534302" y="2676449"/>
            <a:ext cx="4839005" cy="629107"/>
          </a:xfrm>
          <a:prstGeom prst="roundRect">
            <a:avLst>
              <a:gd name="adj" fmla="val 35236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7" name="Shape 32"/>
          <p:cNvSpPr/>
          <p:nvPr/>
        </p:nvSpPr>
        <p:spPr>
          <a:xfrm>
            <a:off x="6534302" y="2676449"/>
            <a:ext cx="38405" cy="629107"/>
          </a:xfrm>
          <a:prstGeom prst="roundRect">
            <a:avLst>
              <a:gd name="adj" fmla="val 577198"/>
            </a:avLst>
          </a:prstGeom>
          <a:solidFill>
            <a:srgbClr val="FFC107"/>
          </a:solidFill>
          <a:ln w="12700">
            <a:solidFill>
              <a:srgbClr val="FFC10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8" name="Shape 33"/>
          <p:cNvSpPr/>
          <p:nvPr/>
        </p:nvSpPr>
        <p:spPr>
          <a:xfrm>
            <a:off x="6687007" y="2848356"/>
            <a:ext cx="75895" cy="75895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9" name="Text 34"/>
          <p:cNvSpPr txBox="1"/>
          <p:nvPr/>
        </p:nvSpPr>
        <p:spPr>
          <a:xfrm>
            <a:off x="6877202" y="2790749"/>
            <a:ext cx="43818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CloudWatch:</a:t>
            </a:r>
            <a:r>
              <a:rPr lang="en-US" sz="11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Métricas EC2/S3, dashboards personalizados, alarmas CPU </a:t>
            </a:r>
            <a:endParaRPr lang="en-US" sz="1100" dirty="0"/>
          </a:p>
        </p:txBody>
      </p:sp>
      <p:sp>
        <p:nvSpPr>
          <p:cNvPr id="40" name="Shape 35"/>
          <p:cNvSpPr/>
          <p:nvPr/>
        </p:nvSpPr>
        <p:spPr>
          <a:xfrm>
            <a:off x="6534302" y="3419856"/>
            <a:ext cx="4839005" cy="428854"/>
          </a:xfrm>
          <a:prstGeom prst="roundRect">
            <a:avLst>
              <a:gd name="adj" fmla="val 75811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1" name="Shape 36"/>
          <p:cNvSpPr/>
          <p:nvPr/>
        </p:nvSpPr>
        <p:spPr>
          <a:xfrm>
            <a:off x="6534302" y="3419856"/>
            <a:ext cx="38405" cy="428854"/>
          </a:xfrm>
          <a:prstGeom prst="roundRect">
            <a:avLst>
              <a:gd name="adj" fmla="val 846556"/>
            </a:avLst>
          </a:prstGeom>
          <a:solidFill>
            <a:srgbClr val="FFC107"/>
          </a:solidFill>
          <a:ln w="12700">
            <a:solidFill>
              <a:srgbClr val="FFC10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2" name="Shape 37"/>
          <p:cNvSpPr/>
          <p:nvPr/>
        </p:nvSpPr>
        <p:spPr>
          <a:xfrm>
            <a:off x="6687007" y="3590849"/>
            <a:ext cx="75895" cy="75895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3" name="Text 38"/>
          <p:cNvSpPr txBox="1"/>
          <p:nvPr/>
        </p:nvSpPr>
        <p:spPr>
          <a:xfrm>
            <a:off x="6877202" y="3534156"/>
            <a:ext cx="49816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CloudWatch Logs:</a:t>
            </a:r>
            <a:r>
              <a:rPr lang="en-US" sz="11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Agente en EC2, logs de Lambda para debugging </a:t>
            </a:r>
            <a:endParaRPr lang="en-US" sz="1100" dirty="0"/>
          </a:p>
        </p:txBody>
      </p:sp>
      <p:sp>
        <p:nvSpPr>
          <p:cNvPr id="44" name="Shape 39"/>
          <p:cNvSpPr/>
          <p:nvPr/>
        </p:nvSpPr>
        <p:spPr>
          <a:xfrm>
            <a:off x="6534302" y="3962095"/>
            <a:ext cx="4839005" cy="428854"/>
          </a:xfrm>
          <a:prstGeom prst="roundRect">
            <a:avLst>
              <a:gd name="adj" fmla="val 75811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5" name="Shape 40"/>
          <p:cNvSpPr/>
          <p:nvPr/>
        </p:nvSpPr>
        <p:spPr>
          <a:xfrm>
            <a:off x="6534302" y="3962095"/>
            <a:ext cx="38405" cy="428854"/>
          </a:xfrm>
          <a:prstGeom prst="roundRect">
            <a:avLst>
              <a:gd name="adj" fmla="val 846556"/>
            </a:avLst>
          </a:prstGeom>
          <a:solidFill>
            <a:srgbClr val="FFC107"/>
          </a:solidFill>
          <a:ln w="12700">
            <a:solidFill>
              <a:srgbClr val="FFC10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6" name="Shape 41"/>
          <p:cNvSpPr/>
          <p:nvPr/>
        </p:nvSpPr>
        <p:spPr>
          <a:xfrm>
            <a:off x="6687007" y="4134002"/>
            <a:ext cx="75895" cy="75895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7" name="Text 42"/>
          <p:cNvSpPr txBox="1"/>
          <p:nvPr/>
        </p:nvSpPr>
        <p:spPr>
          <a:xfrm>
            <a:off x="6877202" y="4076395"/>
            <a:ext cx="46387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AWS Config:</a:t>
            </a:r>
            <a:r>
              <a:rPr lang="en-US" sz="11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Auditoría de cambios en recursos (sin CloudTrail) </a:t>
            </a:r>
            <a:endParaRPr lang="en-US" sz="1100" dirty="0"/>
          </a:p>
        </p:txBody>
      </p:sp>
      <p:sp>
        <p:nvSpPr>
          <p:cNvPr id="48" name="Shape 43"/>
          <p:cNvSpPr/>
          <p:nvPr/>
        </p:nvSpPr>
        <p:spPr>
          <a:xfrm>
            <a:off x="6534302" y="4505249"/>
            <a:ext cx="4839005" cy="666598"/>
          </a:xfrm>
          <a:prstGeom prst="roundRect">
            <a:avLst>
              <a:gd name="adj" fmla="val 31354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9" name="Shape 44"/>
          <p:cNvSpPr/>
          <p:nvPr/>
        </p:nvSpPr>
        <p:spPr>
          <a:xfrm>
            <a:off x="6534302" y="4505249"/>
            <a:ext cx="38405" cy="666598"/>
          </a:xfrm>
          <a:prstGeom prst="roundRect">
            <a:avLst>
              <a:gd name="adj" fmla="val 544215"/>
            </a:avLst>
          </a:prstGeom>
          <a:solidFill>
            <a:srgbClr val="FFC107"/>
          </a:solidFill>
          <a:ln w="12700">
            <a:solidFill>
              <a:srgbClr val="FFC10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0" name="Shape 45"/>
          <p:cNvSpPr/>
          <p:nvPr/>
        </p:nvSpPr>
        <p:spPr>
          <a:xfrm>
            <a:off x="6687007" y="4677156"/>
            <a:ext cx="75895" cy="75895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1" name="Text 46"/>
          <p:cNvSpPr txBox="1"/>
          <p:nvPr/>
        </p:nvSpPr>
        <p:spPr>
          <a:xfrm>
            <a:off x="6877202" y="4619549"/>
            <a:ext cx="438180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Lambda: </a:t>
            </a:r>
            <a:r>
              <a:rPr lang="en-US" sz="1100" dirty="0" err="1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función</a:t>
            </a:r>
            <a:r>
              <a:rPr lang="en-US" sz="11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Python/Node con JSON aleatorio </a:t>
            </a:r>
            <a:endParaRPr lang="en-US" sz="1100" dirty="0"/>
          </a:p>
        </p:txBody>
      </p:sp>
      <p:sp>
        <p:nvSpPr>
          <p:cNvPr id="52" name="Shape 47"/>
          <p:cNvSpPr/>
          <p:nvPr/>
        </p:nvSpPr>
        <p:spPr>
          <a:xfrm>
            <a:off x="6534302" y="5278831"/>
            <a:ext cx="4839005" cy="428854"/>
          </a:xfrm>
          <a:prstGeom prst="roundRect">
            <a:avLst>
              <a:gd name="adj" fmla="val 75811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3" name="Shape 48"/>
          <p:cNvSpPr/>
          <p:nvPr/>
        </p:nvSpPr>
        <p:spPr>
          <a:xfrm>
            <a:off x="6534302" y="5278831"/>
            <a:ext cx="38405" cy="428854"/>
          </a:xfrm>
          <a:prstGeom prst="roundRect">
            <a:avLst>
              <a:gd name="adj" fmla="val 846556"/>
            </a:avLst>
          </a:prstGeom>
          <a:solidFill>
            <a:srgbClr val="FFC107"/>
          </a:solidFill>
          <a:ln w="12700">
            <a:solidFill>
              <a:srgbClr val="FFC10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4" name="Shape 49"/>
          <p:cNvSpPr/>
          <p:nvPr/>
        </p:nvSpPr>
        <p:spPr>
          <a:xfrm>
            <a:off x="6687007" y="5449824"/>
            <a:ext cx="75895" cy="75895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5" name="Text 50"/>
          <p:cNvSpPr txBox="1"/>
          <p:nvPr/>
        </p:nvSpPr>
        <p:spPr>
          <a:xfrm>
            <a:off x="6877202" y="5393131"/>
            <a:ext cx="446318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Gateway:</a:t>
            </a:r>
            <a:r>
              <a:rPr lang="en-US" sz="11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Trigger de Lambda, logs en CloudWatch Logs </a:t>
            </a:r>
            <a:endParaRPr lang="en-US" sz="1100" dirty="0"/>
          </a:p>
        </p:txBody>
      </p:sp>
      <p:sp>
        <p:nvSpPr>
          <p:cNvPr id="56" name="Shape 51"/>
          <p:cNvSpPr/>
          <p:nvPr/>
        </p:nvSpPr>
        <p:spPr>
          <a:xfrm>
            <a:off x="0" y="6096305"/>
            <a:ext cx="12191695" cy="761695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57" name="Image 3" descr="preencoded.png"/>
          <p:cNvPicPr>
            <a:picLocks noChangeAspect="1"/>
          </p:cNvPicPr>
          <p:nvPr/>
        </p:nvPicPr>
        <p:blipFill>
          <a:blip r:embed="rId6"/>
          <a:srcRect t="-33500" b="-33500"/>
          <a:stretch/>
        </p:blipFill>
        <p:spPr>
          <a:xfrm>
            <a:off x="571500" y="6400800"/>
            <a:ext cx="114300" cy="152705"/>
          </a:xfrm>
          <a:prstGeom prst="rect">
            <a:avLst/>
          </a:prstGeom>
        </p:spPr>
      </p:pic>
      <p:sp>
        <p:nvSpPr>
          <p:cNvPr id="58" name="Text 52"/>
          <p:cNvSpPr txBox="1"/>
          <p:nvPr/>
        </p:nvSpPr>
        <p:spPr>
          <a:xfrm>
            <a:off x="800100" y="6377026"/>
            <a:ext cx="341162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Equipo: </a:t>
            </a:r>
            <a:r>
              <a:rPr lang="en-US" sz="1200" b="1" dirty="0">
                <a:solidFill>
                  <a:srgbClr val="FFC10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Narciso, Caleb, Rodrigo, Natanael</a:t>
            </a:r>
            <a:endParaRPr lang="en-US" sz="1200" dirty="0"/>
          </a:p>
        </p:txBody>
      </p:sp>
      <p:sp>
        <p:nvSpPr>
          <p:cNvPr id="59" name="Text 53"/>
          <p:cNvSpPr txBox="1"/>
          <p:nvPr/>
        </p:nvSpPr>
        <p:spPr>
          <a:xfrm>
            <a:off x="9528048" y="6310274"/>
            <a:ext cx="120152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C10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¡Gracias!</a:t>
            </a:r>
            <a:endParaRPr lang="en-US" sz="1900" dirty="0"/>
          </a:p>
        </p:txBody>
      </p:sp>
      <p:sp>
        <p:nvSpPr>
          <p:cNvPr id="60" name="Text 54"/>
          <p:cNvSpPr txBox="1"/>
          <p:nvPr/>
        </p:nvSpPr>
        <p:spPr>
          <a:xfrm>
            <a:off x="10643616" y="6310274"/>
            <a:ext cx="75255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Mayo 2026</a:t>
            </a:r>
            <a:endParaRPr lang="en-US" sz="1200" dirty="0"/>
          </a:p>
        </p:txBody>
      </p:sp>
      <p:pic>
        <p:nvPicPr>
          <p:cNvPr id="61" name="Image 4" descr="preencoded.png"/>
          <p:cNvPicPr>
            <a:picLocks noChangeAspect="1"/>
          </p:cNvPicPr>
          <p:nvPr/>
        </p:nvPicPr>
        <p:blipFill>
          <a:blip r:embed="rId7"/>
          <a:srcRect t="-8450" b="-8450"/>
          <a:stretch/>
        </p:blipFill>
        <p:spPr>
          <a:xfrm>
            <a:off x="11505895" y="6400800"/>
            <a:ext cx="114300" cy="152705"/>
          </a:xfrm>
          <a:prstGeom prst="rect">
            <a:avLst/>
          </a:prstGeom>
        </p:spPr>
      </p:pic>
      <p:pic>
        <p:nvPicPr>
          <p:cNvPr id="62" name="Image 5" descr="preencoded.png"/>
          <p:cNvPicPr>
            <a:picLocks noChangeAspect="1"/>
          </p:cNvPicPr>
          <p:nvPr/>
        </p:nvPicPr>
        <p:blipFill>
          <a:blip r:embed="rId8"/>
          <a:srcRect l="-19" r="-19"/>
          <a:stretch/>
        </p:blipFill>
        <p:spPr>
          <a:xfrm>
            <a:off x="0" y="0"/>
            <a:ext cx="12191695" cy="761695"/>
          </a:xfrm>
          <a:prstGeom prst="rect">
            <a:avLst/>
          </a:prstGeom>
        </p:spPr>
      </p:pic>
      <p:sp>
        <p:nvSpPr>
          <p:cNvPr id="63" name="Shape 55"/>
          <p:cNvSpPr/>
          <p:nvPr/>
        </p:nvSpPr>
        <p:spPr>
          <a:xfrm>
            <a:off x="571500" y="142646"/>
            <a:ext cx="476402" cy="476402"/>
          </a:xfrm>
          <a:prstGeom prst="roundRect">
            <a:avLst>
              <a:gd name="adj" fmla="val 6142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4" name="Text 56"/>
          <p:cNvSpPr txBox="1"/>
          <p:nvPr/>
        </p:nvSpPr>
        <p:spPr>
          <a:xfrm>
            <a:off x="571500" y="142646"/>
            <a:ext cx="476402" cy="4764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</a:t>
            </a:r>
            <a:endParaRPr lang="en-US" sz="1800" dirty="0"/>
          </a:p>
        </p:txBody>
      </p:sp>
      <p:sp>
        <p:nvSpPr>
          <p:cNvPr id="65" name="Text 57"/>
          <p:cNvSpPr txBox="1"/>
          <p:nvPr/>
        </p:nvSpPr>
        <p:spPr>
          <a:xfrm>
            <a:off x="1190549" y="228600"/>
            <a:ext cx="539130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Almacenamiento, Monitoreo y Microservicios</a:t>
            </a:r>
            <a:endParaRPr lang="en-US" sz="1800" dirty="0"/>
          </a:p>
        </p:txBody>
      </p:sp>
      <p:pic>
        <p:nvPicPr>
          <p:cNvPr id="66" name="Image 6" descr="preencoded.png"/>
          <p:cNvPicPr>
            <a:picLocks noChangeAspect="1"/>
          </p:cNvPicPr>
          <p:nvPr/>
        </p:nvPicPr>
        <p:blipFill>
          <a:blip r:embed="rId9"/>
          <a:srcRect l="-138" r="-138"/>
          <a:stretch/>
        </p:blipFill>
        <p:spPr>
          <a:xfrm>
            <a:off x="9959645" y="213970"/>
            <a:ext cx="1666951" cy="333756"/>
          </a:xfrm>
          <a:prstGeom prst="rect">
            <a:avLst/>
          </a:prstGeom>
        </p:spPr>
      </p:pic>
      <p:sp>
        <p:nvSpPr>
          <p:cNvPr id="67" name="Text 58"/>
          <p:cNvSpPr/>
          <p:nvPr/>
        </p:nvSpPr>
        <p:spPr>
          <a:xfrm>
            <a:off x="10244023" y="213970"/>
            <a:ext cx="1382573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us-east-1 | us-west-2 </a:t>
            </a:r>
            <a:endParaRPr lang="en-US" sz="1000" dirty="0"/>
          </a:p>
        </p:txBody>
      </p:sp>
      <p:pic>
        <p:nvPicPr>
          <p:cNvPr id="68" name="Image 7" descr="preencoded.png"/>
          <p:cNvPicPr>
            <a:picLocks noChangeAspect="1"/>
          </p:cNvPicPr>
          <p:nvPr/>
        </p:nvPicPr>
        <p:blipFill>
          <a:blip r:embed="rId10"/>
          <a:srcRect t="-13478" b="-13478"/>
          <a:stretch/>
        </p:blipFill>
        <p:spPr>
          <a:xfrm>
            <a:off x="10103206" y="316382"/>
            <a:ext cx="105156" cy="13350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30e951d-6efd-42f5-8427-bab632cf8010}" enabled="0" method="" siteId="{030e951d-6efd-42f5-8427-bab632cf801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3023</Words>
  <Application>Microsoft Office PowerPoint</Application>
  <PresentationFormat>Panorámica</PresentationFormat>
  <Paragraphs>737</Paragraphs>
  <Slides>20</Slides>
  <Notes>20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5" baseType="lpstr">
      <vt:lpstr>Arial</vt:lpstr>
      <vt:lpstr>Consolas</vt:lpstr>
      <vt:lpstr>Courier New</vt:lpstr>
      <vt:lpstr>Segoe UI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NATANAEL JAIME JANACUA ELIAS</cp:lastModifiedBy>
  <cp:revision>1</cp:revision>
  <dcterms:created xsi:type="dcterms:W3CDTF">2026-05-08T15:09:37Z</dcterms:created>
  <dcterms:modified xsi:type="dcterms:W3CDTF">2026-05-08T15:15:53Z</dcterms:modified>
</cp:coreProperties>
</file>